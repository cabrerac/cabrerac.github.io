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63" r:id="rId4"/>
    <p:sldId id="262" r:id="rId5"/>
    <p:sldId id="258" r:id="rId6"/>
    <p:sldId id="261" r:id="rId7"/>
    <p:sldId id="264" r:id="rId8"/>
    <p:sldId id="265" r:id="rId9"/>
    <p:sldId id="266" r:id="rId10"/>
    <p:sldId id="267" r:id="rId11"/>
    <p:sldId id="268" r:id="rId12"/>
    <p:sldId id="269" r:id="rId13"/>
    <p:sldId id="271" r:id="rId14"/>
    <p:sldId id="272" r:id="rId15"/>
    <p:sldId id="270" r:id="rId16"/>
    <p:sldId id="288" r:id="rId17"/>
    <p:sldId id="289" r:id="rId18"/>
    <p:sldId id="290" r:id="rId19"/>
    <p:sldId id="277" r:id="rId20"/>
    <p:sldId id="275" r:id="rId21"/>
    <p:sldId id="276" r:id="rId22"/>
    <p:sldId id="278" r:id="rId23"/>
    <p:sldId id="279" r:id="rId24"/>
    <p:sldId id="280" r:id="rId25"/>
    <p:sldId id="281" r:id="rId26"/>
    <p:sldId id="283" r:id="rId27"/>
    <p:sldId id="282" r:id="rId28"/>
    <p:sldId id="298" r:id="rId29"/>
    <p:sldId id="299" r:id="rId30"/>
    <p:sldId id="286" r:id="rId31"/>
    <p:sldId id="300" r:id="rId32"/>
    <p:sldId id="291" r:id="rId33"/>
    <p:sldId id="292" r:id="rId34"/>
    <p:sldId id="294" r:id="rId35"/>
    <p:sldId id="293" r:id="rId36"/>
    <p:sldId id="295" r:id="rId37"/>
    <p:sldId id="301" r:id="rId38"/>
    <p:sldId id="302" r:id="rId39"/>
    <p:sldId id="304" r:id="rId40"/>
    <p:sldId id="303" r:id="rId41"/>
    <p:sldId id="297" r:id="rId42"/>
    <p:sldId id="305" r:id="rId43"/>
    <p:sldId id="306"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F9A"/>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13" autoAdjust="0"/>
    <p:restoredTop sz="78170" autoAdjust="0"/>
  </p:normalViewPr>
  <p:slideViewPr>
    <p:cSldViewPr snapToGrid="0">
      <p:cViewPr varScale="1">
        <p:scale>
          <a:sx n="64" d="100"/>
          <a:sy n="64" d="100"/>
        </p:scale>
        <p:origin x="14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F60BA2-1DFE-4286-AB71-68BFEBE24C91}" type="datetimeFigureOut">
              <a:rPr lang="en-GB" smtClean="0"/>
              <a:t>07/04/2025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3359B-EED2-4AF7-B237-505FDBE4FBE9}" type="slidenum">
              <a:rPr lang="en-GB" smtClean="0"/>
              <a:t>‹#›</a:t>
            </a:fld>
            <a:endParaRPr lang="en-GB"/>
          </a:p>
        </p:txBody>
      </p:sp>
    </p:spTree>
    <p:extLst>
      <p:ext uri="{BB962C8B-B14F-4D97-AF65-F5344CB8AC3E}">
        <p14:creationId xmlns:p14="http://schemas.microsoft.com/office/powerpoint/2010/main" val="2573756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Christian Cabrera one of the course lecturers. Today we are going to see how Data Science projects can be engineered. Why is that important and what approaches can be used for this? We will also revise how you can use these engineering approaches or tools during the practical work of this course but most importantly in any data science project your carry out.</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1</a:t>
            </a:fld>
            <a:endParaRPr lang="en-GB"/>
          </a:p>
        </p:txBody>
      </p:sp>
    </p:spTree>
    <p:extLst>
      <p:ext uri="{BB962C8B-B14F-4D97-AF65-F5344CB8AC3E}">
        <p14:creationId xmlns:p14="http://schemas.microsoft.com/office/powerpoint/2010/main" val="383357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lectures with Neil, you heard about the challenges that Data Science projects face. People in general have several concerns about these challenges. Data scientists are responsible for providing solutions or strategies that address these challenges in diverse domains.</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2</a:t>
            </a:fld>
            <a:endParaRPr lang="en-GB"/>
          </a:p>
        </p:txBody>
      </p:sp>
    </p:spTree>
    <p:extLst>
      <p:ext uri="{BB962C8B-B14F-4D97-AF65-F5344CB8AC3E}">
        <p14:creationId xmlns:p14="http://schemas.microsoft.com/office/powerpoint/2010/main" val="3479193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9C5CA-CB54-829A-93CA-09550F409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D5DB2-283E-84AC-9A0C-37FE3F841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BC22DC-02D5-BC52-AE63-50F215F4A2E8}"/>
              </a:ext>
            </a:extLst>
          </p:cNvPr>
          <p:cNvSpPr>
            <a:spLocks noGrp="1"/>
          </p:cNvSpPr>
          <p:nvPr>
            <p:ph type="body" idx="1"/>
          </p:nvPr>
        </p:nvSpPr>
        <p:spPr/>
        <p:txBody>
          <a:bodyPr/>
          <a:lstStyle/>
          <a:p>
            <a:r>
              <a:rPr lang="en-US" dirty="0"/>
              <a:t>Bias was one of the concepts you heard about in the previous lecture. Statistical b</a:t>
            </a:r>
            <a:r>
              <a:rPr lang="en-US" b="0" i="0" dirty="0">
                <a:solidFill>
                  <a:srgbClr val="202122"/>
                </a:solidFill>
                <a:effectLst/>
                <a:latin typeface="Arial" panose="020B0604020202020204" pitchFamily="34" charset="0"/>
              </a:rPr>
              <a:t>ias is a systematic tendency in which the methods used to gather data and generate statistics create an inaccurate depiction of reality. Bias is present in all data management processes we perform in data science and there are different types of Bias. We can have selection bias when our data samples do not represent the population we are studying, historical bias when the data reflects historic social and cultural beliefs,  algorithmic bias when an algorithm produces systematic and repeatable errors that generate unfair outcomes and many more. It is quite difficult to avoid Bias in any data science project, so the best we can do is to learn how to identify them. </a:t>
            </a:r>
            <a:endParaRPr lang="en-GB" dirty="0"/>
          </a:p>
        </p:txBody>
      </p:sp>
      <p:sp>
        <p:nvSpPr>
          <p:cNvPr id="4" name="Slide Number Placeholder 3">
            <a:extLst>
              <a:ext uri="{FF2B5EF4-FFF2-40B4-BE49-F238E27FC236}">
                <a16:creationId xmlns:a16="http://schemas.microsoft.com/office/drawing/2014/main" id="{DB14231F-13A7-5B91-70CF-3537456391BB}"/>
              </a:ext>
            </a:extLst>
          </p:cNvPr>
          <p:cNvSpPr>
            <a:spLocks noGrp="1"/>
          </p:cNvSpPr>
          <p:nvPr>
            <p:ph type="sldNum" sz="quarter" idx="5"/>
          </p:nvPr>
        </p:nvSpPr>
        <p:spPr/>
        <p:txBody>
          <a:bodyPr/>
          <a:lstStyle/>
          <a:p>
            <a:fld id="{5243359B-EED2-4AF7-B237-505FDBE4FBE9}" type="slidenum">
              <a:rPr lang="en-GB" smtClean="0"/>
              <a:t>3</a:t>
            </a:fld>
            <a:endParaRPr lang="en-GB"/>
          </a:p>
        </p:txBody>
      </p:sp>
    </p:spTree>
    <p:extLst>
      <p:ext uri="{BB962C8B-B14F-4D97-AF65-F5344CB8AC3E}">
        <p14:creationId xmlns:p14="http://schemas.microsoft.com/office/powerpoint/2010/main" val="3162094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DCA22-ECFE-8BF7-ED4F-74F1B5752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498229-CF43-955C-4AF7-5DDD442B1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56A6BC-EB11-7E08-9E1E-3C5D5D9A52AF}"/>
              </a:ext>
            </a:extLst>
          </p:cNvPr>
          <p:cNvSpPr>
            <a:spLocks noGrp="1"/>
          </p:cNvSpPr>
          <p:nvPr>
            <p:ph type="body" idx="1"/>
          </p:nvPr>
        </p:nvSpPr>
        <p:spPr/>
        <p:txBody>
          <a:bodyPr/>
          <a:lstStyle/>
          <a:p>
            <a:pPr marL="171450" indent="-171450">
              <a:buFontTx/>
              <a:buChar char="-"/>
            </a:pPr>
            <a:r>
              <a:rPr lang="en-US" dirty="0"/>
              <a:t>Systems are more complex and data pipelines too</a:t>
            </a:r>
          </a:p>
          <a:p>
            <a:pPr marL="171450" indent="-171450">
              <a:buFontTx/>
              <a:buChar char="-"/>
            </a:pPr>
            <a:r>
              <a:rPr lang="en-US" dirty="0"/>
              <a:t>Sustainability from different perspectives: Individual sustainability, social sustainability, economic sustainability, and environmental sustainability.</a:t>
            </a:r>
            <a:endParaRPr lang="en-GB" dirty="0"/>
          </a:p>
        </p:txBody>
      </p:sp>
      <p:sp>
        <p:nvSpPr>
          <p:cNvPr id="4" name="Slide Number Placeholder 3">
            <a:extLst>
              <a:ext uri="{FF2B5EF4-FFF2-40B4-BE49-F238E27FC236}">
                <a16:creationId xmlns:a16="http://schemas.microsoft.com/office/drawing/2014/main" id="{D0487B79-6223-7469-305F-3BA9AF83C335}"/>
              </a:ext>
            </a:extLst>
          </p:cNvPr>
          <p:cNvSpPr>
            <a:spLocks noGrp="1"/>
          </p:cNvSpPr>
          <p:nvPr>
            <p:ph type="sldNum" sz="quarter" idx="5"/>
          </p:nvPr>
        </p:nvSpPr>
        <p:spPr/>
        <p:txBody>
          <a:bodyPr/>
          <a:lstStyle/>
          <a:p>
            <a:fld id="{5243359B-EED2-4AF7-B237-505FDBE4FBE9}" type="slidenum">
              <a:rPr lang="en-GB" smtClean="0"/>
              <a:t>4</a:t>
            </a:fld>
            <a:endParaRPr lang="en-GB"/>
          </a:p>
        </p:txBody>
      </p:sp>
    </p:spTree>
    <p:extLst>
      <p:ext uri="{BB962C8B-B14F-4D97-AF65-F5344CB8AC3E}">
        <p14:creationId xmlns:p14="http://schemas.microsoft.com/office/powerpoint/2010/main" val="2576236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must design data pipelines that keep humans in control despite their complexity.</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5</a:t>
            </a:fld>
            <a:endParaRPr lang="en-GB"/>
          </a:p>
        </p:txBody>
      </p:sp>
    </p:spTree>
    <p:extLst>
      <p:ext uri="{BB962C8B-B14F-4D97-AF65-F5344CB8AC3E}">
        <p14:creationId xmlns:p14="http://schemas.microsoft.com/office/powerpoint/2010/main" val="408421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list of challenges is far from complete.  But the question is why are the Data Science challenges important?</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6</a:t>
            </a:fld>
            <a:endParaRPr lang="en-GB"/>
          </a:p>
        </p:txBody>
      </p:sp>
    </p:spTree>
    <p:extLst>
      <p:ext uri="{BB962C8B-B14F-4D97-AF65-F5344CB8AC3E}">
        <p14:creationId xmlns:p14="http://schemas.microsoft.com/office/powerpoint/2010/main" val="2772577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7</a:t>
            </a:fld>
            <a:endParaRPr lang="en-GB"/>
          </a:p>
        </p:txBody>
      </p:sp>
    </p:spTree>
    <p:extLst>
      <p:ext uri="{BB962C8B-B14F-4D97-AF65-F5344CB8AC3E}">
        <p14:creationId xmlns:p14="http://schemas.microsoft.com/office/powerpoint/2010/main" val="282196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contrast to how society has different requirements, we mostly focus on the technology when developing our solutions…</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8</a:t>
            </a:fld>
            <a:endParaRPr lang="en-GB"/>
          </a:p>
        </p:txBody>
      </p:sp>
    </p:spTree>
    <p:extLst>
      <p:ext uri="{BB962C8B-B14F-4D97-AF65-F5344CB8AC3E}">
        <p14:creationId xmlns:p14="http://schemas.microsoft.com/office/powerpoint/2010/main" val="3566152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9</a:t>
            </a:fld>
            <a:endParaRPr lang="en-GB"/>
          </a:p>
        </p:txBody>
      </p:sp>
    </p:spTree>
    <p:extLst>
      <p:ext uri="{BB962C8B-B14F-4D97-AF65-F5344CB8AC3E}">
        <p14:creationId xmlns:p14="http://schemas.microsoft.com/office/powerpoint/2010/main" val="2124571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these principles implicitly in our daily activities. But we need an explicit application of such principles and that is one of the goals of the systems </a:t>
            </a:r>
            <a:r>
              <a:rPr lang="en-US"/>
              <a:t>engineering approach.</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24</a:t>
            </a:fld>
            <a:endParaRPr lang="en-GB"/>
          </a:p>
        </p:txBody>
      </p:sp>
    </p:spTree>
    <p:extLst>
      <p:ext uri="{BB962C8B-B14F-4D97-AF65-F5344CB8AC3E}">
        <p14:creationId xmlns:p14="http://schemas.microsoft.com/office/powerpoint/2010/main" val="448614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DC569-2C7D-57D3-6C9A-8419B2EDC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51FBF-5C83-2920-F2B8-8340548A0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73433-0393-32A5-5BD1-E472F8E69A9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DAC37FA-1F82-AF96-D89C-9B21A5A37038}"/>
              </a:ext>
            </a:extLst>
          </p:cNvPr>
          <p:cNvSpPr>
            <a:spLocks noGrp="1"/>
          </p:cNvSpPr>
          <p:nvPr>
            <p:ph type="sldNum" sz="quarter" idx="5"/>
          </p:nvPr>
        </p:nvSpPr>
        <p:spPr/>
        <p:txBody>
          <a:bodyPr/>
          <a:lstStyle/>
          <a:p>
            <a:fld id="{5243359B-EED2-4AF7-B237-505FDBE4FBE9}" type="slidenum">
              <a:rPr lang="en-GB" smtClean="0"/>
              <a:t>42</a:t>
            </a:fld>
            <a:endParaRPr lang="en-GB"/>
          </a:p>
        </p:txBody>
      </p:sp>
    </p:spTree>
    <p:extLst>
      <p:ext uri="{BB962C8B-B14F-4D97-AF65-F5344CB8AC3E}">
        <p14:creationId xmlns:p14="http://schemas.microsoft.com/office/powerpoint/2010/main" val="4267224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60FDD-222E-96F7-BD50-84379D79A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EFA26-54F0-DD67-4C2C-7B6A982D1F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ECCEEE-57FD-8624-F3E2-31714C2219B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4AAC1D9-1B78-EA0B-1516-54ECA0FEE741}"/>
              </a:ext>
            </a:extLst>
          </p:cNvPr>
          <p:cNvSpPr>
            <a:spLocks noGrp="1"/>
          </p:cNvSpPr>
          <p:nvPr>
            <p:ph type="sldNum" sz="quarter" idx="5"/>
          </p:nvPr>
        </p:nvSpPr>
        <p:spPr/>
        <p:txBody>
          <a:bodyPr/>
          <a:lstStyle/>
          <a:p>
            <a:fld id="{5243359B-EED2-4AF7-B237-505FDBE4FBE9}" type="slidenum">
              <a:rPr lang="en-GB" smtClean="0"/>
              <a:t>43</a:t>
            </a:fld>
            <a:endParaRPr lang="en-GB"/>
          </a:p>
        </p:txBody>
      </p:sp>
    </p:spTree>
    <p:extLst>
      <p:ext uri="{BB962C8B-B14F-4D97-AF65-F5344CB8AC3E}">
        <p14:creationId xmlns:p14="http://schemas.microsoft.com/office/powerpoint/2010/main" val="1147234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37501-6BC2-1625-5C51-2C2632BD2F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7BEEA53-07D7-BB8A-223F-9A29598517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C28D9E0-C2D3-1380-5CC5-5C5198640B87}"/>
              </a:ext>
            </a:extLst>
          </p:cNvPr>
          <p:cNvSpPr>
            <a:spLocks noGrp="1"/>
          </p:cNvSpPr>
          <p:nvPr>
            <p:ph type="dt" sz="half" idx="10"/>
          </p:nvPr>
        </p:nvSpPr>
        <p:spPr/>
        <p:txBody>
          <a:bodyPr/>
          <a:lstStyle/>
          <a:p>
            <a:fld id="{1A77EDC3-57CA-43CF-8E2C-C9B9AF002A04}" type="datetimeFigureOut">
              <a:rPr lang="en-GB" smtClean="0"/>
              <a:t>07/04/2025</a:t>
            </a:fld>
            <a:endParaRPr lang="en-GB"/>
          </a:p>
        </p:txBody>
      </p:sp>
      <p:sp>
        <p:nvSpPr>
          <p:cNvPr id="5" name="Footer Placeholder 4">
            <a:extLst>
              <a:ext uri="{FF2B5EF4-FFF2-40B4-BE49-F238E27FC236}">
                <a16:creationId xmlns:a16="http://schemas.microsoft.com/office/drawing/2014/main" id="{53DABDB0-E673-A214-DBE3-C5FC162DF4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07684D-7B4B-F378-CF0B-CEA3C1C4ECE9}"/>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15093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F2210-4BA4-BF8C-D502-FB918EA452D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2158EB7-E949-CF0E-22C3-747A6D5914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4BC48C-DAE9-8793-EA4D-5D5DD6992D61}"/>
              </a:ext>
            </a:extLst>
          </p:cNvPr>
          <p:cNvSpPr>
            <a:spLocks noGrp="1"/>
          </p:cNvSpPr>
          <p:nvPr>
            <p:ph type="dt" sz="half" idx="10"/>
          </p:nvPr>
        </p:nvSpPr>
        <p:spPr/>
        <p:txBody>
          <a:bodyPr/>
          <a:lstStyle/>
          <a:p>
            <a:fld id="{1A77EDC3-57CA-43CF-8E2C-C9B9AF002A04}" type="datetimeFigureOut">
              <a:rPr lang="en-GB" smtClean="0"/>
              <a:t>07/04/2025</a:t>
            </a:fld>
            <a:endParaRPr lang="en-GB"/>
          </a:p>
        </p:txBody>
      </p:sp>
      <p:sp>
        <p:nvSpPr>
          <p:cNvPr id="5" name="Footer Placeholder 4">
            <a:extLst>
              <a:ext uri="{FF2B5EF4-FFF2-40B4-BE49-F238E27FC236}">
                <a16:creationId xmlns:a16="http://schemas.microsoft.com/office/drawing/2014/main" id="{124FF542-8B2D-C6FB-AE7D-82261FD321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713D68-A3D4-47E3-0DEA-050DF0F2708F}"/>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118593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6DBC4-EBF3-E645-1634-CC64AEDA20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4971933-3A8D-20DB-9620-0244B4C908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0E703E-C5DC-2C0B-185E-6D8D26F60741}"/>
              </a:ext>
            </a:extLst>
          </p:cNvPr>
          <p:cNvSpPr>
            <a:spLocks noGrp="1"/>
          </p:cNvSpPr>
          <p:nvPr>
            <p:ph type="dt" sz="half" idx="10"/>
          </p:nvPr>
        </p:nvSpPr>
        <p:spPr/>
        <p:txBody>
          <a:bodyPr/>
          <a:lstStyle/>
          <a:p>
            <a:fld id="{1A77EDC3-57CA-43CF-8E2C-C9B9AF002A04}" type="datetimeFigureOut">
              <a:rPr lang="en-GB" smtClean="0"/>
              <a:t>07/04/2025</a:t>
            </a:fld>
            <a:endParaRPr lang="en-GB"/>
          </a:p>
        </p:txBody>
      </p:sp>
      <p:sp>
        <p:nvSpPr>
          <p:cNvPr id="5" name="Footer Placeholder 4">
            <a:extLst>
              <a:ext uri="{FF2B5EF4-FFF2-40B4-BE49-F238E27FC236}">
                <a16:creationId xmlns:a16="http://schemas.microsoft.com/office/drawing/2014/main" id="{9B2E456C-EBC9-509A-A330-3813F3A7DA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74F18B-B3C3-45C8-3C01-3A638502F691}"/>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1062478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7974A-7BC7-676A-5773-436892AD826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2E03826-2FC0-775A-0E68-400FE74914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4C2F0A5-1152-4740-E53E-4437F39CFE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1857E29-36C7-E561-4FE8-C4B1B878C1C0}"/>
              </a:ext>
            </a:extLst>
          </p:cNvPr>
          <p:cNvSpPr>
            <a:spLocks noGrp="1"/>
          </p:cNvSpPr>
          <p:nvPr>
            <p:ph type="dt" sz="half" idx="10"/>
          </p:nvPr>
        </p:nvSpPr>
        <p:spPr/>
        <p:txBody>
          <a:bodyPr/>
          <a:lstStyle/>
          <a:p>
            <a:fld id="{1A77EDC3-57CA-43CF-8E2C-C9B9AF002A04}" type="datetimeFigureOut">
              <a:rPr lang="en-GB" smtClean="0"/>
              <a:t>07/04/2025</a:t>
            </a:fld>
            <a:endParaRPr lang="en-GB"/>
          </a:p>
        </p:txBody>
      </p:sp>
      <p:sp>
        <p:nvSpPr>
          <p:cNvPr id="6" name="Footer Placeholder 5">
            <a:extLst>
              <a:ext uri="{FF2B5EF4-FFF2-40B4-BE49-F238E27FC236}">
                <a16:creationId xmlns:a16="http://schemas.microsoft.com/office/drawing/2014/main" id="{765C0DA6-5444-22F1-D790-410F1E27D58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D6258C6-317A-A26B-712D-10D37EE67A05}"/>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3102511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E451-7756-F929-186E-C35DD976352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697F87-DF03-1A79-1DF6-D661EC44F2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7CD402-4A5D-7461-8FF6-FE8D55FC37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0629F03-224A-6F2A-689C-806A16ECB3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E08A2A-4710-9C24-71A1-E49A84A8D1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F555386-CBCC-F9C8-A6AB-EC59F0ABD9E1}"/>
              </a:ext>
            </a:extLst>
          </p:cNvPr>
          <p:cNvSpPr>
            <a:spLocks noGrp="1"/>
          </p:cNvSpPr>
          <p:nvPr>
            <p:ph type="dt" sz="half" idx="10"/>
          </p:nvPr>
        </p:nvSpPr>
        <p:spPr/>
        <p:txBody>
          <a:bodyPr/>
          <a:lstStyle/>
          <a:p>
            <a:fld id="{1A77EDC3-57CA-43CF-8E2C-C9B9AF002A04}" type="datetimeFigureOut">
              <a:rPr lang="en-GB" smtClean="0"/>
              <a:t>07/04/2025</a:t>
            </a:fld>
            <a:endParaRPr lang="en-GB"/>
          </a:p>
        </p:txBody>
      </p:sp>
      <p:sp>
        <p:nvSpPr>
          <p:cNvPr id="8" name="Footer Placeholder 7">
            <a:extLst>
              <a:ext uri="{FF2B5EF4-FFF2-40B4-BE49-F238E27FC236}">
                <a16:creationId xmlns:a16="http://schemas.microsoft.com/office/drawing/2014/main" id="{C6726FE6-B042-FE70-FD22-3DE5E832C1C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9CEC65-3B66-4346-7D11-8DF5085C53D1}"/>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053634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FEAEA-4D6A-A714-362C-D59996FF6B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D64E5D9-676F-B146-B925-5076558A1FE5}"/>
              </a:ext>
            </a:extLst>
          </p:cNvPr>
          <p:cNvSpPr>
            <a:spLocks noGrp="1"/>
          </p:cNvSpPr>
          <p:nvPr>
            <p:ph type="dt" sz="half" idx="10"/>
          </p:nvPr>
        </p:nvSpPr>
        <p:spPr/>
        <p:txBody>
          <a:bodyPr/>
          <a:lstStyle/>
          <a:p>
            <a:fld id="{1A77EDC3-57CA-43CF-8E2C-C9B9AF002A04}" type="datetimeFigureOut">
              <a:rPr lang="en-GB" smtClean="0"/>
              <a:t>07/04/2025</a:t>
            </a:fld>
            <a:endParaRPr lang="en-GB"/>
          </a:p>
        </p:txBody>
      </p:sp>
      <p:sp>
        <p:nvSpPr>
          <p:cNvPr id="4" name="Footer Placeholder 3">
            <a:extLst>
              <a:ext uri="{FF2B5EF4-FFF2-40B4-BE49-F238E27FC236}">
                <a16:creationId xmlns:a16="http://schemas.microsoft.com/office/drawing/2014/main" id="{0E4788FB-38F4-570E-0E87-853BAF7C592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455EB0D-C572-CF8D-00FB-C10F9D529F93}"/>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2035684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A7849-CBC4-2C6E-1B44-801A25E05698}"/>
              </a:ext>
            </a:extLst>
          </p:cNvPr>
          <p:cNvSpPr>
            <a:spLocks noGrp="1"/>
          </p:cNvSpPr>
          <p:nvPr>
            <p:ph type="dt" sz="half" idx="10"/>
          </p:nvPr>
        </p:nvSpPr>
        <p:spPr/>
        <p:txBody>
          <a:bodyPr/>
          <a:lstStyle/>
          <a:p>
            <a:fld id="{1A77EDC3-57CA-43CF-8E2C-C9B9AF002A04}" type="datetimeFigureOut">
              <a:rPr lang="en-GB" smtClean="0"/>
              <a:t>07/04/2025</a:t>
            </a:fld>
            <a:endParaRPr lang="en-GB"/>
          </a:p>
        </p:txBody>
      </p:sp>
      <p:sp>
        <p:nvSpPr>
          <p:cNvPr id="3" name="Footer Placeholder 2">
            <a:extLst>
              <a:ext uri="{FF2B5EF4-FFF2-40B4-BE49-F238E27FC236}">
                <a16:creationId xmlns:a16="http://schemas.microsoft.com/office/drawing/2014/main" id="{FD3B8B5F-DCB8-18DD-C37A-4876C01EB2D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3A656F4-8E87-7810-A3AF-837C37CED7C2}"/>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916402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D23F-492D-A5AC-5421-9F27308B94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B362480-03D6-CB07-1489-65753E3234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320E8BD-0B19-FA92-4888-A66A0B0FA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0B4B70-9C2C-CF27-2FD3-9F1E357AF200}"/>
              </a:ext>
            </a:extLst>
          </p:cNvPr>
          <p:cNvSpPr>
            <a:spLocks noGrp="1"/>
          </p:cNvSpPr>
          <p:nvPr>
            <p:ph type="dt" sz="half" idx="10"/>
          </p:nvPr>
        </p:nvSpPr>
        <p:spPr/>
        <p:txBody>
          <a:bodyPr/>
          <a:lstStyle/>
          <a:p>
            <a:fld id="{1A77EDC3-57CA-43CF-8E2C-C9B9AF002A04}" type="datetimeFigureOut">
              <a:rPr lang="en-GB" smtClean="0"/>
              <a:t>07/04/2025</a:t>
            </a:fld>
            <a:endParaRPr lang="en-GB"/>
          </a:p>
        </p:txBody>
      </p:sp>
      <p:sp>
        <p:nvSpPr>
          <p:cNvPr id="6" name="Footer Placeholder 5">
            <a:extLst>
              <a:ext uri="{FF2B5EF4-FFF2-40B4-BE49-F238E27FC236}">
                <a16:creationId xmlns:a16="http://schemas.microsoft.com/office/drawing/2014/main" id="{29168FBE-3A8F-32A5-A3FA-7D1C29EA3CC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76BA9EE-60CB-E7B0-4D3C-BE43DB56C248}"/>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08949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18C45-65FE-E68B-3E4B-36AA3B7EFF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97DAF4D-BB24-712D-C91C-9F541AF8E8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38D5E0A-67BB-0024-0D47-AC3B6CD6FD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D8F689-851B-182F-D5BD-2611E7672F2F}"/>
              </a:ext>
            </a:extLst>
          </p:cNvPr>
          <p:cNvSpPr>
            <a:spLocks noGrp="1"/>
          </p:cNvSpPr>
          <p:nvPr>
            <p:ph type="dt" sz="half" idx="10"/>
          </p:nvPr>
        </p:nvSpPr>
        <p:spPr/>
        <p:txBody>
          <a:bodyPr/>
          <a:lstStyle/>
          <a:p>
            <a:fld id="{1A77EDC3-57CA-43CF-8E2C-C9B9AF002A04}" type="datetimeFigureOut">
              <a:rPr lang="en-GB" smtClean="0"/>
              <a:t>07/04/2025</a:t>
            </a:fld>
            <a:endParaRPr lang="en-GB"/>
          </a:p>
        </p:txBody>
      </p:sp>
      <p:sp>
        <p:nvSpPr>
          <p:cNvPr id="6" name="Footer Placeholder 5">
            <a:extLst>
              <a:ext uri="{FF2B5EF4-FFF2-40B4-BE49-F238E27FC236}">
                <a16:creationId xmlns:a16="http://schemas.microsoft.com/office/drawing/2014/main" id="{9383B2C0-AA5B-1929-37FB-9B281E824C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6FBBCCD-CA15-B187-1193-528F2715CB06}"/>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97928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B921-E9C6-73B8-49D6-BC5BEDCB7F7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3BB7638-4A63-EEEA-8EF0-03A964B3FC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AFAEBB8-8EF8-2CA5-D004-CB109015311C}"/>
              </a:ext>
            </a:extLst>
          </p:cNvPr>
          <p:cNvSpPr>
            <a:spLocks noGrp="1"/>
          </p:cNvSpPr>
          <p:nvPr>
            <p:ph type="dt" sz="half" idx="10"/>
          </p:nvPr>
        </p:nvSpPr>
        <p:spPr/>
        <p:txBody>
          <a:bodyPr/>
          <a:lstStyle/>
          <a:p>
            <a:fld id="{1A77EDC3-57CA-43CF-8E2C-C9B9AF002A04}" type="datetimeFigureOut">
              <a:rPr lang="en-GB" smtClean="0"/>
              <a:t>07/04/2025</a:t>
            </a:fld>
            <a:endParaRPr lang="en-GB"/>
          </a:p>
        </p:txBody>
      </p:sp>
      <p:sp>
        <p:nvSpPr>
          <p:cNvPr id="5" name="Footer Placeholder 4">
            <a:extLst>
              <a:ext uri="{FF2B5EF4-FFF2-40B4-BE49-F238E27FC236}">
                <a16:creationId xmlns:a16="http://schemas.microsoft.com/office/drawing/2014/main" id="{4D5F0BEB-6D2E-8EF6-15F9-2350BCFF1B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CB753A-9B63-2106-ADB6-112D6D52C440}"/>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855032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52A4A2-CE1C-CA00-75EF-4CB41878EA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F346AD-C5F1-0652-E305-FA9580D005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0C653D5-A3D7-202A-6D18-A6D7B006AD20}"/>
              </a:ext>
            </a:extLst>
          </p:cNvPr>
          <p:cNvSpPr>
            <a:spLocks noGrp="1"/>
          </p:cNvSpPr>
          <p:nvPr>
            <p:ph type="dt" sz="half" idx="10"/>
          </p:nvPr>
        </p:nvSpPr>
        <p:spPr/>
        <p:txBody>
          <a:bodyPr/>
          <a:lstStyle/>
          <a:p>
            <a:fld id="{1A77EDC3-57CA-43CF-8E2C-C9B9AF002A04}" type="datetimeFigureOut">
              <a:rPr lang="en-GB" smtClean="0"/>
              <a:t>07/04/2025</a:t>
            </a:fld>
            <a:endParaRPr lang="en-GB"/>
          </a:p>
        </p:txBody>
      </p:sp>
      <p:sp>
        <p:nvSpPr>
          <p:cNvPr id="5" name="Footer Placeholder 4">
            <a:extLst>
              <a:ext uri="{FF2B5EF4-FFF2-40B4-BE49-F238E27FC236}">
                <a16:creationId xmlns:a16="http://schemas.microsoft.com/office/drawing/2014/main" id="{332D7947-DF01-1082-8D00-69694DAE7B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A8138C-BEC8-311C-ADF1-3F5A31CF2E67}"/>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2300086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539B0F-642A-AA56-02D5-9B147F476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3F6DCC0-9861-0BB4-AC23-7A15E4C9DA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4D20403-0720-79E9-A10A-533AB6EF59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77EDC3-57CA-43CF-8E2C-C9B9AF002A04}" type="datetimeFigureOut">
              <a:rPr lang="en-GB" smtClean="0"/>
              <a:t>07/04/2025</a:t>
            </a:fld>
            <a:endParaRPr lang="en-GB"/>
          </a:p>
        </p:txBody>
      </p:sp>
      <p:sp>
        <p:nvSpPr>
          <p:cNvPr id="5" name="Footer Placeholder 4">
            <a:extLst>
              <a:ext uri="{FF2B5EF4-FFF2-40B4-BE49-F238E27FC236}">
                <a16:creationId xmlns:a16="http://schemas.microsoft.com/office/drawing/2014/main" id="{2C59108B-09A2-616D-3711-8DAE54E380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A9EB81E-970C-91EB-C410-47FDA38A60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E7B345-6656-4028-8250-3F23625ECC42}" type="slidenum">
              <a:rPr lang="en-GB" smtClean="0"/>
              <a:t>‹#›</a:t>
            </a:fld>
            <a:endParaRPr lang="en-GB"/>
          </a:p>
        </p:txBody>
      </p:sp>
    </p:spTree>
    <p:extLst>
      <p:ext uri="{BB962C8B-B14F-4D97-AF65-F5344CB8AC3E}">
        <p14:creationId xmlns:p14="http://schemas.microsoft.com/office/powerpoint/2010/main" val="24829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latcl.github.io/advds/lectures/04-02-ai-and-data-science.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divante.com/blog/10-companies-that-implemented-the-microservice-architecture-and-paved-the-way-for-other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medium.com/berkman-klein-center/from-technical-debt-to-intellectual-debt-in-ai-e05ac56a502c"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ww.freepik.com/free-photos-vectors/societ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www.freepik.com/free-photos-vectors/society"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commons.wikimedia.org/wiki/File:NP_coffee_cooperative_%285867722870%29.jpg" TargetMode="External"/><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hyperlink" Target="https://www.flickr.com/photos/scottishgovernment/23657582298/in/photostream/" TargetMode="External"/><Relationship Id="rId4" Type="http://schemas.openxmlformats.org/officeDocument/2006/relationships/image" Target="../media/image8.jpg"/></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doi.org/10.1038/s41467-022-33128-9"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38/s41467-022-33128-9"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1515/auto-2022-0020" TargetMode="External"/><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CF900-9233-E68E-B62D-8DA5771750F6}"/>
              </a:ext>
            </a:extLst>
          </p:cNvPr>
          <p:cNvSpPr>
            <a:spLocks noGrp="1"/>
          </p:cNvSpPr>
          <p:nvPr>
            <p:ph type="ctrTitle"/>
          </p:nvPr>
        </p:nvSpPr>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sp>
        <p:nvSpPr>
          <p:cNvPr id="3" name="Subtitle 2">
            <a:extLst>
              <a:ext uri="{FF2B5EF4-FFF2-40B4-BE49-F238E27FC236}">
                <a16:creationId xmlns:a16="http://schemas.microsoft.com/office/drawing/2014/main" id="{5B1FAD04-CF52-3BE6-97D9-5676271ED79F}"/>
              </a:ext>
            </a:extLst>
          </p:cNvPr>
          <p:cNvSpPr>
            <a:spLocks noGrp="1"/>
          </p:cNvSpPr>
          <p:nvPr>
            <p:ph type="subTitle" idx="1"/>
          </p:nvPr>
        </p:nvSpPr>
        <p:spPr/>
        <p:txBody>
          <a:bodyPr/>
          <a:lstStyle/>
          <a:p>
            <a:r>
              <a:rPr lang="en-US" dirty="0">
                <a:solidFill>
                  <a:schemeClr val="tx2">
                    <a:lumMod val="75000"/>
                    <a:lumOff val="25000"/>
                  </a:schemeClr>
                </a:solidFill>
              </a:rPr>
              <a:t>Christian Cabrera</a:t>
            </a:r>
          </a:p>
          <a:p>
            <a:r>
              <a:rPr lang="en-US" dirty="0">
                <a:solidFill>
                  <a:schemeClr val="tx2">
                    <a:lumMod val="75000"/>
                    <a:lumOff val="25000"/>
                  </a:schemeClr>
                </a:solidFill>
              </a:rPr>
              <a:t>University of Cambridge</a:t>
            </a:r>
          </a:p>
          <a:p>
            <a:r>
              <a:rPr lang="en-US" dirty="0">
                <a:solidFill>
                  <a:schemeClr val="tx2">
                    <a:lumMod val="75000"/>
                    <a:lumOff val="25000"/>
                  </a:schemeClr>
                </a:solidFill>
              </a:rPr>
              <a:t>06/11/2024</a:t>
            </a:r>
            <a:endParaRPr lang="en-GB" dirty="0">
              <a:solidFill>
                <a:schemeClr val="tx2">
                  <a:lumMod val="75000"/>
                  <a:lumOff val="25000"/>
                </a:schemeClr>
              </a:solidFill>
            </a:endParaRPr>
          </a:p>
        </p:txBody>
      </p:sp>
    </p:spTree>
    <p:extLst>
      <p:ext uri="{BB962C8B-B14F-4D97-AF65-F5344CB8AC3E}">
        <p14:creationId xmlns:p14="http://schemas.microsoft.com/office/powerpoint/2010/main" val="851325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732D2-07A6-B233-91A3-AC081AA4F1E5}"/>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781C38AC-A920-28DE-2253-282367D80DE2}"/>
              </a:ext>
            </a:extLst>
          </p:cNvPr>
          <p:cNvSpPr>
            <a:spLocks noGrp="1"/>
          </p:cNvSpPr>
          <p:nvPr>
            <p:ph idx="1"/>
          </p:nvPr>
        </p:nvSpPr>
        <p:spPr/>
        <p:txBody>
          <a:bodyPr/>
          <a:lstStyle/>
          <a:p>
            <a:r>
              <a:rPr lang="en-US" dirty="0">
                <a:solidFill>
                  <a:schemeClr val="tx2">
                    <a:lumMod val="75000"/>
                    <a:lumOff val="25000"/>
                  </a:schemeClr>
                </a:solidFill>
              </a:rPr>
              <a:t>Data Science Challenges</a:t>
            </a:r>
          </a:p>
          <a:p>
            <a:pPr marL="0" indent="0">
              <a:buNone/>
            </a:pPr>
            <a:endParaRPr lang="en-US" dirty="0">
              <a:solidFill>
                <a:schemeClr val="tx2">
                  <a:lumMod val="75000"/>
                  <a:lumOff val="25000"/>
                </a:schemeClr>
              </a:solidFill>
            </a:endParaRPr>
          </a:p>
        </p:txBody>
      </p:sp>
    </p:spTree>
    <p:extLst>
      <p:ext uri="{BB962C8B-B14F-4D97-AF65-F5344CB8AC3E}">
        <p14:creationId xmlns:p14="http://schemas.microsoft.com/office/powerpoint/2010/main" val="2006322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AD748-6754-6C10-A408-741F7B8A2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91F90-F9B9-90CE-1494-808880C83B58}"/>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84024EA7-2532-06C1-D6FC-785D9C0997CB}"/>
              </a:ext>
            </a:extLst>
          </p:cNvPr>
          <p:cNvSpPr>
            <a:spLocks noGrp="1"/>
          </p:cNvSpPr>
          <p:nvPr>
            <p:ph idx="1"/>
          </p:nvPr>
        </p:nvSpPr>
        <p:spPr>
          <a:xfrm>
            <a:off x="838200" y="1825625"/>
            <a:ext cx="4983525" cy="4351338"/>
          </a:xfrm>
        </p:spPr>
        <p:txBody>
          <a:bodyPr/>
          <a:lstStyle/>
          <a:p>
            <a:r>
              <a:rPr lang="en-US" dirty="0">
                <a:solidFill>
                  <a:schemeClr val="tx2">
                    <a:lumMod val="75000"/>
                    <a:lumOff val="25000"/>
                  </a:schemeClr>
                </a:solidFill>
              </a:rPr>
              <a:t>Data Science Challenges</a:t>
            </a:r>
          </a:p>
          <a:p>
            <a:endParaRPr lang="en-US" dirty="0">
              <a:solidFill>
                <a:schemeClr val="tx2">
                  <a:lumMod val="75000"/>
                  <a:lumOff val="25000"/>
                </a:schemeClr>
              </a:solidFill>
            </a:endParaRPr>
          </a:p>
          <a:p>
            <a:pPr lvl="1"/>
            <a:r>
              <a:rPr lang="en-US" b="1" dirty="0">
                <a:solidFill>
                  <a:schemeClr val="tx2">
                    <a:lumMod val="75000"/>
                    <a:lumOff val="25000"/>
                  </a:schemeClr>
                </a:solidFill>
              </a:rPr>
              <a:t>Bias</a:t>
            </a:r>
          </a:p>
          <a:p>
            <a:pPr marL="457200" lvl="1" indent="0">
              <a:buNone/>
            </a:pPr>
            <a:r>
              <a:rPr lang="en-US" dirty="0">
                <a:solidFill>
                  <a:schemeClr val="tx2">
                    <a:lumMod val="75000"/>
                    <a:lumOff val="25000"/>
                  </a:schemeClr>
                </a:solidFill>
              </a:rPr>
              <a:t>Systematic tendency in which methods used to gather data and compute statistics generate inaccurate depictions of reality.</a:t>
            </a:r>
          </a:p>
          <a:p>
            <a:pPr marL="457200" lvl="1" indent="0">
              <a:buNone/>
            </a:pPr>
            <a:endParaRPr lang="en-US" dirty="0">
              <a:solidFill>
                <a:schemeClr val="tx2">
                  <a:lumMod val="75000"/>
                  <a:lumOff val="25000"/>
                </a:schemeClr>
              </a:solidFill>
            </a:endParaRPr>
          </a:p>
        </p:txBody>
      </p:sp>
      <p:sp>
        <p:nvSpPr>
          <p:cNvPr id="4" name="TextBox 3">
            <a:extLst>
              <a:ext uri="{FF2B5EF4-FFF2-40B4-BE49-F238E27FC236}">
                <a16:creationId xmlns:a16="http://schemas.microsoft.com/office/drawing/2014/main" id="{0145A382-B5FF-1D5E-D554-B5B6ECCBFD03}"/>
              </a:ext>
            </a:extLst>
          </p:cNvPr>
          <p:cNvSpPr txBox="1"/>
          <p:nvPr/>
        </p:nvSpPr>
        <p:spPr>
          <a:xfrm>
            <a:off x="6370276" y="3983848"/>
            <a:ext cx="4323174" cy="461665"/>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3"/>
              </a:rPr>
              <a:t>https://mlatcl.github.io/advds/lectures/04-02-ai-and-data-science.html</a:t>
            </a:r>
            <a:r>
              <a:rPr lang="en-GB" sz="1200" dirty="0">
                <a:solidFill>
                  <a:srgbClr val="003E74"/>
                </a:solidFill>
              </a:rPr>
              <a:t> </a:t>
            </a:r>
            <a:endParaRPr lang="en-GB" sz="1200" dirty="0"/>
          </a:p>
        </p:txBody>
      </p:sp>
      <p:sp>
        <p:nvSpPr>
          <p:cNvPr id="7" name="TextBox 6">
            <a:extLst>
              <a:ext uri="{FF2B5EF4-FFF2-40B4-BE49-F238E27FC236}">
                <a16:creationId xmlns:a16="http://schemas.microsoft.com/office/drawing/2014/main" id="{CD5058D7-6269-4D24-1C59-EB679C4E674B}"/>
              </a:ext>
            </a:extLst>
          </p:cNvPr>
          <p:cNvSpPr txBox="1"/>
          <p:nvPr/>
        </p:nvSpPr>
        <p:spPr>
          <a:xfrm>
            <a:off x="4935794" y="4740431"/>
            <a:ext cx="6418006" cy="1938992"/>
          </a:xfrm>
          <a:prstGeom prst="rect">
            <a:avLst/>
          </a:prstGeom>
          <a:noFill/>
        </p:spPr>
        <p:txBody>
          <a:bodyPr wrap="square" rtlCol="0">
            <a:spAutoFit/>
          </a:bodyPr>
          <a:lstStyle/>
          <a:p>
            <a:r>
              <a:rPr lang="en-GB" sz="2400" dirty="0">
                <a:solidFill>
                  <a:srgbClr val="003E74"/>
                </a:solidFill>
              </a:rPr>
              <a:t>Challenges our ability to deploy safe and effective solutions:</a:t>
            </a:r>
          </a:p>
          <a:p>
            <a:pPr marL="285750" indent="-285750">
              <a:buFontTx/>
              <a:buChar char="-"/>
            </a:pPr>
            <a:r>
              <a:rPr lang="en-GB" sz="2400" b="1" dirty="0">
                <a:solidFill>
                  <a:srgbClr val="003E74"/>
                </a:solidFill>
              </a:rPr>
              <a:t>Alignment</a:t>
            </a:r>
          </a:p>
          <a:p>
            <a:pPr marL="285750" indent="-285750">
              <a:buFontTx/>
              <a:buChar char="-"/>
            </a:pPr>
            <a:r>
              <a:rPr lang="en-GB" sz="2400" b="1" dirty="0">
                <a:solidFill>
                  <a:srgbClr val="003E74"/>
                </a:solidFill>
              </a:rPr>
              <a:t>Fairness</a:t>
            </a:r>
          </a:p>
          <a:p>
            <a:pPr marL="285750" indent="-285750">
              <a:buFontTx/>
              <a:buChar char="-"/>
            </a:pPr>
            <a:r>
              <a:rPr lang="en-GB" sz="2400" b="1" dirty="0">
                <a:solidFill>
                  <a:srgbClr val="003E74"/>
                </a:solidFill>
              </a:rPr>
              <a:t>Inclusiveness</a:t>
            </a:r>
            <a:endParaRPr lang="en-GB" sz="2400" b="1" dirty="0"/>
          </a:p>
        </p:txBody>
      </p:sp>
      <p:pic>
        <p:nvPicPr>
          <p:cNvPr id="8" name="Picture 7">
            <a:extLst>
              <a:ext uri="{FF2B5EF4-FFF2-40B4-BE49-F238E27FC236}">
                <a16:creationId xmlns:a16="http://schemas.microsoft.com/office/drawing/2014/main" id="{5B663442-3517-7004-8100-06ED8A514131}"/>
              </a:ext>
            </a:extLst>
          </p:cNvPr>
          <p:cNvPicPr>
            <a:picLocks noChangeAspect="1"/>
          </p:cNvPicPr>
          <p:nvPr/>
        </p:nvPicPr>
        <p:blipFill>
          <a:blip r:embed="rId4"/>
          <a:stretch>
            <a:fillRect/>
          </a:stretch>
        </p:blipFill>
        <p:spPr>
          <a:xfrm>
            <a:off x="6758517" y="967620"/>
            <a:ext cx="3546692" cy="3033674"/>
          </a:xfrm>
          <a:prstGeom prst="rect">
            <a:avLst/>
          </a:prstGeom>
        </p:spPr>
      </p:pic>
    </p:spTree>
    <p:extLst>
      <p:ext uri="{BB962C8B-B14F-4D97-AF65-F5344CB8AC3E}">
        <p14:creationId xmlns:p14="http://schemas.microsoft.com/office/powerpoint/2010/main" val="1822181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0FAC9-2FF7-138B-EFA8-AADC0A28422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1548C3D-9018-EC9A-08E5-B16457EE1AF5}"/>
              </a:ext>
            </a:extLst>
          </p:cNvPr>
          <p:cNvSpPr txBox="1"/>
          <p:nvPr/>
        </p:nvSpPr>
        <p:spPr>
          <a:xfrm>
            <a:off x="4935794" y="4740431"/>
            <a:ext cx="6418006" cy="1938992"/>
          </a:xfrm>
          <a:prstGeom prst="rect">
            <a:avLst/>
          </a:prstGeom>
          <a:noFill/>
        </p:spPr>
        <p:txBody>
          <a:bodyPr wrap="square" rtlCol="0">
            <a:spAutoFit/>
          </a:bodyPr>
          <a:lstStyle/>
          <a:p>
            <a:r>
              <a:rPr lang="en-GB" sz="2400" dirty="0">
                <a:solidFill>
                  <a:srgbClr val="003E74"/>
                </a:solidFill>
              </a:rPr>
              <a:t>Challenges our technical ability to deploy and maintain our solutions:</a:t>
            </a:r>
          </a:p>
          <a:p>
            <a:pPr marL="285750" indent="-285750">
              <a:buFontTx/>
              <a:buChar char="-"/>
            </a:pPr>
            <a:r>
              <a:rPr lang="en-GB" sz="2400" b="1" dirty="0">
                <a:solidFill>
                  <a:srgbClr val="003E74"/>
                </a:solidFill>
              </a:rPr>
              <a:t>Sustainability</a:t>
            </a:r>
            <a:endParaRPr lang="en-GB" sz="2400" b="1" dirty="0"/>
          </a:p>
          <a:p>
            <a:pPr marL="285750" indent="-285750">
              <a:buFontTx/>
              <a:buChar char="-"/>
            </a:pPr>
            <a:r>
              <a:rPr lang="en-GB" sz="2400" b="1" dirty="0">
                <a:solidFill>
                  <a:srgbClr val="003E74"/>
                </a:solidFill>
              </a:rPr>
              <a:t>Maintainability</a:t>
            </a:r>
          </a:p>
          <a:p>
            <a:endParaRPr lang="en-GB" sz="2400" b="1" dirty="0"/>
          </a:p>
        </p:txBody>
      </p:sp>
      <p:sp>
        <p:nvSpPr>
          <p:cNvPr id="2" name="Title 1">
            <a:extLst>
              <a:ext uri="{FF2B5EF4-FFF2-40B4-BE49-F238E27FC236}">
                <a16:creationId xmlns:a16="http://schemas.microsoft.com/office/drawing/2014/main" id="{BFA13086-72EA-D6DE-B246-7EF3ABADB260}"/>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871F7F48-04AE-19C6-5366-AF0131D21758}"/>
              </a:ext>
            </a:extLst>
          </p:cNvPr>
          <p:cNvSpPr>
            <a:spLocks noGrp="1"/>
          </p:cNvSpPr>
          <p:nvPr>
            <p:ph idx="1"/>
          </p:nvPr>
        </p:nvSpPr>
        <p:spPr>
          <a:xfrm>
            <a:off x="838200" y="1825625"/>
            <a:ext cx="5257800" cy="4351338"/>
          </a:xfrm>
        </p:spPr>
        <p:txBody>
          <a:bodyPr/>
          <a:lstStyle/>
          <a:p>
            <a:r>
              <a:rPr lang="en-US" dirty="0">
                <a:solidFill>
                  <a:schemeClr val="tx2">
                    <a:lumMod val="75000"/>
                    <a:lumOff val="25000"/>
                  </a:schemeClr>
                </a:solidFill>
              </a:rPr>
              <a:t>Data Science Challenges</a:t>
            </a:r>
          </a:p>
          <a:p>
            <a:endParaRPr lang="en-US" dirty="0">
              <a:solidFill>
                <a:schemeClr val="tx2">
                  <a:lumMod val="75000"/>
                  <a:lumOff val="25000"/>
                </a:schemeClr>
              </a:solidFill>
            </a:endParaRPr>
          </a:p>
          <a:p>
            <a:pPr lvl="1"/>
            <a:r>
              <a:rPr lang="en-US" b="1" dirty="0">
                <a:solidFill>
                  <a:schemeClr val="tx2">
                    <a:lumMod val="75000"/>
                    <a:lumOff val="25000"/>
                  </a:schemeClr>
                </a:solidFill>
              </a:rPr>
              <a:t>Complexity</a:t>
            </a:r>
          </a:p>
          <a:p>
            <a:pPr marL="457200" lvl="1" indent="0">
              <a:buNone/>
            </a:pPr>
            <a:r>
              <a:rPr lang="en-US" dirty="0">
                <a:solidFill>
                  <a:schemeClr val="tx2">
                    <a:lumMod val="75000"/>
                    <a:lumOff val="25000"/>
                  </a:schemeClr>
                </a:solidFill>
              </a:rPr>
              <a:t>Systems are highly dynamic and have grown in size. The data processing pipelines involve hundreds or thousands of components.</a:t>
            </a:r>
          </a:p>
        </p:txBody>
      </p:sp>
      <p:pic>
        <p:nvPicPr>
          <p:cNvPr id="1026" name="Picture 2">
            <a:extLst>
              <a:ext uri="{FF2B5EF4-FFF2-40B4-BE49-F238E27FC236}">
                <a16:creationId xmlns:a16="http://schemas.microsoft.com/office/drawing/2014/main" id="{0F13AE9B-E501-A0EB-2769-669AA2AC46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9046" y="1690688"/>
            <a:ext cx="3603823" cy="22940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0C3AB48-6594-7D38-E6E0-1F26B076DD01}"/>
              </a:ext>
            </a:extLst>
          </p:cNvPr>
          <p:cNvSpPr txBox="1"/>
          <p:nvPr/>
        </p:nvSpPr>
        <p:spPr>
          <a:xfrm>
            <a:off x="6370276" y="3983848"/>
            <a:ext cx="4323174" cy="646331"/>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4"/>
              </a:rPr>
              <a:t>https://www.divante.com/blog/10-companies-that-implemented-the-microservice-architecture-and-paved-the-way-for-others</a:t>
            </a:r>
            <a:r>
              <a:rPr lang="en-GB" sz="1200" dirty="0">
                <a:solidFill>
                  <a:srgbClr val="003E74"/>
                </a:solidFill>
              </a:rPr>
              <a:t> </a:t>
            </a:r>
            <a:endParaRPr lang="en-GB" sz="1200" dirty="0"/>
          </a:p>
        </p:txBody>
      </p:sp>
      <p:pic>
        <p:nvPicPr>
          <p:cNvPr id="5" name="Picture 4">
            <a:extLst>
              <a:ext uri="{FF2B5EF4-FFF2-40B4-BE49-F238E27FC236}">
                <a16:creationId xmlns:a16="http://schemas.microsoft.com/office/drawing/2014/main" id="{6338363C-F6B2-9895-9E14-FADBCC3F71F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759" t="12036" r="11888" b="11590"/>
          <a:stretch/>
        </p:blipFill>
        <p:spPr bwMode="auto">
          <a:xfrm>
            <a:off x="6370275" y="1690459"/>
            <a:ext cx="4323174" cy="2293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566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BB083-B2B6-8D36-BD7C-0B510C27535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CFACBCC-6DF0-1101-0395-429E4B26A9A3}"/>
              </a:ext>
            </a:extLst>
          </p:cNvPr>
          <p:cNvSpPr txBox="1"/>
          <p:nvPr/>
        </p:nvSpPr>
        <p:spPr>
          <a:xfrm>
            <a:off x="4935794" y="4740431"/>
            <a:ext cx="6418006" cy="1569660"/>
          </a:xfrm>
          <a:prstGeom prst="rect">
            <a:avLst/>
          </a:prstGeom>
          <a:noFill/>
        </p:spPr>
        <p:txBody>
          <a:bodyPr wrap="square" rtlCol="0">
            <a:spAutoFit/>
          </a:bodyPr>
          <a:lstStyle/>
          <a:p>
            <a:r>
              <a:rPr lang="en-GB" sz="2400" dirty="0">
                <a:solidFill>
                  <a:srgbClr val="003E74"/>
                </a:solidFill>
              </a:rPr>
              <a:t>Challenges our ability to explain our solutions:</a:t>
            </a:r>
          </a:p>
          <a:p>
            <a:pPr marL="285750" indent="-285750">
              <a:buFontTx/>
              <a:buChar char="-"/>
            </a:pPr>
            <a:r>
              <a:rPr lang="en-GB" sz="2400" b="1" dirty="0">
                <a:solidFill>
                  <a:srgbClr val="003E74"/>
                </a:solidFill>
              </a:rPr>
              <a:t>Interpretability</a:t>
            </a:r>
          </a:p>
          <a:p>
            <a:pPr marL="285750" indent="-285750">
              <a:buFontTx/>
              <a:buChar char="-"/>
            </a:pPr>
            <a:r>
              <a:rPr lang="en-GB" sz="2400" b="1" dirty="0">
                <a:solidFill>
                  <a:srgbClr val="003E74"/>
                </a:solidFill>
              </a:rPr>
              <a:t>Accountability</a:t>
            </a:r>
            <a:endParaRPr lang="en-GB" sz="2400" b="1" dirty="0"/>
          </a:p>
          <a:p>
            <a:endParaRPr lang="en-GB" sz="2400" b="1" dirty="0"/>
          </a:p>
        </p:txBody>
      </p:sp>
      <p:sp>
        <p:nvSpPr>
          <p:cNvPr id="2" name="Title 1">
            <a:extLst>
              <a:ext uri="{FF2B5EF4-FFF2-40B4-BE49-F238E27FC236}">
                <a16:creationId xmlns:a16="http://schemas.microsoft.com/office/drawing/2014/main" id="{DDF93D31-A921-B62B-76FF-20F4AEA18492}"/>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79CCE057-E952-F5B3-B4B0-A0309BF9588F}"/>
              </a:ext>
            </a:extLst>
          </p:cNvPr>
          <p:cNvSpPr>
            <a:spLocks noGrp="1"/>
          </p:cNvSpPr>
          <p:nvPr>
            <p:ph idx="1"/>
          </p:nvPr>
        </p:nvSpPr>
        <p:spPr>
          <a:xfrm>
            <a:off x="838200" y="1825625"/>
            <a:ext cx="5257800" cy="4351338"/>
          </a:xfrm>
        </p:spPr>
        <p:txBody>
          <a:bodyPr/>
          <a:lstStyle/>
          <a:p>
            <a:r>
              <a:rPr lang="en-US" dirty="0">
                <a:solidFill>
                  <a:schemeClr val="tx2">
                    <a:lumMod val="75000"/>
                    <a:lumOff val="25000"/>
                  </a:schemeClr>
                </a:solidFill>
              </a:rPr>
              <a:t>Data Science Challenges</a:t>
            </a:r>
          </a:p>
          <a:p>
            <a:endParaRPr lang="en-US" dirty="0">
              <a:solidFill>
                <a:schemeClr val="tx2">
                  <a:lumMod val="75000"/>
                  <a:lumOff val="25000"/>
                </a:schemeClr>
              </a:solidFill>
            </a:endParaRPr>
          </a:p>
          <a:p>
            <a:pPr lvl="1"/>
            <a:r>
              <a:rPr lang="en-US" b="1" dirty="0">
                <a:solidFill>
                  <a:schemeClr val="tx2">
                    <a:lumMod val="75000"/>
                    <a:lumOff val="25000"/>
                  </a:schemeClr>
                </a:solidFill>
              </a:rPr>
              <a:t>Intellectual Debt</a:t>
            </a:r>
          </a:p>
          <a:p>
            <a:pPr marL="457200" lvl="1" indent="0">
              <a:buNone/>
            </a:pPr>
            <a:r>
              <a:rPr lang="en-GB" dirty="0">
                <a:solidFill>
                  <a:schemeClr val="tx2">
                    <a:lumMod val="75000"/>
                    <a:lumOff val="25000"/>
                  </a:schemeClr>
                </a:solidFill>
              </a:rPr>
              <a:t>Black-box components make systems hard to understand and threaten human control. We know they components work but do not know how.</a:t>
            </a:r>
          </a:p>
        </p:txBody>
      </p:sp>
      <p:pic>
        <p:nvPicPr>
          <p:cNvPr id="1026" name="Picture 2">
            <a:extLst>
              <a:ext uri="{FF2B5EF4-FFF2-40B4-BE49-F238E27FC236}">
                <a16:creationId xmlns:a16="http://schemas.microsoft.com/office/drawing/2014/main" id="{03F18A5C-34FD-B321-1A0D-463FC4705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9046" y="1690688"/>
            <a:ext cx="3603823" cy="22940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80B4662-EC31-B6EE-4B57-99CF64A80958}"/>
              </a:ext>
            </a:extLst>
          </p:cNvPr>
          <p:cNvSpPr txBox="1"/>
          <p:nvPr/>
        </p:nvSpPr>
        <p:spPr>
          <a:xfrm>
            <a:off x="6659046" y="3983848"/>
            <a:ext cx="3603823" cy="830997"/>
          </a:xfrm>
          <a:prstGeom prst="rect">
            <a:avLst/>
          </a:prstGeom>
          <a:noFill/>
        </p:spPr>
        <p:txBody>
          <a:bodyPr wrap="square" rtlCol="0">
            <a:spAutoFit/>
          </a:bodyPr>
          <a:lstStyle/>
          <a:p>
            <a:r>
              <a:rPr lang="en-GB" sz="1200" dirty="0">
                <a:solidFill>
                  <a:srgbClr val="003E74"/>
                </a:solidFill>
              </a:rPr>
              <a:t>Source: (Zittrain-2019) </a:t>
            </a:r>
            <a:r>
              <a:rPr lang="en-GB" sz="1200" dirty="0">
                <a:solidFill>
                  <a:srgbClr val="003E74"/>
                </a:solidFill>
                <a:hlinkClick r:id="rId4"/>
              </a:rPr>
              <a:t>https://medium.com/berkman-klein-center/from-technical-debt-to-intellectual-debt-in-ai-e05ac56a502c</a:t>
            </a:r>
            <a:r>
              <a:rPr lang="en-GB" sz="1200" dirty="0">
                <a:solidFill>
                  <a:srgbClr val="003E74"/>
                </a:solidFill>
              </a:rPr>
              <a:t>  </a:t>
            </a:r>
            <a:endParaRPr lang="en-GB" sz="1200" dirty="0"/>
          </a:p>
        </p:txBody>
      </p:sp>
    </p:spTree>
    <p:extLst>
      <p:ext uri="{BB962C8B-B14F-4D97-AF65-F5344CB8AC3E}">
        <p14:creationId xmlns:p14="http://schemas.microsoft.com/office/powerpoint/2010/main" val="185337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D46AB-F15F-1B7F-4EB0-BFAB35D85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CF84D-1CB7-7837-F18F-66DE52D7B2A8}"/>
              </a:ext>
            </a:extLst>
          </p:cNvPr>
          <p:cNvSpPr>
            <a:spLocks noGrp="1"/>
          </p:cNvSpPr>
          <p:nvPr>
            <p:ph type="title"/>
          </p:nvPr>
        </p:nvSpPr>
        <p:spPr/>
        <p:txBody>
          <a:bodyPr/>
          <a:lstStyle/>
          <a:p>
            <a:r>
              <a:rPr lang="en-US" b="1" dirty="0">
                <a:solidFill>
                  <a:schemeClr val="tx2">
                    <a:lumMod val="75000"/>
                    <a:lumOff val="25000"/>
                  </a:schemeClr>
                </a:solidFill>
              </a:rPr>
              <a:t>Why are these important?</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25A86A27-525A-8225-1594-72CB86FC4A0E}"/>
              </a:ext>
            </a:extLst>
          </p:cNvPr>
          <p:cNvSpPr>
            <a:spLocks noGrp="1"/>
          </p:cNvSpPr>
          <p:nvPr>
            <p:ph idx="1"/>
          </p:nvPr>
        </p:nvSpPr>
        <p:spPr/>
        <p:txBody>
          <a:bodyPr/>
          <a:lstStyle/>
          <a:p>
            <a:r>
              <a:rPr lang="en-US" dirty="0">
                <a:solidFill>
                  <a:schemeClr val="tx2">
                    <a:lumMod val="75000"/>
                    <a:lumOff val="25000"/>
                  </a:schemeClr>
                </a:solidFill>
              </a:rPr>
              <a:t>Data Science Challenges</a:t>
            </a:r>
          </a:p>
          <a:p>
            <a:endParaRPr lang="en-US" dirty="0">
              <a:solidFill>
                <a:schemeClr val="tx2">
                  <a:lumMod val="75000"/>
                  <a:lumOff val="25000"/>
                </a:schemeClr>
              </a:solidFill>
            </a:endParaRPr>
          </a:p>
          <a:p>
            <a:pPr lvl="1"/>
            <a:r>
              <a:rPr lang="en-US" b="1" dirty="0">
                <a:solidFill>
                  <a:schemeClr val="tx2">
                    <a:lumMod val="75000"/>
                    <a:lumOff val="25000"/>
                  </a:schemeClr>
                </a:solidFill>
              </a:rPr>
              <a:t>Bias</a:t>
            </a:r>
          </a:p>
          <a:p>
            <a:pPr lvl="1"/>
            <a:endParaRPr lang="en-US" dirty="0">
              <a:solidFill>
                <a:schemeClr val="tx2">
                  <a:lumMod val="75000"/>
                  <a:lumOff val="25000"/>
                </a:schemeClr>
              </a:solidFill>
            </a:endParaRPr>
          </a:p>
          <a:p>
            <a:pPr lvl="1"/>
            <a:r>
              <a:rPr lang="en-US" b="1" dirty="0">
                <a:solidFill>
                  <a:schemeClr val="tx2">
                    <a:lumMod val="75000"/>
                    <a:lumOff val="25000"/>
                  </a:schemeClr>
                </a:solidFill>
              </a:rPr>
              <a:t>Complexity</a:t>
            </a:r>
          </a:p>
          <a:p>
            <a:pPr lvl="1"/>
            <a:endParaRPr lang="en-US" dirty="0">
              <a:solidFill>
                <a:schemeClr val="tx2">
                  <a:lumMod val="75000"/>
                  <a:lumOff val="25000"/>
                </a:schemeClr>
              </a:solidFill>
            </a:endParaRPr>
          </a:p>
          <a:p>
            <a:pPr lvl="1"/>
            <a:r>
              <a:rPr lang="en-US" b="1" dirty="0">
                <a:solidFill>
                  <a:schemeClr val="tx2">
                    <a:lumMod val="75000"/>
                    <a:lumOff val="25000"/>
                  </a:schemeClr>
                </a:solidFill>
              </a:rPr>
              <a:t>Intellectual Debt</a:t>
            </a:r>
          </a:p>
          <a:p>
            <a:pPr lvl="1"/>
            <a:endParaRPr lang="en-US" dirty="0">
              <a:solidFill>
                <a:schemeClr val="tx2">
                  <a:lumMod val="75000"/>
                  <a:lumOff val="25000"/>
                </a:schemeClr>
              </a:solidFill>
            </a:endParaRPr>
          </a:p>
          <a:p>
            <a:pPr lvl="1"/>
            <a:r>
              <a:rPr lang="en-US" b="1" dirty="0">
                <a:solidFill>
                  <a:schemeClr val="tx2">
                    <a:lumMod val="75000"/>
                    <a:lumOff val="25000"/>
                  </a:schemeClr>
                </a:solidFill>
              </a:rPr>
              <a:t>…</a:t>
            </a:r>
            <a:endParaRPr lang="en-GB" b="1" dirty="0">
              <a:solidFill>
                <a:schemeClr val="tx2">
                  <a:lumMod val="75000"/>
                  <a:lumOff val="25000"/>
                </a:schemeClr>
              </a:solidFill>
            </a:endParaRPr>
          </a:p>
        </p:txBody>
      </p:sp>
      <p:pic>
        <p:nvPicPr>
          <p:cNvPr id="5122" name="Picture 2" descr="People background design">
            <a:extLst>
              <a:ext uri="{FF2B5EF4-FFF2-40B4-BE49-F238E27FC236}">
                <a16:creationId xmlns:a16="http://schemas.microsoft.com/office/drawing/2014/main" id="{B985B7AD-5FB4-8676-4902-685B634604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881" t="19604" r="17312" b="21902"/>
          <a:stretch/>
        </p:blipFill>
        <p:spPr bwMode="auto">
          <a:xfrm>
            <a:off x="6096000" y="1602658"/>
            <a:ext cx="4513007" cy="40115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D9EC46B-4CA8-5D60-4688-B52C457F28B8}"/>
              </a:ext>
            </a:extLst>
          </p:cNvPr>
          <p:cNvSpPr txBox="1"/>
          <p:nvPr/>
        </p:nvSpPr>
        <p:spPr>
          <a:xfrm>
            <a:off x="6096000" y="5614219"/>
            <a:ext cx="4513007" cy="276999"/>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4"/>
              </a:rPr>
              <a:t>https://www.freepik.com/free-photos-vectors/society</a:t>
            </a:r>
            <a:r>
              <a:rPr lang="en-GB" sz="1200" dirty="0">
                <a:solidFill>
                  <a:srgbClr val="003E74"/>
                </a:solidFill>
              </a:rPr>
              <a:t>  </a:t>
            </a:r>
            <a:endParaRPr lang="en-GB" sz="1200" dirty="0"/>
          </a:p>
        </p:txBody>
      </p:sp>
    </p:spTree>
    <p:extLst>
      <p:ext uri="{BB962C8B-B14F-4D97-AF65-F5344CB8AC3E}">
        <p14:creationId xmlns:p14="http://schemas.microsoft.com/office/powerpoint/2010/main" val="3399986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7F61F-DE85-5147-9968-9DB754C54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724C1-B078-2098-4DB9-719BF015A3B8}"/>
              </a:ext>
            </a:extLst>
          </p:cNvPr>
          <p:cNvSpPr>
            <a:spLocks noGrp="1"/>
          </p:cNvSpPr>
          <p:nvPr>
            <p:ph type="title"/>
          </p:nvPr>
        </p:nvSpPr>
        <p:spPr/>
        <p:txBody>
          <a:bodyPr/>
          <a:lstStyle/>
          <a:p>
            <a:r>
              <a:rPr lang="en-US" b="1" dirty="0">
                <a:solidFill>
                  <a:schemeClr val="tx2">
                    <a:lumMod val="75000"/>
                    <a:lumOff val="25000"/>
                  </a:schemeClr>
                </a:solidFill>
              </a:rPr>
              <a:t>Why are these important?</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00E1144A-14C9-FA22-36E1-952CDB29DC35}"/>
              </a:ext>
            </a:extLst>
          </p:cNvPr>
          <p:cNvSpPr>
            <a:spLocks noGrp="1"/>
          </p:cNvSpPr>
          <p:nvPr>
            <p:ph idx="1"/>
          </p:nvPr>
        </p:nvSpPr>
        <p:spPr/>
        <p:txBody>
          <a:bodyPr/>
          <a:lstStyle/>
          <a:p>
            <a:r>
              <a:rPr lang="en-US" dirty="0">
                <a:solidFill>
                  <a:schemeClr val="tx2">
                    <a:lumMod val="75000"/>
                    <a:lumOff val="25000"/>
                  </a:schemeClr>
                </a:solidFill>
              </a:rPr>
              <a:t>Society has challenging problems…</a:t>
            </a:r>
          </a:p>
          <a:p>
            <a:endParaRPr lang="en-US" dirty="0">
              <a:solidFill>
                <a:schemeClr val="tx2">
                  <a:lumMod val="75000"/>
                  <a:lumOff val="25000"/>
                </a:schemeClr>
              </a:solidFill>
            </a:endParaRPr>
          </a:p>
        </p:txBody>
      </p:sp>
      <p:pic>
        <p:nvPicPr>
          <p:cNvPr id="5122" name="Picture 2" descr="People background design">
            <a:extLst>
              <a:ext uri="{FF2B5EF4-FFF2-40B4-BE49-F238E27FC236}">
                <a16:creationId xmlns:a16="http://schemas.microsoft.com/office/drawing/2014/main" id="{857ACF0B-DED1-C4B7-7E5B-7A7CBBD549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881" t="19604" r="17312" b="21902"/>
          <a:stretch/>
        </p:blipFill>
        <p:spPr bwMode="auto">
          <a:xfrm>
            <a:off x="4107429" y="2569440"/>
            <a:ext cx="4513007" cy="40115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CAA8A89-46F0-F77A-7215-2AE41E29179F}"/>
              </a:ext>
            </a:extLst>
          </p:cNvPr>
          <p:cNvSpPr txBox="1"/>
          <p:nvPr/>
        </p:nvSpPr>
        <p:spPr>
          <a:xfrm>
            <a:off x="4107429" y="6581001"/>
            <a:ext cx="4513007" cy="276999"/>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4"/>
              </a:rPr>
              <a:t>https://www.freepik.com/free-photos-vectors/society</a:t>
            </a:r>
            <a:r>
              <a:rPr lang="en-GB" sz="1200" dirty="0">
                <a:solidFill>
                  <a:srgbClr val="003E74"/>
                </a:solidFill>
              </a:rPr>
              <a:t>  </a:t>
            </a:r>
            <a:endParaRPr lang="en-GB" sz="1200" dirty="0"/>
          </a:p>
        </p:txBody>
      </p:sp>
      <p:sp>
        <p:nvSpPr>
          <p:cNvPr id="6" name="TextBox 5">
            <a:extLst>
              <a:ext uri="{FF2B5EF4-FFF2-40B4-BE49-F238E27FC236}">
                <a16:creationId xmlns:a16="http://schemas.microsoft.com/office/drawing/2014/main" id="{24B557EA-4426-3CF8-BFE9-3A5E5CB21AF9}"/>
              </a:ext>
            </a:extLst>
          </p:cNvPr>
          <p:cNvSpPr txBox="1"/>
          <p:nvPr/>
        </p:nvSpPr>
        <p:spPr>
          <a:xfrm>
            <a:off x="3109452" y="2930223"/>
            <a:ext cx="1897626" cy="461665"/>
          </a:xfrm>
          <a:prstGeom prst="rect">
            <a:avLst/>
          </a:prstGeom>
          <a:noFill/>
        </p:spPr>
        <p:txBody>
          <a:bodyPr wrap="square">
            <a:spAutoFit/>
          </a:bodyPr>
          <a:lstStyle/>
          <a:p>
            <a:r>
              <a:rPr lang="en-GB" sz="2400" b="1" dirty="0">
                <a:solidFill>
                  <a:srgbClr val="215F9A"/>
                </a:solidFill>
              </a:rPr>
              <a:t>Alignment</a:t>
            </a:r>
            <a:endParaRPr lang="en-GB" sz="2400" dirty="0">
              <a:solidFill>
                <a:srgbClr val="215F9A"/>
              </a:solidFill>
            </a:endParaRPr>
          </a:p>
        </p:txBody>
      </p:sp>
      <p:sp>
        <p:nvSpPr>
          <p:cNvPr id="10" name="TextBox 9">
            <a:extLst>
              <a:ext uri="{FF2B5EF4-FFF2-40B4-BE49-F238E27FC236}">
                <a16:creationId xmlns:a16="http://schemas.microsoft.com/office/drawing/2014/main" id="{7443FA4F-4C3B-F63E-0BD7-18F36D529B03}"/>
              </a:ext>
            </a:extLst>
          </p:cNvPr>
          <p:cNvSpPr txBox="1"/>
          <p:nvPr/>
        </p:nvSpPr>
        <p:spPr>
          <a:xfrm>
            <a:off x="9254613" y="4179149"/>
            <a:ext cx="1897626" cy="461665"/>
          </a:xfrm>
          <a:prstGeom prst="rect">
            <a:avLst/>
          </a:prstGeom>
          <a:noFill/>
        </p:spPr>
        <p:txBody>
          <a:bodyPr wrap="square">
            <a:spAutoFit/>
          </a:bodyPr>
          <a:lstStyle/>
          <a:p>
            <a:r>
              <a:rPr lang="en-GB" sz="2400" b="1" dirty="0">
                <a:solidFill>
                  <a:srgbClr val="215F9A"/>
                </a:solidFill>
              </a:rPr>
              <a:t>Fairness</a:t>
            </a:r>
            <a:endParaRPr lang="en-GB" sz="2400" dirty="0">
              <a:solidFill>
                <a:srgbClr val="215F9A"/>
              </a:solidFill>
            </a:endParaRPr>
          </a:p>
        </p:txBody>
      </p:sp>
      <p:sp>
        <p:nvSpPr>
          <p:cNvPr id="12" name="TextBox 11">
            <a:extLst>
              <a:ext uri="{FF2B5EF4-FFF2-40B4-BE49-F238E27FC236}">
                <a16:creationId xmlns:a16="http://schemas.microsoft.com/office/drawing/2014/main" id="{B66E02B4-6294-C189-6842-5376B61487B3}"/>
              </a:ext>
            </a:extLst>
          </p:cNvPr>
          <p:cNvSpPr txBox="1"/>
          <p:nvPr/>
        </p:nvSpPr>
        <p:spPr>
          <a:xfrm>
            <a:off x="8481215" y="2806056"/>
            <a:ext cx="2282651" cy="461665"/>
          </a:xfrm>
          <a:prstGeom prst="rect">
            <a:avLst/>
          </a:prstGeom>
          <a:noFill/>
        </p:spPr>
        <p:txBody>
          <a:bodyPr wrap="square">
            <a:spAutoFit/>
          </a:bodyPr>
          <a:lstStyle/>
          <a:p>
            <a:r>
              <a:rPr lang="en-GB" sz="2400" b="1" dirty="0">
                <a:solidFill>
                  <a:srgbClr val="215F9A"/>
                </a:solidFill>
              </a:rPr>
              <a:t>Inclusiveness</a:t>
            </a:r>
            <a:endParaRPr lang="en-GB" sz="2400" dirty="0">
              <a:solidFill>
                <a:srgbClr val="215F9A"/>
              </a:solidFill>
            </a:endParaRPr>
          </a:p>
        </p:txBody>
      </p:sp>
      <p:sp>
        <p:nvSpPr>
          <p:cNvPr id="14" name="TextBox 13">
            <a:extLst>
              <a:ext uri="{FF2B5EF4-FFF2-40B4-BE49-F238E27FC236}">
                <a16:creationId xmlns:a16="http://schemas.microsoft.com/office/drawing/2014/main" id="{6CF863B9-09DD-EE90-8DB0-D5F177D710A9}"/>
              </a:ext>
            </a:extLst>
          </p:cNvPr>
          <p:cNvSpPr txBox="1"/>
          <p:nvPr/>
        </p:nvSpPr>
        <p:spPr>
          <a:xfrm>
            <a:off x="2409795" y="5149761"/>
            <a:ext cx="2282651" cy="461665"/>
          </a:xfrm>
          <a:prstGeom prst="rect">
            <a:avLst/>
          </a:prstGeom>
          <a:noFill/>
        </p:spPr>
        <p:txBody>
          <a:bodyPr wrap="square">
            <a:spAutoFit/>
          </a:bodyPr>
          <a:lstStyle/>
          <a:p>
            <a:r>
              <a:rPr lang="en-GB" sz="2400" b="1" dirty="0">
                <a:solidFill>
                  <a:srgbClr val="215F9A"/>
                </a:solidFill>
              </a:rPr>
              <a:t>Sustainability</a:t>
            </a:r>
          </a:p>
        </p:txBody>
      </p:sp>
      <p:sp>
        <p:nvSpPr>
          <p:cNvPr id="16" name="TextBox 15">
            <a:extLst>
              <a:ext uri="{FF2B5EF4-FFF2-40B4-BE49-F238E27FC236}">
                <a16:creationId xmlns:a16="http://schemas.microsoft.com/office/drawing/2014/main" id="{39B98966-0566-7AB3-44B9-82BF252CF9F3}"/>
              </a:ext>
            </a:extLst>
          </p:cNvPr>
          <p:cNvSpPr txBox="1"/>
          <p:nvPr/>
        </p:nvSpPr>
        <p:spPr>
          <a:xfrm>
            <a:off x="6301589" y="6007497"/>
            <a:ext cx="2461412" cy="461665"/>
          </a:xfrm>
          <a:prstGeom prst="rect">
            <a:avLst/>
          </a:prstGeom>
          <a:noFill/>
        </p:spPr>
        <p:txBody>
          <a:bodyPr wrap="square">
            <a:spAutoFit/>
          </a:bodyPr>
          <a:lstStyle/>
          <a:p>
            <a:r>
              <a:rPr lang="en-GB" sz="2400" b="1" dirty="0">
                <a:solidFill>
                  <a:srgbClr val="215F9A"/>
                </a:solidFill>
              </a:rPr>
              <a:t>Maintainability</a:t>
            </a:r>
          </a:p>
        </p:txBody>
      </p:sp>
      <p:sp>
        <p:nvSpPr>
          <p:cNvPr id="18" name="TextBox 17">
            <a:extLst>
              <a:ext uri="{FF2B5EF4-FFF2-40B4-BE49-F238E27FC236}">
                <a16:creationId xmlns:a16="http://schemas.microsoft.com/office/drawing/2014/main" id="{B6EABB52-9207-4FAD-89D4-D415F46BCD1D}"/>
              </a:ext>
            </a:extLst>
          </p:cNvPr>
          <p:cNvSpPr txBox="1"/>
          <p:nvPr/>
        </p:nvSpPr>
        <p:spPr>
          <a:xfrm>
            <a:off x="1596853" y="4086816"/>
            <a:ext cx="2461412" cy="461665"/>
          </a:xfrm>
          <a:prstGeom prst="rect">
            <a:avLst/>
          </a:prstGeom>
          <a:noFill/>
        </p:spPr>
        <p:txBody>
          <a:bodyPr wrap="square">
            <a:spAutoFit/>
          </a:bodyPr>
          <a:lstStyle/>
          <a:p>
            <a:r>
              <a:rPr lang="en-GB" sz="2400" b="1" dirty="0">
                <a:solidFill>
                  <a:srgbClr val="215F9A"/>
                </a:solidFill>
              </a:rPr>
              <a:t>Interpretability</a:t>
            </a:r>
          </a:p>
        </p:txBody>
      </p:sp>
      <p:sp>
        <p:nvSpPr>
          <p:cNvPr id="20" name="TextBox 19">
            <a:extLst>
              <a:ext uri="{FF2B5EF4-FFF2-40B4-BE49-F238E27FC236}">
                <a16:creationId xmlns:a16="http://schemas.microsoft.com/office/drawing/2014/main" id="{41C53305-8B4E-EAE9-BF60-04E1DA970F11}"/>
              </a:ext>
            </a:extLst>
          </p:cNvPr>
          <p:cNvSpPr txBox="1"/>
          <p:nvPr/>
        </p:nvSpPr>
        <p:spPr>
          <a:xfrm>
            <a:off x="8892388" y="5463983"/>
            <a:ext cx="2461412" cy="461665"/>
          </a:xfrm>
          <a:prstGeom prst="rect">
            <a:avLst/>
          </a:prstGeom>
          <a:noFill/>
        </p:spPr>
        <p:txBody>
          <a:bodyPr wrap="square">
            <a:spAutoFit/>
          </a:bodyPr>
          <a:lstStyle/>
          <a:p>
            <a:r>
              <a:rPr lang="en-GB" sz="2400" b="1" dirty="0">
                <a:solidFill>
                  <a:srgbClr val="215F9A"/>
                </a:solidFill>
              </a:rPr>
              <a:t>Accountability</a:t>
            </a:r>
            <a:endParaRPr lang="en-GB" sz="2400" dirty="0">
              <a:solidFill>
                <a:srgbClr val="215F9A"/>
              </a:solidFill>
            </a:endParaRPr>
          </a:p>
        </p:txBody>
      </p:sp>
    </p:spTree>
    <p:extLst>
      <p:ext uri="{BB962C8B-B14F-4D97-AF65-F5344CB8AC3E}">
        <p14:creationId xmlns:p14="http://schemas.microsoft.com/office/powerpoint/2010/main" val="3587790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7948F-0BDF-3F98-0195-8BDCA7AB5B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9486D-B933-31C3-472B-B6D63C1753AC}"/>
              </a:ext>
            </a:extLst>
          </p:cNvPr>
          <p:cNvSpPr>
            <a:spLocks noGrp="1"/>
          </p:cNvSpPr>
          <p:nvPr>
            <p:ph type="title"/>
          </p:nvPr>
        </p:nvSpPr>
        <p:spPr/>
        <p:txBody>
          <a:bodyPr/>
          <a:lstStyle/>
          <a:p>
            <a:r>
              <a:rPr lang="en-US" b="1" dirty="0">
                <a:solidFill>
                  <a:schemeClr val="tx2">
                    <a:lumMod val="75000"/>
                    <a:lumOff val="25000"/>
                  </a:schemeClr>
                </a:solidFill>
              </a:rPr>
              <a:t>How do we build solutions now?</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FADD9C1E-7D51-3AA2-0A09-38437593AE4E}"/>
              </a:ext>
            </a:extLst>
          </p:cNvPr>
          <p:cNvSpPr>
            <a:spLocks noGrp="1"/>
          </p:cNvSpPr>
          <p:nvPr>
            <p:ph idx="1"/>
          </p:nvPr>
        </p:nvSpPr>
        <p:spPr/>
        <p:txBody>
          <a:bodyPr/>
          <a:lstStyle/>
          <a:p>
            <a:r>
              <a:rPr lang="en-US" dirty="0">
                <a:solidFill>
                  <a:schemeClr val="tx2">
                    <a:lumMod val="75000"/>
                    <a:lumOff val="25000"/>
                  </a:schemeClr>
                </a:solidFill>
              </a:rPr>
              <a:t>Focus on technology</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pic>
        <p:nvPicPr>
          <p:cNvPr id="6146" name="Picture 2">
            <a:extLst>
              <a:ext uri="{FF2B5EF4-FFF2-40B4-BE49-F238E27FC236}">
                <a16:creationId xmlns:a16="http://schemas.microsoft.com/office/drawing/2014/main" id="{7CD36A1B-A20A-1EE7-805A-98CC3107F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847" y="2735229"/>
            <a:ext cx="2627056" cy="3170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00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32D5A-1955-8783-B6F7-760045BFB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CE01A2-CFAD-2496-D561-B4EE8C9A12B7}"/>
              </a:ext>
            </a:extLst>
          </p:cNvPr>
          <p:cNvSpPr>
            <a:spLocks noGrp="1"/>
          </p:cNvSpPr>
          <p:nvPr>
            <p:ph type="title"/>
          </p:nvPr>
        </p:nvSpPr>
        <p:spPr/>
        <p:txBody>
          <a:bodyPr/>
          <a:lstStyle/>
          <a:p>
            <a:r>
              <a:rPr lang="en-US" b="1" dirty="0">
                <a:solidFill>
                  <a:schemeClr val="tx2">
                    <a:lumMod val="75000"/>
                    <a:lumOff val="25000"/>
                  </a:schemeClr>
                </a:solidFill>
              </a:rPr>
              <a:t>How do we build solutions now?</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3CF7E98F-73CD-BC3F-D07D-CF0AAC2206FE}"/>
              </a:ext>
            </a:extLst>
          </p:cNvPr>
          <p:cNvSpPr>
            <a:spLocks noGrp="1"/>
          </p:cNvSpPr>
          <p:nvPr>
            <p:ph idx="1"/>
          </p:nvPr>
        </p:nvSpPr>
        <p:spPr/>
        <p:txBody>
          <a:bodyPr/>
          <a:lstStyle/>
          <a:p>
            <a:r>
              <a:rPr lang="en-US" dirty="0">
                <a:solidFill>
                  <a:schemeClr val="tx2">
                    <a:lumMod val="75000"/>
                    <a:lumOff val="25000"/>
                  </a:schemeClr>
                </a:solidFill>
              </a:rPr>
              <a:t>Focus on technology</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pic>
        <p:nvPicPr>
          <p:cNvPr id="6146" name="Picture 2">
            <a:extLst>
              <a:ext uri="{FF2B5EF4-FFF2-40B4-BE49-F238E27FC236}">
                <a16:creationId xmlns:a16="http://schemas.microsoft.com/office/drawing/2014/main" id="{9F3076B1-0F78-6005-4DD6-DD432F130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847" y="2735229"/>
            <a:ext cx="2627056" cy="317058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9931F8A9-ED32-1C4B-B9C0-C7408300A7D0}"/>
              </a:ext>
            </a:extLst>
          </p:cNvPr>
          <p:cNvSpPr txBox="1"/>
          <p:nvPr/>
        </p:nvSpPr>
        <p:spPr>
          <a:xfrm>
            <a:off x="5410640" y="2406503"/>
            <a:ext cx="6096000" cy="830997"/>
          </a:xfrm>
          <a:prstGeom prst="rect">
            <a:avLst/>
          </a:prstGeom>
          <a:noFill/>
        </p:spPr>
        <p:txBody>
          <a:bodyPr wrap="square">
            <a:spAutoFit/>
          </a:bodyPr>
          <a:lstStyle/>
          <a:p>
            <a:r>
              <a:rPr lang="en-US" sz="2400" dirty="0">
                <a:solidFill>
                  <a:srgbClr val="215F9A"/>
                </a:solidFill>
              </a:rPr>
              <a:t>For example, we have a learning model that generates predictions from inputs:</a:t>
            </a:r>
          </a:p>
        </p:txBody>
      </p:sp>
      <p:grpSp>
        <p:nvGrpSpPr>
          <p:cNvPr id="10" name="Group 9">
            <a:extLst>
              <a:ext uri="{FF2B5EF4-FFF2-40B4-BE49-F238E27FC236}">
                <a16:creationId xmlns:a16="http://schemas.microsoft.com/office/drawing/2014/main" id="{80EB4E07-B24D-FFC4-C080-423AC1DA7633}"/>
              </a:ext>
            </a:extLst>
          </p:cNvPr>
          <p:cNvGrpSpPr/>
          <p:nvPr/>
        </p:nvGrpSpPr>
        <p:grpSpPr>
          <a:xfrm>
            <a:off x="5126393" y="3448755"/>
            <a:ext cx="6031278" cy="1123243"/>
            <a:chOff x="3668648" y="2921046"/>
            <a:chExt cx="5310999" cy="638457"/>
          </a:xfrm>
        </p:grpSpPr>
        <p:sp>
          <p:nvSpPr>
            <p:cNvPr id="12" name="Rectangle 11">
              <a:extLst>
                <a:ext uri="{FF2B5EF4-FFF2-40B4-BE49-F238E27FC236}">
                  <a16:creationId xmlns:a16="http://schemas.microsoft.com/office/drawing/2014/main" id="{F59F64BC-F18C-0B71-8BE5-123545A540BE}"/>
                </a:ext>
              </a:extLst>
            </p:cNvPr>
            <p:cNvSpPr/>
            <p:nvPr/>
          </p:nvSpPr>
          <p:spPr>
            <a:xfrm>
              <a:off x="5422374" y="2921046"/>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Learning Model</a:t>
              </a:r>
              <a:endParaRPr lang="en-GB" sz="2400" b="1" dirty="0">
                <a:solidFill>
                  <a:schemeClr val="bg1"/>
                </a:solidFill>
              </a:endParaRPr>
            </a:p>
          </p:txBody>
        </p:sp>
        <p:sp>
          <p:nvSpPr>
            <p:cNvPr id="14" name="TextBox 13">
              <a:extLst>
                <a:ext uri="{FF2B5EF4-FFF2-40B4-BE49-F238E27FC236}">
                  <a16:creationId xmlns:a16="http://schemas.microsoft.com/office/drawing/2014/main" id="{AE829123-0421-CABB-20A8-E13BAF07FAFA}"/>
                </a:ext>
              </a:extLst>
            </p:cNvPr>
            <p:cNvSpPr txBox="1"/>
            <p:nvPr/>
          </p:nvSpPr>
          <p:spPr>
            <a:xfrm>
              <a:off x="3668648" y="3109067"/>
              <a:ext cx="1189160" cy="262413"/>
            </a:xfrm>
            <a:prstGeom prst="rect">
              <a:avLst/>
            </a:prstGeom>
            <a:noFill/>
          </p:spPr>
          <p:txBody>
            <a:bodyPr wrap="none" rtlCol="0">
              <a:spAutoFit/>
            </a:bodyPr>
            <a:lstStyle/>
            <a:p>
              <a:r>
                <a:rPr lang="en-US" sz="2400" dirty="0">
                  <a:solidFill>
                    <a:srgbClr val="003E74"/>
                  </a:solidFill>
                </a:rPr>
                <a:t>&lt;inputs&gt;</a:t>
              </a:r>
              <a:endParaRPr lang="en-GB" sz="2400" dirty="0">
                <a:solidFill>
                  <a:srgbClr val="003E74"/>
                </a:solidFill>
              </a:endParaRPr>
            </a:p>
          </p:txBody>
        </p:sp>
        <p:cxnSp>
          <p:nvCxnSpPr>
            <p:cNvPr id="15" name="Straight Arrow Connector 14">
              <a:extLst>
                <a:ext uri="{FF2B5EF4-FFF2-40B4-BE49-F238E27FC236}">
                  <a16:creationId xmlns:a16="http://schemas.microsoft.com/office/drawing/2014/main" id="{7AA7FA1E-0D8A-C065-A579-8413CFE2505E}"/>
                </a:ext>
              </a:extLst>
            </p:cNvPr>
            <p:cNvCxnSpPr>
              <a:cxnSpLocks/>
              <a:stCxn id="14" idx="3"/>
              <a:endCxn id="12" idx="1"/>
            </p:cNvCxnSpPr>
            <p:nvPr/>
          </p:nvCxnSpPr>
          <p:spPr>
            <a:xfrm>
              <a:off x="4857808" y="3240274"/>
              <a:ext cx="56456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D3804D2-3B79-600B-6505-69E101109EED}"/>
                </a:ext>
              </a:extLst>
            </p:cNvPr>
            <p:cNvCxnSpPr>
              <a:cxnSpLocks/>
              <a:stCxn id="12" idx="3"/>
              <a:endCxn id="18" idx="1"/>
            </p:cNvCxnSpPr>
            <p:nvPr/>
          </p:nvCxnSpPr>
          <p:spPr>
            <a:xfrm flipV="1">
              <a:off x="6769627" y="3240273"/>
              <a:ext cx="563344" cy="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145C3BB-26AC-5889-D3D6-9620751A367C}"/>
                </a:ext>
              </a:extLst>
            </p:cNvPr>
            <p:cNvSpPr txBox="1"/>
            <p:nvPr/>
          </p:nvSpPr>
          <p:spPr>
            <a:xfrm>
              <a:off x="7332971" y="3109066"/>
              <a:ext cx="1646676" cy="262413"/>
            </a:xfrm>
            <a:prstGeom prst="rect">
              <a:avLst/>
            </a:prstGeom>
            <a:noFill/>
          </p:spPr>
          <p:txBody>
            <a:bodyPr wrap="none" rtlCol="0">
              <a:spAutoFit/>
            </a:bodyPr>
            <a:lstStyle/>
            <a:p>
              <a:r>
                <a:rPr lang="en-US" sz="2400" dirty="0">
                  <a:solidFill>
                    <a:srgbClr val="003E74"/>
                  </a:solidFill>
                </a:rPr>
                <a:t>&lt;prediction&gt;</a:t>
              </a:r>
              <a:endParaRPr lang="en-GB" sz="2400" dirty="0">
                <a:solidFill>
                  <a:srgbClr val="003E74"/>
                </a:solidFill>
              </a:endParaRPr>
            </a:p>
          </p:txBody>
        </p:sp>
      </p:grpSp>
    </p:spTree>
    <p:extLst>
      <p:ext uri="{BB962C8B-B14F-4D97-AF65-F5344CB8AC3E}">
        <p14:creationId xmlns:p14="http://schemas.microsoft.com/office/powerpoint/2010/main" val="2701615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E1C71-39AB-FE6E-242B-BFA1E3331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E6EC3-A5F5-ABBD-E35C-F4D0D5865728}"/>
              </a:ext>
            </a:extLst>
          </p:cNvPr>
          <p:cNvSpPr>
            <a:spLocks noGrp="1"/>
          </p:cNvSpPr>
          <p:nvPr>
            <p:ph type="title"/>
          </p:nvPr>
        </p:nvSpPr>
        <p:spPr/>
        <p:txBody>
          <a:bodyPr/>
          <a:lstStyle/>
          <a:p>
            <a:r>
              <a:rPr lang="en-US" b="1" dirty="0">
                <a:solidFill>
                  <a:schemeClr val="tx2">
                    <a:lumMod val="75000"/>
                    <a:lumOff val="25000"/>
                  </a:schemeClr>
                </a:solidFill>
              </a:rPr>
              <a:t>How do we build solutions now?</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9119BB79-F7ED-7F20-2BE9-6E674922DAAE}"/>
              </a:ext>
            </a:extLst>
          </p:cNvPr>
          <p:cNvSpPr>
            <a:spLocks noGrp="1"/>
          </p:cNvSpPr>
          <p:nvPr>
            <p:ph idx="1"/>
          </p:nvPr>
        </p:nvSpPr>
        <p:spPr/>
        <p:txBody>
          <a:bodyPr/>
          <a:lstStyle/>
          <a:p>
            <a:r>
              <a:rPr lang="en-US" dirty="0">
                <a:solidFill>
                  <a:schemeClr val="tx2">
                    <a:lumMod val="75000"/>
                    <a:lumOff val="25000"/>
                  </a:schemeClr>
                </a:solidFill>
              </a:rPr>
              <a:t>Focus on technology</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pic>
        <p:nvPicPr>
          <p:cNvPr id="6146" name="Picture 2">
            <a:extLst>
              <a:ext uri="{FF2B5EF4-FFF2-40B4-BE49-F238E27FC236}">
                <a16:creationId xmlns:a16="http://schemas.microsoft.com/office/drawing/2014/main" id="{E2E46D0A-8770-9CBA-7044-82A6B9A3F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5847" y="2735229"/>
            <a:ext cx="2627056" cy="317058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C0EB5D3A-73A9-870A-6F35-7E2A986C63DA}"/>
              </a:ext>
            </a:extLst>
          </p:cNvPr>
          <p:cNvSpPr txBox="1"/>
          <p:nvPr/>
        </p:nvSpPr>
        <p:spPr>
          <a:xfrm>
            <a:off x="5410640" y="2406503"/>
            <a:ext cx="6096000" cy="830997"/>
          </a:xfrm>
          <a:prstGeom prst="rect">
            <a:avLst/>
          </a:prstGeom>
          <a:noFill/>
        </p:spPr>
        <p:txBody>
          <a:bodyPr wrap="square">
            <a:spAutoFit/>
          </a:bodyPr>
          <a:lstStyle/>
          <a:p>
            <a:r>
              <a:rPr lang="en-US" sz="2400" dirty="0">
                <a:solidFill>
                  <a:srgbClr val="215F9A"/>
                </a:solidFill>
              </a:rPr>
              <a:t>For example, we have a learning model that generates predictions from inputs:</a:t>
            </a:r>
          </a:p>
        </p:txBody>
      </p:sp>
      <p:graphicFrame>
        <p:nvGraphicFramePr>
          <p:cNvPr id="19" name="Table 5">
            <a:extLst>
              <a:ext uri="{FF2B5EF4-FFF2-40B4-BE49-F238E27FC236}">
                <a16:creationId xmlns:a16="http://schemas.microsoft.com/office/drawing/2014/main" id="{7E2EFAB6-0E34-6DCA-AF26-4837269970FD}"/>
              </a:ext>
            </a:extLst>
          </p:cNvPr>
          <p:cNvGraphicFramePr>
            <a:graphicFrameLocks noGrp="1"/>
          </p:cNvGraphicFramePr>
          <p:nvPr>
            <p:extLst>
              <p:ext uri="{D42A27DB-BD31-4B8C-83A1-F6EECF244321}">
                <p14:modId xmlns:p14="http://schemas.microsoft.com/office/powerpoint/2010/main" val="3342878196"/>
              </p:ext>
            </p:extLst>
          </p:nvPr>
        </p:nvGraphicFramePr>
        <p:xfrm>
          <a:off x="4427414" y="4798931"/>
          <a:ext cx="3030543" cy="1747520"/>
        </p:xfrm>
        <a:graphic>
          <a:graphicData uri="http://schemas.openxmlformats.org/drawingml/2006/table">
            <a:tbl>
              <a:tblPr firstRow="1" bandRow="1">
                <a:tableStyleId>{5C22544A-7EE6-4342-B048-85BDC9FD1C3A}</a:tableStyleId>
              </a:tblPr>
              <a:tblGrid>
                <a:gridCol w="1757709">
                  <a:extLst>
                    <a:ext uri="{9D8B030D-6E8A-4147-A177-3AD203B41FA5}">
                      <a16:colId xmlns:a16="http://schemas.microsoft.com/office/drawing/2014/main" val="643936482"/>
                    </a:ext>
                  </a:extLst>
                </a:gridCol>
                <a:gridCol w="1272834">
                  <a:extLst>
                    <a:ext uri="{9D8B030D-6E8A-4147-A177-3AD203B41FA5}">
                      <a16:colId xmlns:a16="http://schemas.microsoft.com/office/drawing/2014/main" val="1543968518"/>
                    </a:ext>
                  </a:extLst>
                </a:gridCol>
              </a:tblGrid>
              <a:tr h="370840">
                <a:tc>
                  <a:txBody>
                    <a:bodyPr/>
                    <a:lstStyle/>
                    <a:p>
                      <a:pPr algn="ctr"/>
                      <a:r>
                        <a:rPr lang="en-US" dirty="0"/>
                        <a:t>Learning Model</a:t>
                      </a:r>
                      <a:endParaRPr lang="en-GB" dirty="0"/>
                    </a:p>
                  </a:txBody>
                  <a:tcPr>
                    <a:solidFill>
                      <a:srgbClr val="003E74"/>
                    </a:solidFill>
                  </a:tcPr>
                </a:tc>
                <a:tc>
                  <a:txBody>
                    <a:bodyPr/>
                    <a:lstStyle/>
                    <a:p>
                      <a:pPr algn="ctr"/>
                      <a:r>
                        <a:rPr lang="en-US" dirty="0"/>
                        <a:t>Accuracy</a:t>
                      </a:r>
                      <a:endParaRPr lang="en-GB" dirty="0"/>
                    </a:p>
                  </a:txBody>
                  <a:tcPr>
                    <a:solidFill>
                      <a:srgbClr val="003E74"/>
                    </a:solidFill>
                  </a:tcPr>
                </a:tc>
                <a:extLst>
                  <a:ext uri="{0D108BD9-81ED-4DB2-BD59-A6C34878D82A}">
                    <a16:rowId xmlns:a16="http://schemas.microsoft.com/office/drawing/2014/main" val="89676683"/>
                  </a:ext>
                </a:extLst>
              </a:tr>
              <a:tr h="370840">
                <a:tc>
                  <a:txBody>
                    <a:bodyPr/>
                    <a:lstStyle/>
                    <a:p>
                      <a:r>
                        <a:rPr lang="en-US" b="1" dirty="0">
                          <a:solidFill>
                            <a:srgbClr val="003E74"/>
                          </a:solidFill>
                        </a:rPr>
                        <a:t>Model v1</a:t>
                      </a:r>
                      <a:endParaRPr lang="en-GB" b="1" dirty="0">
                        <a:solidFill>
                          <a:srgbClr val="003E74"/>
                        </a:solidFill>
                      </a:endParaRPr>
                    </a:p>
                  </a:txBody>
                  <a:tcPr/>
                </a:tc>
                <a:tc>
                  <a:txBody>
                    <a:bodyPr/>
                    <a:lstStyle/>
                    <a:p>
                      <a:r>
                        <a:rPr lang="en-US" b="1" dirty="0">
                          <a:solidFill>
                            <a:srgbClr val="C00000"/>
                          </a:solidFill>
                        </a:rPr>
                        <a:t>88%</a:t>
                      </a:r>
                      <a:endParaRPr lang="en-GB" b="1" dirty="0">
                        <a:solidFill>
                          <a:srgbClr val="C00000"/>
                        </a:solidFill>
                      </a:endParaRPr>
                    </a:p>
                  </a:txBody>
                  <a:tcPr/>
                </a:tc>
                <a:extLst>
                  <a:ext uri="{0D108BD9-81ED-4DB2-BD59-A6C34878D82A}">
                    <a16:rowId xmlns:a16="http://schemas.microsoft.com/office/drawing/2014/main" val="445002850"/>
                  </a:ext>
                </a:extLst>
              </a:tr>
              <a:tr h="370840">
                <a:tc>
                  <a:txBody>
                    <a:bodyPr/>
                    <a:lstStyle/>
                    <a:p>
                      <a:r>
                        <a:rPr lang="en-US" b="1" dirty="0">
                          <a:solidFill>
                            <a:srgbClr val="003E74"/>
                          </a:solidFill>
                        </a:rPr>
                        <a:t>Model v2</a:t>
                      </a:r>
                      <a:endParaRPr lang="en-GB" b="1" dirty="0">
                        <a:solidFill>
                          <a:srgbClr val="003E74"/>
                        </a:solidFill>
                      </a:endParaRPr>
                    </a:p>
                  </a:txBody>
                  <a:tcPr/>
                </a:tc>
                <a:tc>
                  <a:txBody>
                    <a:bodyPr/>
                    <a:lstStyle/>
                    <a:p>
                      <a:r>
                        <a:rPr lang="en-US" b="1" dirty="0">
                          <a:solidFill>
                            <a:srgbClr val="C00000"/>
                          </a:solidFill>
                        </a:rPr>
                        <a:t>90%</a:t>
                      </a:r>
                      <a:endParaRPr lang="en-GB" b="1" dirty="0">
                        <a:solidFill>
                          <a:srgbClr val="C00000"/>
                        </a:solidFill>
                      </a:endParaRPr>
                    </a:p>
                  </a:txBody>
                  <a:tcPr/>
                </a:tc>
                <a:extLst>
                  <a:ext uri="{0D108BD9-81ED-4DB2-BD59-A6C34878D82A}">
                    <a16:rowId xmlns:a16="http://schemas.microsoft.com/office/drawing/2014/main" val="746331468"/>
                  </a:ext>
                </a:extLst>
              </a:tr>
              <a:tr h="159174">
                <a:tc>
                  <a:txBody>
                    <a:bodyPr/>
                    <a:lstStyle/>
                    <a:p>
                      <a:r>
                        <a:rPr lang="en-US" b="1" dirty="0">
                          <a:solidFill>
                            <a:srgbClr val="003E74"/>
                          </a:solidFill>
                        </a:rPr>
                        <a:t>Model v3</a:t>
                      </a:r>
                      <a:endParaRPr lang="en-GB" b="1" dirty="0">
                        <a:solidFill>
                          <a:srgbClr val="003E74"/>
                        </a:solidFill>
                      </a:endParaRPr>
                    </a:p>
                  </a:txBody>
                  <a:tcPr/>
                </a:tc>
                <a:tc>
                  <a:txBody>
                    <a:bodyPr/>
                    <a:lstStyle/>
                    <a:p>
                      <a:r>
                        <a:rPr lang="en-US" b="1" dirty="0">
                          <a:solidFill>
                            <a:srgbClr val="00B050"/>
                          </a:solidFill>
                        </a:rPr>
                        <a:t>98%</a:t>
                      </a:r>
                      <a:endParaRPr lang="en-GB" b="1" dirty="0">
                        <a:solidFill>
                          <a:srgbClr val="00B050"/>
                        </a:solidFill>
                      </a:endParaRPr>
                    </a:p>
                  </a:txBody>
                  <a:tcPr/>
                </a:tc>
                <a:extLst>
                  <a:ext uri="{0D108BD9-81ED-4DB2-BD59-A6C34878D82A}">
                    <a16:rowId xmlns:a16="http://schemas.microsoft.com/office/drawing/2014/main" val="3908724428"/>
                  </a:ext>
                </a:extLst>
              </a:tr>
            </a:tbl>
          </a:graphicData>
        </a:graphic>
      </p:graphicFrame>
      <p:sp>
        <p:nvSpPr>
          <p:cNvPr id="4" name="TextBox 3">
            <a:extLst>
              <a:ext uri="{FF2B5EF4-FFF2-40B4-BE49-F238E27FC236}">
                <a16:creationId xmlns:a16="http://schemas.microsoft.com/office/drawing/2014/main" id="{FAE52BF1-B57D-8CC0-5E46-1371179AB6C1}"/>
              </a:ext>
            </a:extLst>
          </p:cNvPr>
          <p:cNvSpPr txBox="1"/>
          <p:nvPr/>
        </p:nvSpPr>
        <p:spPr>
          <a:xfrm>
            <a:off x="7645961" y="5110306"/>
            <a:ext cx="3683583" cy="1569660"/>
          </a:xfrm>
          <a:prstGeom prst="rect">
            <a:avLst/>
          </a:prstGeom>
          <a:noFill/>
        </p:spPr>
        <p:txBody>
          <a:bodyPr wrap="square">
            <a:spAutoFit/>
          </a:bodyPr>
          <a:lstStyle/>
          <a:p>
            <a:r>
              <a:rPr lang="en-US" sz="2400" dirty="0">
                <a:solidFill>
                  <a:srgbClr val="215F9A"/>
                </a:solidFill>
              </a:rPr>
              <a:t>More capable models</a:t>
            </a:r>
          </a:p>
          <a:p>
            <a:r>
              <a:rPr lang="en-US" sz="2400" dirty="0">
                <a:solidFill>
                  <a:srgbClr val="215F9A"/>
                </a:solidFill>
              </a:rPr>
              <a:t>Larger models</a:t>
            </a:r>
          </a:p>
          <a:p>
            <a:r>
              <a:rPr lang="en-US" sz="2400" dirty="0">
                <a:solidFill>
                  <a:srgbClr val="215F9A"/>
                </a:solidFill>
              </a:rPr>
              <a:t>Powerful infrastructure</a:t>
            </a:r>
          </a:p>
          <a:p>
            <a:r>
              <a:rPr lang="en-US" sz="2400" b="1" dirty="0">
                <a:solidFill>
                  <a:srgbClr val="215F9A"/>
                </a:solidFill>
              </a:rPr>
              <a:t>Promising applications</a:t>
            </a:r>
          </a:p>
        </p:txBody>
      </p:sp>
      <p:grpSp>
        <p:nvGrpSpPr>
          <p:cNvPr id="6" name="Group 5">
            <a:extLst>
              <a:ext uri="{FF2B5EF4-FFF2-40B4-BE49-F238E27FC236}">
                <a16:creationId xmlns:a16="http://schemas.microsoft.com/office/drawing/2014/main" id="{CD40708D-630E-20CF-AFB4-FC365A23479F}"/>
              </a:ext>
            </a:extLst>
          </p:cNvPr>
          <p:cNvGrpSpPr/>
          <p:nvPr/>
        </p:nvGrpSpPr>
        <p:grpSpPr>
          <a:xfrm>
            <a:off x="5126393" y="3448755"/>
            <a:ext cx="6031278" cy="1123243"/>
            <a:chOff x="3668648" y="2921046"/>
            <a:chExt cx="5310999" cy="638457"/>
          </a:xfrm>
        </p:grpSpPr>
        <p:sp>
          <p:nvSpPr>
            <p:cNvPr id="10" name="Rectangle 9">
              <a:extLst>
                <a:ext uri="{FF2B5EF4-FFF2-40B4-BE49-F238E27FC236}">
                  <a16:creationId xmlns:a16="http://schemas.microsoft.com/office/drawing/2014/main" id="{F2C9ED4B-11D2-C616-D31E-402E0499FC7F}"/>
                </a:ext>
              </a:extLst>
            </p:cNvPr>
            <p:cNvSpPr/>
            <p:nvPr/>
          </p:nvSpPr>
          <p:spPr>
            <a:xfrm>
              <a:off x="5422374" y="2921046"/>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Learning Model</a:t>
              </a:r>
              <a:endParaRPr lang="en-GB" sz="2400" b="1" dirty="0">
                <a:solidFill>
                  <a:schemeClr val="bg1"/>
                </a:solidFill>
              </a:endParaRPr>
            </a:p>
          </p:txBody>
        </p:sp>
        <p:sp>
          <p:nvSpPr>
            <p:cNvPr id="12" name="TextBox 11">
              <a:extLst>
                <a:ext uri="{FF2B5EF4-FFF2-40B4-BE49-F238E27FC236}">
                  <a16:creationId xmlns:a16="http://schemas.microsoft.com/office/drawing/2014/main" id="{67C70FD3-6F0B-8450-678A-D68F56A9A246}"/>
                </a:ext>
              </a:extLst>
            </p:cNvPr>
            <p:cNvSpPr txBox="1"/>
            <p:nvPr/>
          </p:nvSpPr>
          <p:spPr>
            <a:xfrm>
              <a:off x="3668648" y="3109067"/>
              <a:ext cx="1189160" cy="262413"/>
            </a:xfrm>
            <a:prstGeom prst="rect">
              <a:avLst/>
            </a:prstGeom>
            <a:noFill/>
          </p:spPr>
          <p:txBody>
            <a:bodyPr wrap="none" rtlCol="0">
              <a:spAutoFit/>
            </a:bodyPr>
            <a:lstStyle/>
            <a:p>
              <a:r>
                <a:rPr lang="en-US" sz="2400" dirty="0">
                  <a:solidFill>
                    <a:srgbClr val="003E74"/>
                  </a:solidFill>
                </a:rPr>
                <a:t>&lt;inputs&gt;</a:t>
              </a:r>
              <a:endParaRPr lang="en-GB" sz="2400" dirty="0">
                <a:solidFill>
                  <a:srgbClr val="003E74"/>
                </a:solidFill>
              </a:endParaRPr>
            </a:p>
          </p:txBody>
        </p:sp>
        <p:cxnSp>
          <p:nvCxnSpPr>
            <p:cNvPr id="14" name="Straight Arrow Connector 13">
              <a:extLst>
                <a:ext uri="{FF2B5EF4-FFF2-40B4-BE49-F238E27FC236}">
                  <a16:creationId xmlns:a16="http://schemas.microsoft.com/office/drawing/2014/main" id="{1D59CE0A-2C67-EED8-DE50-57045BB62067}"/>
                </a:ext>
              </a:extLst>
            </p:cNvPr>
            <p:cNvCxnSpPr>
              <a:cxnSpLocks/>
              <a:stCxn id="12" idx="3"/>
              <a:endCxn id="10" idx="1"/>
            </p:cNvCxnSpPr>
            <p:nvPr/>
          </p:nvCxnSpPr>
          <p:spPr>
            <a:xfrm>
              <a:off x="4857808" y="3240274"/>
              <a:ext cx="56456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4864AF1-B1E4-04ED-38E5-29A45400CBEC}"/>
                </a:ext>
              </a:extLst>
            </p:cNvPr>
            <p:cNvCxnSpPr>
              <a:cxnSpLocks/>
              <a:stCxn id="10" idx="3"/>
              <a:endCxn id="16" idx="1"/>
            </p:cNvCxnSpPr>
            <p:nvPr/>
          </p:nvCxnSpPr>
          <p:spPr>
            <a:xfrm flipV="1">
              <a:off x="6769627" y="3240273"/>
              <a:ext cx="563344" cy="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5B621CB-42DC-E1DD-0FA7-1C7EBDAF3FDE}"/>
                </a:ext>
              </a:extLst>
            </p:cNvPr>
            <p:cNvSpPr txBox="1"/>
            <p:nvPr/>
          </p:nvSpPr>
          <p:spPr>
            <a:xfrm>
              <a:off x="7332971" y="3109066"/>
              <a:ext cx="1646676" cy="262413"/>
            </a:xfrm>
            <a:prstGeom prst="rect">
              <a:avLst/>
            </a:prstGeom>
            <a:noFill/>
          </p:spPr>
          <p:txBody>
            <a:bodyPr wrap="none" rtlCol="0">
              <a:spAutoFit/>
            </a:bodyPr>
            <a:lstStyle/>
            <a:p>
              <a:r>
                <a:rPr lang="en-US" sz="2400" dirty="0">
                  <a:solidFill>
                    <a:srgbClr val="003E74"/>
                  </a:solidFill>
                </a:rPr>
                <a:t>&lt;prediction&gt;</a:t>
              </a:r>
              <a:endParaRPr lang="en-GB" sz="2400" dirty="0">
                <a:solidFill>
                  <a:srgbClr val="003E74"/>
                </a:solidFill>
              </a:endParaRPr>
            </a:p>
          </p:txBody>
        </p:sp>
      </p:grpSp>
    </p:spTree>
    <p:extLst>
      <p:ext uri="{BB962C8B-B14F-4D97-AF65-F5344CB8AC3E}">
        <p14:creationId xmlns:p14="http://schemas.microsoft.com/office/powerpoint/2010/main" val="2287071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F7872-39BD-4154-3163-9034AF396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1D3E5-B734-7E44-8D71-2DF1074A6A3D}"/>
              </a:ext>
            </a:extLst>
          </p:cNvPr>
          <p:cNvSpPr>
            <a:spLocks noGrp="1"/>
          </p:cNvSpPr>
          <p:nvPr>
            <p:ph type="title"/>
          </p:nvPr>
        </p:nvSpPr>
        <p:spPr/>
        <p:txBody>
          <a:bodyPr/>
          <a:lstStyle/>
          <a:p>
            <a:r>
              <a:rPr lang="en-US" b="1" dirty="0">
                <a:solidFill>
                  <a:schemeClr val="tx2">
                    <a:lumMod val="75000"/>
                    <a:lumOff val="25000"/>
                  </a:schemeClr>
                </a:solidFill>
              </a:rPr>
              <a:t>How do we build solutions now?</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D1A55057-F76F-0669-7045-F91A4D6EBBBE}"/>
              </a:ext>
            </a:extLst>
          </p:cNvPr>
          <p:cNvSpPr>
            <a:spLocks noGrp="1"/>
          </p:cNvSpPr>
          <p:nvPr>
            <p:ph idx="1"/>
          </p:nvPr>
        </p:nvSpPr>
        <p:spPr/>
        <p:txBody>
          <a:bodyPr/>
          <a:lstStyle/>
          <a:p>
            <a:r>
              <a:rPr lang="en-US" dirty="0">
                <a:solidFill>
                  <a:schemeClr val="tx2">
                    <a:lumMod val="75000"/>
                    <a:lumOff val="25000"/>
                  </a:schemeClr>
                </a:solidFill>
              </a:rPr>
              <a:t>Focus on technology</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pic>
        <p:nvPicPr>
          <p:cNvPr id="6146" name="Picture 2">
            <a:extLst>
              <a:ext uri="{FF2B5EF4-FFF2-40B4-BE49-F238E27FC236}">
                <a16:creationId xmlns:a16="http://schemas.microsoft.com/office/drawing/2014/main" id="{BE39115A-3A07-7924-8D46-6AA07C0A8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5847" y="2735229"/>
            <a:ext cx="2627056" cy="317058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32321B46-F573-4CEB-6F1D-C2D424D33749}"/>
              </a:ext>
            </a:extLst>
          </p:cNvPr>
          <p:cNvSpPr txBox="1"/>
          <p:nvPr/>
        </p:nvSpPr>
        <p:spPr>
          <a:xfrm>
            <a:off x="5410640" y="2406503"/>
            <a:ext cx="6096000" cy="830997"/>
          </a:xfrm>
          <a:prstGeom prst="rect">
            <a:avLst/>
          </a:prstGeom>
          <a:noFill/>
        </p:spPr>
        <p:txBody>
          <a:bodyPr wrap="square">
            <a:spAutoFit/>
          </a:bodyPr>
          <a:lstStyle/>
          <a:p>
            <a:r>
              <a:rPr lang="en-US" sz="2400" dirty="0">
                <a:solidFill>
                  <a:srgbClr val="215F9A"/>
                </a:solidFill>
              </a:rPr>
              <a:t>For example, we have a learning model that generates predictions from inputs:</a:t>
            </a:r>
          </a:p>
        </p:txBody>
      </p:sp>
      <p:graphicFrame>
        <p:nvGraphicFramePr>
          <p:cNvPr id="19" name="Table 5">
            <a:extLst>
              <a:ext uri="{FF2B5EF4-FFF2-40B4-BE49-F238E27FC236}">
                <a16:creationId xmlns:a16="http://schemas.microsoft.com/office/drawing/2014/main" id="{597AFE95-C1A8-9D07-7AF7-52FE7572709A}"/>
              </a:ext>
            </a:extLst>
          </p:cNvPr>
          <p:cNvGraphicFramePr>
            <a:graphicFrameLocks noGrp="1"/>
          </p:cNvGraphicFramePr>
          <p:nvPr>
            <p:extLst>
              <p:ext uri="{D42A27DB-BD31-4B8C-83A1-F6EECF244321}">
                <p14:modId xmlns:p14="http://schemas.microsoft.com/office/powerpoint/2010/main" val="3229278385"/>
              </p:ext>
            </p:extLst>
          </p:nvPr>
        </p:nvGraphicFramePr>
        <p:xfrm>
          <a:off x="4427414" y="4798931"/>
          <a:ext cx="3030543" cy="1747520"/>
        </p:xfrm>
        <a:graphic>
          <a:graphicData uri="http://schemas.openxmlformats.org/drawingml/2006/table">
            <a:tbl>
              <a:tblPr firstRow="1" bandRow="1">
                <a:tableStyleId>{5C22544A-7EE6-4342-B048-85BDC9FD1C3A}</a:tableStyleId>
              </a:tblPr>
              <a:tblGrid>
                <a:gridCol w="1757709">
                  <a:extLst>
                    <a:ext uri="{9D8B030D-6E8A-4147-A177-3AD203B41FA5}">
                      <a16:colId xmlns:a16="http://schemas.microsoft.com/office/drawing/2014/main" val="643936482"/>
                    </a:ext>
                  </a:extLst>
                </a:gridCol>
                <a:gridCol w="1272834">
                  <a:extLst>
                    <a:ext uri="{9D8B030D-6E8A-4147-A177-3AD203B41FA5}">
                      <a16:colId xmlns:a16="http://schemas.microsoft.com/office/drawing/2014/main" val="1543968518"/>
                    </a:ext>
                  </a:extLst>
                </a:gridCol>
              </a:tblGrid>
              <a:tr h="370840">
                <a:tc>
                  <a:txBody>
                    <a:bodyPr/>
                    <a:lstStyle/>
                    <a:p>
                      <a:pPr algn="ctr"/>
                      <a:r>
                        <a:rPr lang="en-US" dirty="0"/>
                        <a:t>Learning Model</a:t>
                      </a:r>
                      <a:endParaRPr lang="en-GB" dirty="0"/>
                    </a:p>
                  </a:txBody>
                  <a:tcPr>
                    <a:solidFill>
                      <a:srgbClr val="003E74"/>
                    </a:solidFill>
                  </a:tcPr>
                </a:tc>
                <a:tc>
                  <a:txBody>
                    <a:bodyPr/>
                    <a:lstStyle/>
                    <a:p>
                      <a:pPr algn="ctr"/>
                      <a:r>
                        <a:rPr lang="en-US" dirty="0"/>
                        <a:t>Accuracy</a:t>
                      </a:r>
                      <a:endParaRPr lang="en-GB" dirty="0"/>
                    </a:p>
                  </a:txBody>
                  <a:tcPr>
                    <a:solidFill>
                      <a:srgbClr val="003E74"/>
                    </a:solidFill>
                  </a:tcPr>
                </a:tc>
                <a:extLst>
                  <a:ext uri="{0D108BD9-81ED-4DB2-BD59-A6C34878D82A}">
                    <a16:rowId xmlns:a16="http://schemas.microsoft.com/office/drawing/2014/main" val="89676683"/>
                  </a:ext>
                </a:extLst>
              </a:tr>
              <a:tr h="370840">
                <a:tc>
                  <a:txBody>
                    <a:bodyPr/>
                    <a:lstStyle/>
                    <a:p>
                      <a:r>
                        <a:rPr lang="en-US" b="1" dirty="0">
                          <a:solidFill>
                            <a:srgbClr val="003E74"/>
                          </a:solidFill>
                        </a:rPr>
                        <a:t>Model v1</a:t>
                      </a:r>
                      <a:endParaRPr lang="en-GB" b="1" dirty="0">
                        <a:solidFill>
                          <a:srgbClr val="003E74"/>
                        </a:solidFill>
                      </a:endParaRPr>
                    </a:p>
                  </a:txBody>
                  <a:tcPr/>
                </a:tc>
                <a:tc>
                  <a:txBody>
                    <a:bodyPr/>
                    <a:lstStyle/>
                    <a:p>
                      <a:r>
                        <a:rPr lang="en-US" b="1" dirty="0">
                          <a:solidFill>
                            <a:srgbClr val="C00000"/>
                          </a:solidFill>
                        </a:rPr>
                        <a:t>88%</a:t>
                      </a:r>
                      <a:endParaRPr lang="en-GB" b="1" dirty="0">
                        <a:solidFill>
                          <a:srgbClr val="C00000"/>
                        </a:solidFill>
                      </a:endParaRPr>
                    </a:p>
                  </a:txBody>
                  <a:tcPr/>
                </a:tc>
                <a:extLst>
                  <a:ext uri="{0D108BD9-81ED-4DB2-BD59-A6C34878D82A}">
                    <a16:rowId xmlns:a16="http://schemas.microsoft.com/office/drawing/2014/main" val="445002850"/>
                  </a:ext>
                </a:extLst>
              </a:tr>
              <a:tr h="370840">
                <a:tc>
                  <a:txBody>
                    <a:bodyPr/>
                    <a:lstStyle/>
                    <a:p>
                      <a:r>
                        <a:rPr lang="en-US" b="1" dirty="0">
                          <a:solidFill>
                            <a:srgbClr val="003E74"/>
                          </a:solidFill>
                        </a:rPr>
                        <a:t>Model v2</a:t>
                      </a:r>
                      <a:endParaRPr lang="en-GB" b="1" dirty="0">
                        <a:solidFill>
                          <a:srgbClr val="003E74"/>
                        </a:solidFill>
                      </a:endParaRPr>
                    </a:p>
                  </a:txBody>
                  <a:tcPr/>
                </a:tc>
                <a:tc>
                  <a:txBody>
                    <a:bodyPr/>
                    <a:lstStyle/>
                    <a:p>
                      <a:r>
                        <a:rPr lang="en-US" b="1" dirty="0">
                          <a:solidFill>
                            <a:srgbClr val="C00000"/>
                          </a:solidFill>
                        </a:rPr>
                        <a:t>90%</a:t>
                      </a:r>
                      <a:endParaRPr lang="en-GB" b="1" dirty="0">
                        <a:solidFill>
                          <a:srgbClr val="C00000"/>
                        </a:solidFill>
                      </a:endParaRPr>
                    </a:p>
                  </a:txBody>
                  <a:tcPr/>
                </a:tc>
                <a:extLst>
                  <a:ext uri="{0D108BD9-81ED-4DB2-BD59-A6C34878D82A}">
                    <a16:rowId xmlns:a16="http://schemas.microsoft.com/office/drawing/2014/main" val="746331468"/>
                  </a:ext>
                </a:extLst>
              </a:tr>
              <a:tr h="159174">
                <a:tc>
                  <a:txBody>
                    <a:bodyPr/>
                    <a:lstStyle/>
                    <a:p>
                      <a:r>
                        <a:rPr lang="en-US" b="1" dirty="0">
                          <a:solidFill>
                            <a:srgbClr val="003E74"/>
                          </a:solidFill>
                        </a:rPr>
                        <a:t>Model v3</a:t>
                      </a:r>
                      <a:endParaRPr lang="en-GB" b="1" dirty="0">
                        <a:solidFill>
                          <a:srgbClr val="003E74"/>
                        </a:solidFill>
                      </a:endParaRPr>
                    </a:p>
                  </a:txBody>
                  <a:tcPr/>
                </a:tc>
                <a:tc>
                  <a:txBody>
                    <a:bodyPr/>
                    <a:lstStyle/>
                    <a:p>
                      <a:r>
                        <a:rPr lang="en-US" b="1" dirty="0">
                          <a:solidFill>
                            <a:srgbClr val="00B050"/>
                          </a:solidFill>
                        </a:rPr>
                        <a:t>98%</a:t>
                      </a:r>
                      <a:endParaRPr lang="en-GB" b="1" dirty="0">
                        <a:solidFill>
                          <a:srgbClr val="00B050"/>
                        </a:solidFill>
                      </a:endParaRPr>
                    </a:p>
                  </a:txBody>
                  <a:tcPr/>
                </a:tc>
                <a:extLst>
                  <a:ext uri="{0D108BD9-81ED-4DB2-BD59-A6C34878D82A}">
                    <a16:rowId xmlns:a16="http://schemas.microsoft.com/office/drawing/2014/main" val="3908724428"/>
                  </a:ext>
                </a:extLst>
              </a:tr>
            </a:tbl>
          </a:graphicData>
        </a:graphic>
      </p:graphicFrame>
      <p:sp>
        <p:nvSpPr>
          <p:cNvPr id="4" name="TextBox 3">
            <a:extLst>
              <a:ext uri="{FF2B5EF4-FFF2-40B4-BE49-F238E27FC236}">
                <a16:creationId xmlns:a16="http://schemas.microsoft.com/office/drawing/2014/main" id="{8473828B-8595-4398-3F58-29F6D4199E87}"/>
              </a:ext>
            </a:extLst>
          </p:cNvPr>
          <p:cNvSpPr txBox="1"/>
          <p:nvPr/>
        </p:nvSpPr>
        <p:spPr>
          <a:xfrm>
            <a:off x="7693244" y="5257192"/>
            <a:ext cx="3907811" cy="830997"/>
          </a:xfrm>
          <a:prstGeom prst="rect">
            <a:avLst/>
          </a:prstGeom>
          <a:noFill/>
        </p:spPr>
        <p:txBody>
          <a:bodyPr wrap="square">
            <a:spAutoFit/>
          </a:bodyPr>
          <a:lstStyle/>
          <a:p>
            <a:r>
              <a:rPr lang="en-US" sz="2400" b="1" dirty="0">
                <a:solidFill>
                  <a:srgbClr val="C00000"/>
                </a:solidFill>
              </a:rPr>
              <a:t>Does Model v3 address end users’ requirements?</a:t>
            </a:r>
          </a:p>
        </p:txBody>
      </p:sp>
      <p:grpSp>
        <p:nvGrpSpPr>
          <p:cNvPr id="6" name="Group 5">
            <a:extLst>
              <a:ext uri="{FF2B5EF4-FFF2-40B4-BE49-F238E27FC236}">
                <a16:creationId xmlns:a16="http://schemas.microsoft.com/office/drawing/2014/main" id="{92D560AD-3D5A-58CE-3E5F-5B477559B29E}"/>
              </a:ext>
            </a:extLst>
          </p:cNvPr>
          <p:cNvGrpSpPr/>
          <p:nvPr/>
        </p:nvGrpSpPr>
        <p:grpSpPr>
          <a:xfrm>
            <a:off x="5126393" y="3448755"/>
            <a:ext cx="6031278" cy="1123243"/>
            <a:chOff x="3668648" y="2921046"/>
            <a:chExt cx="5310999" cy="638457"/>
          </a:xfrm>
        </p:grpSpPr>
        <p:sp>
          <p:nvSpPr>
            <p:cNvPr id="10" name="Rectangle 9">
              <a:extLst>
                <a:ext uri="{FF2B5EF4-FFF2-40B4-BE49-F238E27FC236}">
                  <a16:creationId xmlns:a16="http://schemas.microsoft.com/office/drawing/2014/main" id="{F843C072-BCFB-C695-6DA6-A15DEE12B402}"/>
                </a:ext>
              </a:extLst>
            </p:cNvPr>
            <p:cNvSpPr/>
            <p:nvPr/>
          </p:nvSpPr>
          <p:spPr>
            <a:xfrm>
              <a:off x="5422374" y="2921046"/>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Learning Model</a:t>
              </a:r>
              <a:endParaRPr lang="en-GB" sz="2400" b="1" dirty="0">
                <a:solidFill>
                  <a:schemeClr val="bg1"/>
                </a:solidFill>
              </a:endParaRPr>
            </a:p>
          </p:txBody>
        </p:sp>
        <p:sp>
          <p:nvSpPr>
            <p:cNvPr id="12" name="TextBox 11">
              <a:extLst>
                <a:ext uri="{FF2B5EF4-FFF2-40B4-BE49-F238E27FC236}">
                  <a16:creationId xmlns:a16="http://schemas.microsoft.com/office/drawing/2014/main" id="{4E1EB846-CBF5-8267-97F3-EF1073C00B13}"/>
                </a:ext>
              </a:extLst>
            </p:cNvPr>
            <p:cNvSpPr txBox="1"/>
            <p:nvPr/>
          </p:nvSpPr>
          <p:spPr>
            <a:xfrm>
              <a:off x="3668648" y="3109067"/>
              <a:ext cx="1189160" cy="262413"/>
            </a:xfrm>
            <a:prstGeom prst="rect">
              <a:avLst/>
            </a:prstGeom>
            <a:noFill/>
          </p:spPr>
          <p:txBody>
            <a:bodyPr wrap="none" rtlCol="0">
              <a:spAutoFit/>
            </a:bodyPr>
            <a:lstStyle/>
            <a:p>
              <a:r>
                <a:rPr lang="en-US" sz="2400" dirty="0">
                  <a:solidFill>
                    <a:srgbClr val="003E74"/>
                  </a:solidFill>
                </a:rPr>
                <a:t>&lt;inputs&gt;</a:t>
              </a:r>
              <a:endParaRPr lang="en-GB" sz="2400" dirty="0">
                <a:solidFill>
                  <a:srgbClr val="003E74"/>
                </a:solidFill>
              </a:endParaRPr>
            </a:p>
          </p:txBody>
        </p:sp>
        <p:cxnSp>
          <p:nvCxnSpPr>
            <p:cNvPr id="14" name="Straight Arrow Connector 13">
              <a:extLst>
                <a:ext uri="{FF2B5EF4-FFF2-40B4-BE49-F238E27FC236}">
                  <a16:creationId xmlns:a16="http://schemas.microsoft.com/office/drawing/2014/main" id="{67ECB068-FAC4-360A-6FC1-FE6BF3F63E65}"/>
                </a:ext>
              </a:extLst>
            </p:cNvPr>
            <p:cNvCxnSpPr>
              <a:cxnSpLocks/>
              <a:stCxn id="12" idx="3"/>
              <a:endCxn id="10" idx="1"/>
            </p:cNvCxnSpPr>
            <p:nvPr/>
          </p:nvCxnSpPr>
          <p:spPr>
            <a:xfrm>
              <a:off x="4857808" y="3240274"/>
              <a:ext cx="56456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06CECC-D4E6-AE50-5087-F8EB5947660C}"/>
                </a:ext>
              </a:extLst>
            </p:cNvPr>
            <p:cNvCxnSpPr>
              <a:cxnSpLocks/>
              <a:stCxn id="10" idx="3"/>
              <a:endCxn id="16" idx="1"/>
            </p:cNvCxnSpPr>
            <p:nvPr/>
          </p:nvCxnSpPr>
          <p:spPr>
            <a:xfrm flipV="1">
              <a:off x="6769627" y="3240273"/>
              <a:ext cx="563344" cy="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1670DE1-2C3C-7FA5-D82F-9F4BC0B32ED0}"/>
                </a:ext>
              </a:extLst>
            </p:cNvPr>
            <p:cNvSpPr txBox="1"/>
            <p:nvPr/>
          </p:nvSpPr>
          <p:spPr>
            <a:xfrm>
              <a:off x="7332971" y="3109066"/>
              <a:ext cx="1646676" cy="262413"/>
            </a:xfrm>
            <a:prstGeom prst="rect">
              <a:avLst/>
            </a:prstGeom>
            <a:noFill/>
          </p:spPr>
          <p:txBody>
            <a:bodyPr wrap="none" rtlCol="0">
              <a:spAutoFit/>
            </a:bodyPr>
            <a:lstStyle/>
            <a:p>
              <a:r>
                <a:rPr lang="en-US" sz="2400" dirty="0">
                  <a:solidFill>
                    <a:srgbClr val="003E74"/>
                  </a:solidFill>
                </a:rPr>
                <a:t>&lt;prediction&gt;</a:t>
              </a:r>
              <a:endParaRPr lang="en-GB" sz="2400" dirty="0">
                <a:solidFill>
                  <a:srgbClr val="003E74"/>
                </a:solidFill>
              </a:endParaRPr>
            </a:p>
          </p:txBody>
        </p:sp>
      </p:grpSp>
    </p:spTree>
    <p:extLst>
      <p:ext uri="{BB962C8B-B14F-4D97-AF65-F5344CB8AC3E}">
        <p14:creationId xmlns:p14="http://schemas.microsoft.com/office/powerpoint/2010/main" val="1227097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2A104-D2A7-DECB-9B6D-4420BEE8D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F334D-8CFE-42B4-585A-E0B7A354A006}"/>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7C1EF52E-3FCA-83CD-7192-B056FCA36321}"/>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grpSp>
        <p:nvGrpSpPr>
          <p:cNvPr id="4" name="Group 3">
            <a:extLst>
              <a:ext uri="{FF2B5EF4-FFF2-40B4-BE49-F238E27FC236}">
                <a16:creationId xmlns:a16="http://schemas.microsoft.com/office/drawing/2014/main" id="{84002280-22F6-8D9C-DF7F-503FB8628CEE}"/>
              </a:ext>
            </a:extLst>
          </p:cNvPr>
          <p:cNvGrpSpPr/>
          <p:nvPr/>
        </p:nvGrpSpPr>
        <p:grpSpPr>
          <a:xfrm>
            <a:off x="3080361" y="3208122"/>
            <a:ext cx="6031278" cy="1123243"/>
            <a:chOff x="3668648" y="2921046"/>
            <a:chExt cx="5310999" cy="638457"/>
          </a:xfrm>
        </p:grpSpPr>
        <p:sp>
          <p:nvSpPr>
            <p:cNvPr id="5" name="Rectangle 4">
              <a:extLst>
                <a:ext uri="{FF2B5EF4-FFF2-40B4-BE49-F238E27FC236}">
                  <a16:creationId xmlns:a16="http://schemas.microsoft.com/office/drawing/2014/main" id="{9D83AE47-03DD-2C9A-20C9-75D247A96C47}"/>
                </a:ext>
              </a:extLst>
            </p:cNvPr>
            <p:cNvSpPr/>
            <p:nvPr/>
          </p:nvSpPr>
          <p:spPr>
            <a:xfrm>
              <a:off x="5422374" y="2921046"/>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Learning Model</a:t>
              </a:r>
              <a:endParaRPr lang="en-GB" sz="2400" b="1" dirty="0">
                <a:solidFill>
                  <a:schemeClr val="bg1"/>
                </a:solidFill>
              </a:endParaRPr>
            </a:p>
          </p:txBody>
        </p:sp>
        <p:sp>
          <p:nvSpPr>
            <p:cNvPr id="7" name="TextBox 6">
              <a:extLst>
                <a:ext uri="{FF2B5EF4-FFF2-40B4-BE49-F238E27FC236}">
                  <a16:creationId xmlns:a16="http://schemas.microsoft.com/office/drawing/2014/main" id="{DCC6C8CC-B276-E9E6-7464-A01B78E2133D}"/>
                </a:ext>
              </a:extLst>
            </p:cNvPr>
            <p:cNvSpPr txBox="1"/>
            <p:nvPr/>
          </p:nvSpPr>
          <p:spPr>
            <a:xfrm>
              <a:off x="3668648" y="3109067"/>
              <a:ext cx="1189160" cy="262413"/>
            </a:xfrm>
            <a:prstGeom prst="rect">
              <a:avLst/>
            </a:prstGeom>
            <a:noFill/>
          </p:spPr>
          <p:txBody>
            <a:bodyPr wrap="none" rtlCol="0">
              <a:spAutoFit/>
            </a:bodyPr>
            <a:lstStyle/>
            <a:p>
              <a:r>
                <a:rPr lang="en-US" sz="2400" dirty="0">
                  <a:solidFill>
                    <a:srgbClr val="003E74"/>
                  </a:solidFill>
                </a:rPr>
                <a:t>&lt;inputs&gt;</a:t>
              </a:r>
              <a:endParaRPr lang="en-GB" sz="2400" dirty="0">
                <a:solidFill>
                  <a:srgbClr val="003E74"/>
                </a:solidFill>
              </a:endParaRPr>
            </a:p>
          </p:txBody>
        </p:sp>
        <p:cxnSp>
          <p:nvCxnSpPr>
            <p:cNvPr id="8" name="Straight Arrow Connector 7">
              <a:extLst>
                <a:ext uri="{FF2B5EF4-FFF2-40B4-BE49-F238E27FC236}">
                  <a16:creationId xmlns:a16="http://schemas.microsoft.com/office/drawing/2014/main" id="{486AA313-57E6-3EC8-AF9D-46880E251917}"/>
                </a:ext>
              </a:extLst>
            </p:cNvPr>
            <p:cNvCxnSpPr>
              <a:cxnSpLocks/>
              <a:stCxn id="7" idx="3"/>
              <a:endCxn id="5" idx="1"/>
            </p:cNvCxnSpPr>
            <p:nvPr/>
          </p:nvCxnSpPr>
          <p:spPr>
            <a:xfrm>
              <a:off x="4857808" y="3240274"/>
              <a:ext cx="56456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825E50-62AE-FB8C-744F-4112400C41A8}"/>
                </a:ext>
              </a:extLst>
            </p:cNvPr>
            <p:cNvCxnSpPr>
              <a:cxnSpLocks/>
              <a:stCxn id="5" idx="3"/>
              <a:endCxn id="11" idx="1"/>
            </p:cNvCxnSpPr>
            <p:nvPr/>
          </p:nvCxnSpPr>
          <p:spPr>
            <a:xfrm flipV="1">
              <a:off x="6769627" y="3240273"/>
              <a:ext cx="563344" cy="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FEEE6BC-103C-DCF6-45C1-EE1DEF97DF4B}"/>
                </a:ext>
              </a:extLst>
            </p:cNvPr>
            <p:cNvSpPr txBox="1"/>
            <p:nvPr/>
          </p:nvSpPr>
          <p:spPr>
            <a:xfrm>
              <a:off x="7332971" y="3109066"/>
              <a:ext cx="1646676" cy="262413"/>
            </a:xfrm>
            <a:prstGeom prst="rect">
              <a:avLst/>
            </a:prstGeom>
            <a:noFill/>
          </p:spPr>
          <p:txBody>
            <a:bodyPr wrap="none" rtlCol="0">
              <a:spAutoFit/>
            </a:bodyPr>
            <a:lstStyle/>
            <a:p>
              <a:r>
                <a:rPr lang="en-US" sz="2400" dirty="0">
                  <a:solidFill>
                    <a:srgbClr val="003E74"/>
                  </a:solidFill>
                </a:rPr>
                <a:t>&lt;prediction&gt;</a:t>
              </a:r>
              <a:endParaRPr lang="en-GB" sz="2400" dirty="0">
                <a:solidFill>
                  <a:srgbClr val="003E74"/>
                </a:solidFill>
              </a:endParaRPr>
            </a:p>
          </p:txBody>
        </p:sp>
      </p:grpSp>
    </p:spTree>
    <p:extLst>
      <p:ext uri="{BB962C8B-B14F-4D97-AF65-F5344CB8AC3E}">
        <p14:creationId xmlns:p14="http://schemas.microsoft.com/office/powerpoint/2010/main" val="1678553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F7EF7-7B8F-F91D-F4CA-908F51B39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2F5DC-C7E8-E7CD-DD78-94ADDFC4ED3A}"/>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77F0C06A-29F5-9DB0-1782-3191F10E7426}"/>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
        <p:nvSpPr>
          <p:cNvPr id="24" name="Content Placeholder 2">
            <a:extLst>
              <a:ext uri="{FF2B5EF4-FFF2-40B4-BE49-F238E27FC236}">
                <a16:creationId xmlns:a16="http://schemas.microsoft.com/office/drawing/2014/main" id="{F1651B03-5B3E-F7FB-E668-6B9A5CC974EC}"/>
              </a:ext>
            </a:extLst>
          </p:cNvPr>
          <p:cNvSpPr txBox="1">
            <a:spLocks/>
          </p:cNvSpPr>
          <p:nvPr/>
        </p:nvSpPr>
        <p:spPr>
          <a:xfrm>
            <a:off x="363894" y="2799527"/>
            <a:ext cx="11313757" cy="4067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000"/>
          </a:p>
          <a:p>
            <a:pPr marL="342900" indent="-342900"/>
            <a:endParaRPr lang="en-US" sz="3000"/>
          </a:p>
          <a:p>
            <a:pPr marL="342900" indent="-342900"/>
            <a:endParaRPr lang="en-US" sz="3000"/>
          </a:p>
          <a:p>
            <a:endParaRPr lang="en-US" sz="3000"/>
          </a:p>
          <a:p>
            <a:endParaRPr lang="en-GB" sz="3000" dirty="0"/>
          </a:p>
        </p:txBody>
      </p:sp>
      <p:grpSp>
        <p:nvGrpSpPr>
          <p:cNvPr id="25" name="Group 24">
            <a:extLst>
              <a:ext uri="{FF2B5EF4-FFF2-40B4-BE49-F238E27FC236}">
                <a16:creationId xmlns:a16="http://schemas.microsoft.com/office/drawing/2014/main" id="{E4CF0899-8F17-E34E-463A-E97BA631CD8B}"/>
              </a:ext>
            </a:extLst>
          </p:cNvPr>
          <p:cNvGrpSpPr/>
          <p:nvPr/>
        </p:nvGrpSpPr>
        <p:grpSpPr>
          <a:xfrm>
            <a:off x="70008" y="2916960"/>
            <a:ext cx="9334831" cy="3202263"/>
            <a:chOff x="416295" y="1825584"/>
            <a:chExt cx="9334831" cy="3202263"/>
          </a:xfrm>
        </p:grpSpPr>
        <p:sp>
          <p:nvSpPr>
            <p:cNvPr id="26" name="Rectangle 25">
              <a:extLst>
                <a:ext uri="{FF2B5EF4-FFF2-40B4-BE49-F238E27FC236}">
                  <a16:creationId xmlns:a16="http://schemas.microsoft.com/office/drawing/2014/main" id="{E2836E3B-048D-FAF2-3B85-7E81ACFB49FE}"/>
                </a:ext>
              </a:extLst>
            </p:cNvPr>
            <p:cNvSpPr/>
            <p:nvPr/>
          </p:nvSpPr>
          <p:spPr>
            <a:xfrm>
              <a:off x="4488390" y="2208390"/>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Learning Model</a:t>
              </a:r>
              <a:endParaRPr lang="en-GB" b="1" dirty="0">
                <a:solidFill>
                  <a:schemeClr val="bg1"/>
                </a:solidFill>
              </a:endParaRPr>
            </a:p>
          </p:txBody>
        </p:sp>
        <p:sp>
          <p:nvSpPr>
            <p:cNvPr id="27" name="Rectangle 26">
              <a:extLst>
                <a:ext uri="{FF2B5EF4-FFF2-40B4-BE49-F238E27FC236}">
                  <a16:creationId xmlns:a16="http://schemas.microsoft.com/office/drawing/2014/main" id="{38E64BF5-75A9-75F3-CF0F-1E4CCC3303CA}"/>
                </a:ext>
              </a:extLst>
            </p:cNvPr>
            <p:cNvSpPr/>
            <p:nvPr/>
          </p:nvSpPr>
          <p:spPr>
            <a:xfrm>
              <a:off x="1853041" y="2208391"/>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1</a:t>
              </a:r>
              <a:endParaRPr lang="en-GB" b="1" dirty="0">
                <a:solidFill>
                  <a:srgbClr val="003E74"/>
                </a:solidFill>
              </a:endParaRPr>
            </a:p>
          </p:txBody>
        </p:sp>
        <p:sp>
          <p:nvSpPr>
            <p:cNvPr id="28" name="Rectangle 27">
              <a:extLst>
                <a:ext uri="{FF2B5EF4-FFF2-40B4-BE49-F238E27FC236}">
                  <a16:creationId xmlns:a16="http://schemas.microsoft.com/office/drawing/2014/main" id="{03F4DCDB-381F-CD49-1D33-AC1A8650A36F}"/>
                </a:ext>
              </a:extLst>
            </p:cNvPr>
            <p:cNvSpPr/>
            <p:nvPr/>
          </p:nvSpPr>
          <p:spPr>
            <a:xfrm>
              <a:off x="1853041" y="4011153"/>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2</a:t>
              </a:r>
              <a:endParaRPr lang="en-GB" b="1" dirty="0">
                <a:solidFill>
                  <a:srgbClr val="003E74"/>
                </a:solidFill>
              </a:endParaRPr>
            </a:p>
          </p:txBody>
        </p:sp>
        <p:sp>
          <p:nvSpPr>
            <p:cNvPr id="29" name="Rectangle 28">
              <a:extLst>
                <a:ext uri="{FF2B5EF4-FFF2-40B4-BE49-F238E27FC236}">
                  <a16:creationId xmlns:a16="http://schemas.microsoft.com/office/drawing/2014/main" id="{F319A93D-89BF-104C-E9BF-28192800C4AC}"/>
                </a:ext>
              </a:extLst>
            </p:cNvPr>
            <p:cNvSpPr/>
            <p:nvPr/>
          </p:nvSpPr>
          <p:spPr>
            <a:xfrm>
              <a:off x="4468653" y="4011154"/>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3</a:t>
              </a:r>
              <a:endParaRPr lang="en-GB" b="1" dirty="0">
                <a:solidFill>
                  <a:srgbClr val="003E74"/>
                </a:solidFill>
              </a:endParaRPr>
            </a:p>
          </p:txBody>
        </p:sp>
        <p:sp>
          <p:nvSpPr>
            <p:cNvPr id="30" name="Rectangle 29">
              <a:extLst>
                <a:ext uri="{FF2B5EF4-FFF2-40B4-BE49-F238E27FC236}">
                  <a16:creationId xmlns:a16="http://schemas.microsoft.com/office/drawing/2014/main" id="{20035333-145A-1340-4EBC-888561665B06}"/>
                </a:ext>
              </a:extLst>
            </p:cNvPr>
            <p:cNvSpPr/>
            <p:nvPr/>
          </p:nvSpPr>
          <p:spPr>
            <a:xfrm>
              <a:off x="6879958" y="3113708"/>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4</a:t>
              </a:r>
              <a:endParaRPr lang="en-GB" b="1" dirty="0">
                <a:solidFill>
                  <a:srgbClr val="003E74"/>
                </a:solidFill>
              </a:endParaRPr>
            </a:p>
          </p:txBody>
        </p:sp>
        <p:sp>
          <p:nvSpPr>
            <p:cNvPr id="36" name="Rectangle 35">
              <a:extLst>
                <a:ext uri="{FF2B5EF4-FFF2-40B4-BE49-F238E27FC236}">
                  <a16:creationId xmlns:a16="http://schemas.microsoft.com/office/drawing/2014/main" id="{5786392E-4047-152C-B3DA-FF9DA11CCA4D}"/>
                </a:ext>
              </a:extLst>
            </p:cNvPr>
            <p:cNvSpPr/>
            <p:nvPr/>
          </p:nvSpPr>
          <p:spPr>
            <a:xfrm>
              <a:off x="1402954" y="1830153"/>
              <a:ext cx="7254087"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7" name="Straight Arrow Connector 36">
              <a:extLst>
                <a:ext uri="{FF2B5EF4-FFF2-40B4-BE49-F238E27FC236}">
                  <a16:creationId xmlns:a16="http://schemas.microsoft.com/office/drawing/2014/main" id="{94CE9983-FC63-0AFE-E4AE-9816B84808EF}"/>
                </a:ext>
              </a:extLst>
            </p:cNvPr>
            <p:cNvCxnSpPr>
              <a:cxnSpLocks/>
              <a:endCxn id="36" idx="1"/>
            </p:cNvCxnSpPr>
            <p:nvPr/>
          </p:nvCxnSpPr>
          <p:spPr>
            <a:xfrm>
              <a:off x="434448" y="3429000"/>
              <a:ext cx="968506"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8F6C969-3B2E-323E-81EA-9CE26A740653}"/>
                </a:ext>
              </a:extLst>
            </p:cNvPr>
            <p:cNvCxnSpPr>
              <a:cxnSpLocks/>
              <a:stCxn id="36" idx="3"/>
            </p:cNvCxnSpPr>
            <p:nvPr/>
          </p:nvCxnSpPr>
          <p:spPr>
            <a:xfrm>
              <a:off x="8657041" y="3429000"/>
              <a:ext cx="898168"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A218D0F-48A0-E95A-2CC3-673AF750B379}"/>
                </a:ext>
              </a:extLst>
            </p:cNvPr>
            <p:cNvSpPr txBox="1"/>
            <p:nvPr/>
          </p:nvSpPr>
          <p:spPr>
            <a:xfrm>
              <a:off x="7750681" y="1825584"/>
              <a:ext cx="867032" cy="369332"/>
            </a:xfrm>
            <a:prstGeom prst="rect">
              <a:avLst/>
            </a:prstGeom>
            <a:noFill/>
          </p:spPr>
          <p:txBody>
            <a:bodyPr wrap="none" rtlCol="0">
              <a:spAutoFit/>
            </a:bodyPr>
            <a:lstStyle/>
            <a:p>
              <a:r>
                <a:rPr lang="en-US" b="1" dirty="0">
                  <a:solidFill>
                    <a:srgbClr val="003E74"/>
                  </a:solidFill>
                </a:rPr>
                <a:t>System</a:t>
              </a:r>
              <a:endParaRPr lang="en-GB" b="1" dirty="0">
                <a:solidFill>
                  <a:srgbClr val="003E74"/>
                </a:solidFill>
              </a:endParaRPr>
            </a:p>
          </p:txBody>
        </p:sp>
        <p:sp>
          <p:nvSpPr>
            <p:cNvPr id="43" name="TextBox 42">
              <a:extLst>
                <a:ext uri="{FF2B5EF4-FFF2-40B4-BE49-F238E27FC236}">
                  <a16:creationId xmlns:a16="http://schemas.microsoft.com/office/drawing/2014/main" id="{4EE29BFE-13F7-1305-6D73-9B68C6D66B1B}"/>
                </a:ext>
              </a:extLst>
            </p:cNvPr>
            <p:cNvSpPr txBox="1"/>
            <p:nvPr/>
          </p:nvSpPr>
          <p:spPr>
            <a:xfrm>
              <a:off x="416295" y="3105834"/>
              <a:ext cx="1054776" cy="646331"/>
            </a:xfrm>
            <a:prstGeom prst="rect">
              <a:avLst/>
            </a:prstGeom>
            <a:noFill/>
          </p:spPr>
          <p:txBody>
            <a:bodyPr wrap="none" rtlCol="0">
              <a:spAutoFit/>
            </a:bodyPr>
            <a:lstStyle/>
            <a:p>
              <a:r>
                <a:rPr lang="en-US" b="1" dirty="0">
                  <a:solidFill>
                    <a:schemeClr val="accent2">
                      <a:lumMod val="50000"/>
                    </a:schemeClr>
                  </a:solidFill>
                </a:rPr>
                <a:t>User’s </a:t>
              </a:r>
            </a:p>
            <a:p>
              <a:r>
                <a:rPr lang="en-US" b="1" dirty="0">
                  <a:solidFill>
                    <a:schemeClr val="accent2">
                      <a:lumMod val="50000"/>
                    </a:schemeClr>
                  </a:solidFill>
                </a:rPr>
                <a:t>Request</a:t>
              </a:r>
              <a:endParaRPr lang="en-GB" b="1" dirty="0">
                <a:solidFill>
                  <a:schemeClr val="accent2">
                    <a:lumMod val="50000"/>
                  </a:schemeClr>
                </a:solidFill>
              </a:endParaRPr>
            </a:p>
          </p:txBody>
        </p:sp>
        <p:sp>
          <p:nvSpPr>
            <p:cNvPr id="44" name="TextBox 43">
              <a:extLst>
                <a:ext uri="{FF2B5EF4-FFF2-40B4-BE49-F238E27FC236}">
                  <a16:creationId xmlns:a16="http://schemas.microsoft.com/office/drawing/2014/main" id="{F43FC03E-2789-B0F5-7EE7-F55B5D81F8B7}"/>
                </a:ext>
              </a:extLst>
            </p:cNvPr>
            <p:cNvSpPr txBox="1"/>
            <p:nvPr/>
          </p:nvSpPr>
          <p:spPr>
            <a:xfrm>
              <a:off x="8615366" y="3105833"/>
              <a:ext cx="1135760" cy="646331"/>
            </a:xfrm>
            <a:prstGeom prst="rect">
              <a:avLst/>
            </a:prstGeom>
            <a:noFill/>
          </p:spPr>
          <p:txBody>
            <a:bodyPr wrap="none" rtlCol="0">
              <a:spAutoFit/>
            </a:bodyPr>
            <a:lstStyle/>
            <a:p>
              <a:r>
                <a:rPr lang="en-US" b="1" dirty="0">
                  <a:solidFill>
                    <a:schemeClr val="accent2">
                      <a:lumMod val="50000"/>
                    </a:schemeClr>
                  </a:solidFill>
                </a:rPr>
                <a:t>System’s</a:t>
              </a:r>
            </a:p>
            <a:p>
              <a:r>
                <a:rPr lang="en-US" b="1" dirty="0">
                  <a:solidFill>
                    <a:schemeClr val="accent2">
                      <a:lumMod val="50000"/>
                    </a:schemeClr>
                  </a:solidFill>
                </a:rPr>
                <a:t>Outputs</a:t>
              </a:r>
              <a:endParaRPr lang="en-GB" b="1" dirty="0">
                <a:solidFill>
                  <a:schemeClr val="accent2">
                    <a:lumMod val="50000"/>
                  </a:schemeClr>
                </a:solidFill>
              </a:endParaRPr>
            </a:p>
          </p:txBody>
        </p:sp>
      </p:grpSp>
      <p:sp>
        <p:nvSpPr>
          <p:cNvPr id="4" name="Content Placeholder 2">
            <a:extLst>
              <a:ext uri="{FF2B5EF4-FFF2-40B4-BE49-F238E27FC236}">
                <a16:creationId xmlns:a16="http://schemas.microsoft.com/office/drawing/2014/main" id="{AB6FB1D8-34A8-8167-4EED-25BAE9765C70}"/>
              </a:ext>
            </a:extLst>
          </p:cNvPr>
          <p:cNvSpPr txBox="1">
            <a:spLocks/>
          </p:cNvSpPr>
          <p:nvPr/>
        </p:nvSpPr>
        <p:spPr bwMode="auto">
          <a:xfrm>
            <a:off x="9405734" y="2791587"/>
            <a:ext cx="2786266"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215F9A"/>
                </a:solidFill>
              </a:rPr>
              <a:t>Learning models are deployed as part of larger systems.</a:t>
            </a:r>
          </a:p>
          <a:p>
            <a:pPr marL="342900" indent="-342900">
              <a:buFontTx/>
              <a:buChar char="-"/>
            </a:pPr>
            <a:endParaRPr lang="en-US" dirty="0">
              <a:solidFill>
                <a:srgbClr val="215F9A"/>
              </a:solidFill>
            </a:endParaRPr>
          </a:p>
          <a:p>
            <a:r>
              <a:rPr lang="en-US" dirty="0">
                <a:solidFill>
                  <a:srgbClr val="215F9A"/>
                </a:solidFill>
              </a:rPr>
              <a:t>Systems address end users’ requirements.</a:t>
            </a:r>
          </a:p>
          <a:p>
            <a:endParaRPr lang="en-US" dirty="0">
              <a:solidFill>
                <a:srgbClr val="215F9A"/>
              </a:solidFill>
            </a:endParaRPr>
          </a:p>
          <a:p>
            <a:r>
              <a:rPr lang="en-US" dirty="0">
                <a:solidFill>
                  <a:srgbClr val="215F9A"/>
                </a:solidFill>
              </a:rPr>
              <a:t>Users' requirements must drive the design of the systems.</a:t>
            </a:r>
          </a:p>
          <a:p>
            <a:pPr marL="342900" indent="-342900">
              <a:buFontTx/>
              <a:buChar char="-"/>
            </a:pPr>
            <a:endParaRPr lang="en-US" dirty="0">
              <a:solidFill>
                <a:srgbClr val="215F9A"/>
              </a:solidFill>
            </a:endParaRPr>
          </a:p>
          <a:p>
            <a:pPr marL="342900" indent="-342900">
              <a:buFontTx/>
              <a:buChar char="-"/>
            </a:pPr>
            <a:endParaRPr lang="en-GB" dirty="0">
              <a:solidFill>
                <a:srgbClr val="215F9A"/>
              </a:solidFill>
            </a:endParaRPr>
          </a:p>
        </p:txBody>
      </p:sp>
    </p:spTree>
    <p:extLst>
      <p:ext uri="{BB962C8B-B14F-4D97-AF65-F5344CB8AC3E}">
        <p14:creationId xmlns:p14="http://schemas.microsoft.com/office/powerpoint/2010/main" val="773066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8F56A-F752-BC99-76A8-166701C4B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56E78-E271-7A61-AD4C-54E9156D4FA2}"/>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14D373F4-2596-65D6-FFC7-CBE760599542}"/>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
        <p:nvSpPr>
          <p:cNvPr id="24" name="Content Placeholder 2">
            <a:extLst>
              <a:ext uri="{FF2B5EF4-FFF2-40B4-BE49-F238E27FC236}">
                <a16:creationId xmlns:a16="http://schemas.microsoft.com/office/drawing/2014/main" id="{22FEC322-3EB0-3980-2C2D-DDE3DC15876E}"/>
              </a:ext>
            </a:extLst>
          </p:cNvPr>
          <p:cNvSpPr txBox="1">
            <a:spLocks/>
          </p:cNvSpPr>
          <p:nvPr/>
        </p:nvSpPr>
        <p:spPr>
          <a:xfrm>
            <a:off x="363894" y="2799527"/>
            <a:ext cx="11313757" cy="4067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000"/>
          </a:p>
          <a:p>
            <a:pPr marL="342900" indent="-342900"/>
            <a:endParaRPr lang="en-US" sz="3000"/>
          </a:p>
          <a:p>
            <a:pPr marL="342900" indent="-342900"/>
            <a:endParaRPr lang="en-US" sz="3000"/>
          </a:p>
          <a:p>
            <a:endParaRPr lang="en-US" sz="3000"/>
          </a:p>
          <a:p>
            <a:endParaRPr lang="en-GB" sz="3000" dirty="0"/>
          </a:p>
        </p:txBody>
      </p:sp>
      <p:grpSp>
        <p:nvGrpSpPr>
          <p:cNvPr id="25" name="Group 24">
            <a:extLst>
              <a:ext uri="{FF2B5EF4-FFF2-40B4-BE49-F238E27FC236}">
                <a16:creationId xmlns:a16="http://schemas.microsoft.com/office/drawing/2014/main" id="{E23E12F7-C2F1-3B0B-312A-E4E3769AFF08}"/>
              </a:ext>
            </a:extLst>
          </p:cNvPr>
          <p:cNvGrpSpPr/>
          <p:nvPr/>
        </p:nvGrpSpPr>
        <p:grpSpPr>
          <a:xfrm>
            <a:off x="70008" y="2916960"/>
            <a:ext cx="9334831" cy="3202263"/>
            <a:chOff x="416295" y="1825584"/>
            <a:chExt cx="9334831" cy="3202263"/>
          </a:xfrm>
        </p:grpSpPr>
        <p:sp>
          <p:nvSpPr>
            <p:cNvPr id="26" name="Rectangle 25">
              <a:extLst>
                <a:ext uri="{FF2B5EF4-FFF2-40B4-BE49-F238E27FC236}">
                  <a16:creationId xmlns:a16="http://schemas.microsoft.com/office/drawing/2014/main" id="{5D4FB942-FACC-4197-113F-66B1F75CA674}"/>
                </a:ext>
              </a:extLst>
            </p:cNvPr>
            <p:cNvSpPr/>
            <p:nvPr/>
          </p:nvSpPr>
          <p:spPr>
            <a:xfrm>
              <a:off x="4488390" y="2208390"/>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Learning Model</a:t>
              </a:r>
              <a:endParaRPr lang="en-GB" b="1" dirty="0">
                <a:solidFill>
                  <a:schemeClr val="bg1"/>
                </a:solidFill>
              </a:endParaRPr>
            </a:p>
          </p:txBody>
        </p:sp>
        <p:sp>
          <p:nvSpPr>
            <p:cNvPr id="27" name="Rectangle 26">
              <a:extLst>
                <a:ext uri="{FF2B5EF4-FFF2-40B4-BE49-F238E27FC236}">
                  <a16:creationId xmlns:a16="http://schemas.microsoft.com/office/drawing/2014/main" id="{EAB7EE83-EC54-AB64-6745-77C34A27CBF5}"/>
                </a:ext>
              </a:extLst>
            </p:cNvPr>
            <p:cNvSpPr/>
            <p:nvPr/>
          </p:nvSpPr>
          <p:spPr>
            <a:xfrm>
              <a:off x="1853041" y="2208391"/>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1</a:t>
              </a:r>
              <a:endParaRPr lang="en-GB" b="1" dirty="0">
                <a:solidFill>
                  <a:srgbClr val="003E74"/>
                </a:solidFill>
              </a:endParaRPr>
            </a:p>
          </p:txBody>
        </p:sp>
        <p:sp>
          <p:nvSpPr>
            <p:cNvPr id="28" name="Rectangle 27">
              <a:extLst>
                <a:ext uri="{FF2B5EF4-FFF2-40B4-BE49-F238E27FC236}">
                  <a16:creationId xmlns:a16="http://schemas.microsoft.com/office/drawing/2014/main" id="{913266C1-51D2-0D19-C7AA-607CFFFCAF48}"/>
                </a:ext>
              </a:extLst>
            </p:cNvPr>
            <p:cNvSpPr/>
            <p:nvPr/>
          </p:nvSpPr>
          <p:spPr>
            <a:xfrm>
              <a:off x="1853041" y="4011153"/>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2</a:t>
              </a:r>
              <a:endParaRPr lang="en-GB" b="1" dirty="0">
                <a:solidFill>
                  <a:srgbClr val="003E74"/>
                </a:solidFill>
              </a:endParaRPr>
            </a:p>
          </p:txBody>
        </p:sp>
        <p:sp>
          <p:nvSpPr>
            <p:cNvPr id="29" name="Rectangle 28">
              <a:extLst>
                <a:ext uri="{FF2B5EF4-FFF2-40B4-BE49-F238E27FC236}">
                  <a16:creationId xmlns:a16="http://schemas.microsoft.com/office/drawing/2014/main" id="{3C5E2B2D-24C5-2C88-F79B-857777B6F4BA}"/>
                </a:ext>
              </a:extLst>
            </p:cNvPr>
            <p:cNvSpPr/>
            <p:nvPr/>
          </p:nvSpPr>
          <p:spPr>
            <a:xfrm>
              <a:off x="4468653" y="4011154"/>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3</a:t>
              </a:r>
              <a:endParaRPr lang="en-GB" b="1" dirty="0">
                <a:solidFill>
                  <a:srgbClr val="003E74"/>
                </a:solidFill>
              </a:endParaRPr>
            </a:p>
          </p:txBody>
        </p:sp>
        <p:sp>
          <p:nvSpPr>
            <p:cNvPr id="30" name="Rectangle 29">
              <a:extLst>
                <a:ext uri="{FF2B5EF4-FFF2-40B4-BE49-F238E27FC236}">
                  <a16:creationId xmlns:a16="http://schemas.microsoft.com/office/drawing/2014/main" id="{465267D2-DC47-2E54-A60A-C8E3643B6C96}"/>
                </a:ext>
              </a:extLst>
            </p:cNvPr>
            <p:cNvSpPr/>
            <p:nvPr/>
          </p:nvSpPr>
          <p:spPr>
            <a:xfrm>
              <a:off x="6879958" y="3113708"/>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4</a:t>
              </a:r>
              <a:endParaRPr lang="en-GB" b="1" dirty="0">
                <a:solidFill>
                  <a:srgbClr val="003E74"/>
                </a:solidFill>
              </a:endParaRPr>
            </a:p>
          </p:txBody>
        </p:sp>
        <p:cxnSp>
          <p:nvCxnSpPr>
            <p:cNvPr id="31" name="Straight Arrow Connector 30">
              <a:extLst>
                <a:ext uri="{FF2B5EF4-FFF2-40B4-BE49-F238E27FC236}">
                  <a16:creationId xmlns:a16="http://schemas.microsoft.com/office/drawing/2014/main" id="{497F0AE9-6340-5721-86CE-0A4FF9C641E8}"/>
                </a:ext>
              </a:extLst>
            </p:cNvPr>
            <p:cNvCxnSpPr>
              <a:cxnSpLocks/>
              <a:stCxn id="27" idx="3"/>
              <a:endCxn id="26" idx="1"/>
            </p:cNvCxnSpPr>
            <p:nvPr/>
          </p:nvCxnSpPr>
          <p:spPr>
            <a:xfrm flipV="1">
              <a:off x="3438634" y="2527619"/>
              <a:ext cx="104975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1212456-1FF1-0B21-5B9B-94F6BAC1C81B}"/>
                </a:ext>
              </a:extLst>
            </p:cNvPr>
            <p:cNvCxnSpPr>
              <a:cxnSpLocks/>
              <a:stCxn id="28" idx="3"/>
              <a:endCxn id="26" idx="1"/>
            </p:cNvCxnSpPr>
            <p:nvPr/>
          </p:nvCxnSpPr>
          <p:spPr>
            <a:xfrm flipV="1">
              <a:off x="3438634" y="2527619"/>
              <a:ext cx="1049756" cy="1802763"/>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7227E002-F4F6-F40E-8DC6-8C4B79D007A8}"/>
                </a:ext>
              </a:extLst>
            </p:cNvPr>
            <p:cNvSpPr/>
            <p:nvPr/>
          </p:nvSpPr>
          <p:spPr>
            <a:xfrm>
              <a:off x="1402954" y="1830153"/>
              <a:ext cx="7254087"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7" name="Straight Arrow Connector 36">
              <a:extLst>
                <a:ext uri="{FF2B5EF4-FFF2-40B4-BE49-F238E27FC236}">
                  <a16:creationId xmlns:a16="http://schemas.microsoft.com/office/drawing/2014/main" id="{7D261476-1A18-714C-D5CD-C0E6F328A83D}"/>
                </a:ext>
              </a:extLst>
            </p:cNvPr>
            <p:cNvCxnSpPr>
              <a:cxnSpLocks/>
              <a:endCxn id="36" idx="1"/>
            </p:cNvCxnSpPr>
            <p:nvPr/>
          </p:nvCxnSpPr>
          <p:spPr>
            <a:xfrm>
              <a:off x="434448" y="3429000"/>
              <a:ext cx="968506"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F2BCADF-A5FF-7721-0BBD-0CB1E7284BA8}"/>
                </a:ext>
              </a:extLst>
            </p:cNvPr>
            <p:cNvCxnSpPr>
              <a:cxnSpLocks/>
              <a:stCxn id="36" idx="1"/>
              <a:endCxn id="27" idx="1"/>
            </p:cNvCxnSpPr>
            <p:nvPr/>
          </p:nvCxnSpPr>
          <p:spPr>
            <a:xfrm flipV="1">
              <a:off x="1402954" y="2527620"/>
              <a:ext cx="450087" cy="90138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77F8663-2FD6-5D54-A4D6-1161C46C737E}"/>
                </a:ext>
              </a:extLst>
            </p:cNvPr>
            <p:cNvCxnSpPr>
              <a:cxnSpLocks/>
              <a:stCxn id="36" idx="1"/>
              <a:endCxn id="28" idx="1"/>
            </p:cNvCxnSpPr>
            <p:nvPr/>
          </p:nvCxnSpPr>
          <p:spPr>
            <a:xfrm>
              <a:off x="1402954" y="3429000"/>
              <a:ext cx="450087" cy="90138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58DA820-6A75-503C-B775-9481C340F1FE}"/>
                </a:ext>
              </a:extLst>
            </p:cNvPr>
            <p:cNvCxnSpPr>
              <a:cxnSpLocks/>
              <a:stCxn id="36" idx="3"/>
            </p:cNvCxnSpPr>
            <p:nvPr/>
          </p:nvCxnSpPr>
          <p:spPr>
            <a:xfrm>
              <a:off x="8657041" y="3429000"/>
              <a:ext cx="898168"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15E810A-9B70-75AF-11F2-299FB8565319}"/>
                </a:ext>
              </a:extLst>
            </p:cNvPr>
            <p:cNvSpPr txBox="1"/>
            <p:nvPr/>
          </p:nvSpPr>
          <p:spPr>
            <a:xfrm>
              <a:off x="7750681" y="1825584"/>
              <a:ext cx="867032" cy="369332"/>
            </a:xfrm>
            <a:prstGeom prst="rect">
              <a:avLst/>
            </a:prstGeom>
            <a:noFill/>
          </p:spPr>
          <p:txBody>
            <a:bodyPr wrap="none" rtlCol="0">
              <a:spAutoFit/>
            </a:bodyPr>
            <a:lstStyle/>
            <a:p>
              <a:r>
                <a:rPr lang="en-US" b="1" dirty="0">
                  <a:solidFill>
                    <a:srgbClr val="003E74"/>
                  </a:solidFill>
                </a:rPr>
                <a:t>System</a:t>
              </a:r>
              <a:endParaRPr lang="en-GB" b="1" dirty="0">
                <a:solidFill>
                  <a:srgbClr val="003E74"/>
                </a:solidFill>
              </a:endParaRPr>
            </a:p>
          </p:txBody>
        </p:sp>
        <p:sp>
          <p:nvSpPr>
            <p:cNvPr id="43" name="TextBox 42">
              <a:extLst>
                <a:ext uri="{FF2B5EF4-FFF2-40B4-BE49-F238E27FC236}">
                  <a16:creationId xmlns:a16="http://schemas.microsoft.com/office/drawing/2014/main" id="{D297D733-089F-4A31-A888-F6D9A4D05A8C}"/>
                </a:ext>
              </a:extLst>
            </p:cNvPr>
            <p:cNvSpPr txBox="1"/>
            <p:nvPr/>
          </p:nvSpPr>
          <p:spPr>
            <a:xfrm>
              <a:off x="416295" y="3105834"/>
              <a:ext cx="1054776" cy="646331"/>
            </a:xfrm>
            <a:prstGeom prst="rect">
              <a:avLst/>
            </a:prstGeom>
            <a:noFill/>
          </p:spPr>
          <p:txBody>
            <a:bodyPr wrap="none" rtlCol="0">
              <a:spAutoFit/>
            </a:bodyPr>
            <a:lstStyle/>
            <a:p>
              <a:r>
                <a:rPr lang="en-US" b="1" dirty="0">
                  <a:solidFill>
                    <a:schemeClr val="accent2">
                      <a:lumMod val="50000"/>
                    </a:schemeClr>
                  </a:solidFill>
                </a:rPr>
                <a:t>User’s </a:t>
              </a:r>
            </a:p>
            <a:p>
              <a:r>
                <a:rPr lang="en-US" b="1" dirty="0">
                  <a:solidFill>
                    <a:schemeClr val="accent2">
                      <a:lumMod val="50000"/>
                    </a:schemeClr>
                  </a:solidFill>
                </a:rPr>
                <a:t>Request</a:t>
              </a:r>
              <a:endParaRPr lang="en-GB" b="1" dirty="0">
                <a:solidFill>
                  <a:schemeClr val="accent2">
                    <a:lumMod val="50000"/>
                  </a:schemeClr>
                </a:solidFill>
              </a:endParaRPr>
            </a:p>
          </p:txBody>
        </p:sp>
        <p:sp>
          <p:nvSpPr>
            <p:cNvPr id="44" name="TextBox 43">
              <a:extLst>
                <a:ext uri="{FF2B5EF4-FFF2-40B4-BE49-F238E27FC236}">
                  <a16:creationId xmlns:a16="http://schemas.microsoft.com/office/drawing/2014/main" id="{24E73EF7-4AE3-D451-165D-3AD3F0DB9F5A}"/>
                </a:ext>
              </a:extLst>
            </p:cNvPr>
            <p:cNvSpPr txBox="1"/>
            <p:nvPr/>
          </p:nvSpPr>
          <p:spPr>
            <a:xfrm>
              <a:off x="8615366" y="3105833"/>
              <a:ext cx="1135760" cy="646331"/>
            </a:xfrm>
            <a:prstGeom prst="rect">
              <a:avLst/>
            </a:prstGeom>
            <a:noFill/>
          </p:spPr>
          <p:txBody>
            <a:bodyPr wrap="none" rtlCol="0">
              <a:spAutoFit/>
            </a:bodyPr>
            <a:lstStyle/>
            <a:p>
              <a:r>
                <a:rPr lang="en-US" b="1" dirty="0">
                  <a:solidFill>
                    <a:schemeClr val="accent2">
                      <a:lumMod val="50000"/>
                    </a:schemeClr>
                  </a:solidFill>
                </a:rPr>
                <a:t>System’s</a:t>
              </a:r>
            </a:p>
            <a:p>
              <a:r>
                <a:rPr lang="en-US" b="1" dirty="0">
                  <a:solidFill>
                    <a:schemeClr val="accent2">
                      <a:lumMod val="50000"/>
                    </a:schemeClr>
                  </a:solidFill>
                </a:rPr>
                <a:t>Outputs</a:t>
              </a:r>
              <a:endParaRPr lang="en-GB" b="1" dirty="0">
                <a:solidFill>
                  <a:schemeClr val="accent2">
                    <a:lumMod val="50000"/>
                  </a:schemeClr>
                </a:solidFill>
              </a:endParaRPr>
            </a:p>
          </p:txBody>
        </p:sp>
      </p:grpSp>
      <p:sp>
        <p:nvSpPr>
          <p:cNvPr id="47" name="TextBox 46">
            <a:extLst>
              <a:ext uri="{FF2B5EF4-FFF2-40B4-BE49-F238E27FC236}">
                <a16:creationId xmlns:a16="http://schemas.microsoft.com/office/drawing/2014/main" id="{47E7DB25-D763-985C-459C-4DAA602B9D6B}"/>
              </a:ext>
            </a:extLst>
          </p:cNvPr>
          <p:cNvSpPr txBox="1"/>
          <p:nvPr/>
        </p:nvSpPr>
        <p:spPr>
          <a:xfrm>
            <a:off x="3092348" y="3274715"/>
            <a:ext cx="1000595" cy="369332"/>
          </a:xfrm>
          <a:prstGeom prst="rect">
            <a:avLst/>
          </a:prstGeom>
          <a:noFill/>
        </p:spPr>
        <p:txBody>
          <a:bodyPr wrap="none" rtlCol="0">
            <a:spAutoFit/>
          </a:bodyPr>
          <a:lstStyle/>
          <a:p>
            <a:r>
              <a:rPr lang="en-US" dirty="0">
                <a:solidFill>
                  <a:srgbClr val="003E74"/>
                </a:solidFill>
              </a:rPr>
              <a:t>&lt;inputs&gt;</a:t>
            </a:r>
            <a:endParaRPr lang="en-GB" dirty="0">
              <a:solidFill>
                <a:srgbClr val="003E74"/>
              </a:solidFill>
            </a:endParaRPr>
          </a:p>
        </p:txBody>
      </p:sp>
      <p:sp>
        <p:nvSpPr>
          <p:cNvPr id="48" name="TextBox 47">
            <a:extLst>
              <a:ext uri="{FF2B5EF4-FFF2-40B4-BE49-F238E27FC236}">
                <a16:creationId xmlns:a16="http://schemas.microsoft.com/office/drawing/2014/main" id="{FB97772F-F452-F2F2-185B-2B832DEDC6EB}"/>
              </a:ext>
            </a:extLst>
          </p:cNvPr>
          <p:cNvSpPr txBox="1"/>
          <p:nvPr/>
        </p:nvSpPr>
        <p:spPr>
          <a:xfrm rot="18213921">
            <a:off x="2978166" y="4176096"/>
            <a:ext cx="1000595" cy="369332"/>
          </a:xfrm>
          <a:prstGeom prst="rect">
            <a:avLst/>
          </a:prstGeom>
          <a:noFill/>
        </p:spPr>
        <p:txBody>
          <a:bodyPr wrap="none" rtlCol="0">
            <a:spAutoFit/>
          </a:bodyPr>
          <a:lstStyle/>
          <a:p>
            <a:r>
              <a:rPr lang="en-US" dirty="0">
                <a:solidFill>
                  <a:srgbClr val="003E74"/>
                </a:solidFill>
              </a:rPr>
              <a:t>&lt;inputs&gt;</a:t>
            </a:r>
            <a:endParaRPr lang="en-GB" dirty="0">
              <a:solidFill>
                <a:srgbClr val="003E74"/>
              </a:solidFill>
            </a:endParaRPr>
          </a:p>
        </p:txBody>
      </p:sp>
      <p:sp>
        <p:nvSpPr>
          <p:cNvPr id="4" name="Content Placeholder 2">
            <a:extLst>
              <a:ext uri="{FF2B5EF4-FFF2-40B4-BE49-F238E27FC236}">
                <a16:creationId xmlns:a16="http://schemas.microsoft.com/office/drawing/2014/main" id="{DE4EA800-C1D3-37F9-7771-EB89C720F04E}"/>
              </a:ext>
            </a:extLst>
          </p:cNvPr>
          <p:cNvSpPr txBox="1">
            <a:spLocks/>
          </p:cNvSpPr>
          <p:nvPr/>
        </p:nvSpPr>
        <p:spPr bwMode="auto">
          <a:xfrm>
            <a:off x="9405734" y="2794454"/>
            <a:ext cx="2786266"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215F9A"/>
                </a:solidFill>
              </a:rPr>
              <a:t>Systems are composed of multiple components</a:t>
            </a:r>
          </a:p>
          <a:p>
            <a:pPr marL="342900" indent="-342900">
              <a:buFontTx/>
              <a:buChar char="-"/>
            </a:pPr>
            <a:endParaRPr lang="en-US" dirty="0">
              <a:solidFill>
                <a:srgbClr val="215F9A"/>
              </a:solidFill>
            </a:endParaRPr>
          </a:p>
          <a:p>
            <a:r>
              <a:rPr lang="en-US" dirty="0">
                <a:solidFill>
                  <a:srgbClr val="215F9A"/>
                </a:solidFill>
              </a:rPr>
              <a:t>These components can impact the behavior of the learning models</a:t>
            </a:r>
          </a:p>
          <a:p>
            <a:pPr marL="342900" indent="-342900">
              <a:buFontTx/>
              <a:buChar char="-"/>
            </a:pPr>
            <a:endParaRPr lang="en-US" dirty="0">
              <a:solidFill>
                <a:srgbClr val="215F9A"/>
              </a:solidFill>
            </a:endParaRPr>
          </a:p>
          <a:p>
            <a:pPr marL="342900" indent="-342900">
              <a:buFontTx/>
              <a:buChar char="-"/>
            </a:pPr>
            <a:endParaRPr lang="en-GB" dirty="0">
              <a:solidFill>
                <a:srgbClr val="215F9A"/>
              </a:solidFill>
            </a:endParaRPr>
          </a:p>
        </p:txBody>
      </p:sp>
    </p:spTree>
    <p:extLst>
      <p:ext uri="{BB962C8B-B14F-4D97-AF65-F5344CB8AC3E}">
        <p14:creationId xmlns:p14="http://schemas.microsoft.com/office/powerpoint/2010/main" val="1107157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16B7C-2E73-E0E8-713C-2246CA241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95B09-36EB-EB97-7A41-E3A0ECB66F83}"/>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4A3BC1A7-B13F-6455-E907-70AC6B33B251}"/>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
        <p:nvSpPr>
          <p:cNvPr id="24" name="Content Placeholder 2">
            <a:extLst>
              <a:ext uri="{FF2B5EF4-FFF2-40B4-BE49-F238E27FC236}">
                <a16:creationId xmlns:a16="http://schemas.microsoft.com/office/drawing/2014/main" id="{8EB3171D-39F1-59F2-B84E-60B852A27B8B}"/>
              </a:ext>
            </a:extLst>
          </p:cNvPr>
          <p:cNvSpPr txBox="1">
            <a:spLocks/>
          </p:cNvSpPr>
          <p:nvPr/>
        </p:nvSpPr>
        <p:spPr>
          <a:xfrm>
            <a:off x="363894" y="2799527"/>
            <a:ext cx="11313757" cy="4067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000"/>
          </a:p>
          <a:p>
            <a:pPr marL="342900" indent="-342900"/>
            <a:endParaRPr lang="en-US" sz="3000"/>
          </a:p>
          <a:p>
            <a:pPr marL="342900" indent="-342900"/>
            <a:endParaRPr lang="en-US" sz="3000"/>
          </a:p>
          <a:p>
            <a:endParaRPr lang="en-US" sz="3000"/>
          </a:p>
          <a:p>
            <a:endParaRPr lang="en-GB" sz="3000" dirty="0"/>
          </a:p>
        </p:txBody>
      </p:sp>
      <p:grpSp>
        <p:nvGrpSpPr>
          <p:cNvPr id="25" name="Group 24">
            <a:extLst>
              <a:ext uri="{FF2B5EF4-FFF2-40B4-BE49-F238E27FC236}">
                <a16:creationId xmlns:a16="http://schemas.microsoft.com/office/drawing/2014/main" id="{4A3674FC-01CE-CE1B-EC3E-EB71E73CE1B6}"/>
              </a:ext>
            </a:extLst>
          </p:cNvPr>
          <p:cNvGrpSpPr/>
          <p:nvPr/>
        </p:nvGrpSpPr>
        <p:grpSpPr>
          <a:xfrm>
            <a:off x="70008" y="2916960"/>
            <a:ext cx="9334831" cy="3202263"/>
            <a:chOff x="416295" y="1825584"/>
            <a:chExt cx="9334831" cy="3202263"/>
          </a:xfrm>
        </p:grpSpPr>
        <p:sp>
          <p:nvSpPr>
            <p:cNvPr id="26" name="Rectangle 25">
              <a:extLst>
                <a:ext uri="{FF2B5EF4-FFF2-40B4-BE49-F238E27FC236}">
                  <a16:creationId xmlns:a16="http://schemas.microsoft.com/office/drawing/2014/main" id="{0D50BDF7-909A-0ABB-230C-10B6B1CC63BB}"/>
                </a:ext>
              </a:extLst>
            </p:cNvPr>
            <p:cNvSpPr/>
            <p:nvPr/>
          </p:nvSpPr>
          <p:spPr>
            <a:xfrm>
              <a:off x="4488390" y="2208390"/>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Learning Model</a:t>
              </a:r>
              <a:endParaRPr lang="en-GB" b="1" dirty="0">
                <a:solidFill>
                  <a:schemeClr val="bg1"/>
                </a:solidFill>
              </a:endParaRPr>
            </a:p>
          </p:txBody>
        </p:sp>
        <p:sp>
          <p:nvSpPr>
            <p:cNvPr id="27" name="Rectangle 26">
              <a:extLst>
                <a:ext uri="{FF2B5EF4-FFF2-40B4-BE49-F238E27FC236}">
                  <a16:creationId xmlns:a16="http://schemas.microsoft.com/office/drawing/2014/main" id="{E8BA2F2B-DEB0-5CC5-ED41-5FABC2F84840}"/>
                </a:ext>
              </a:extLst>
            </p:cNvPr>
            <p:cNvSpPr/>
            <p:nvPr/>
          </p:nvSpPr>
          <p:spPr>
            <a:xfrm>
              <a:off x="1853041" y="2208391"/>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1</a:t>
              </a:r>
              <a:endParaRPr lang="en-GB" b="1" dirty="0">
                <a:solidFill>
                  <a:srgbClr val="003E74"/>
                </a:solidFill>
              </a:endParaRPr>
            </a:p>
          </p:txBody>
        </p:sp>
        <p:sp>
          <p:nvSpPr>
            <p:cNvPr id="28" name="Rectangle 27">
              <a:extLst>
                <a:ext uri="{FF2B5EF4-FFF2-40B4-BE49-F238E27FC236}">
                  <a16:creationId xmlns:a16="http://schemas.microsoft.com/office/drawing/2014/main" id="{DA4C6194-8325-B76D-B7EF-B6605079FE9B}"/>
                </a:ext>
              </a:extLst>
            </p:cNvPr>
            <p:cNvSpPr/>
            <p:nvPr/>
          </p:nvSpPr>
          <p:spPr>
            <a:xfrm>
              <a:off x="1853041" y="4011153"/>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2</a:t>
              </a:r>
              <a:endParaRPr lang="en-GB" b="1" dirty="0">
                <a:solidFill>
                  <a:srgbClr val="003E74"/>
                </a:solidFill>
              </a:endParaRPr>
            </a:p>
          </p:txBody>
        </p:sp>
        <p:sp>
          <p:nvSpPr>
            <p:cNvPr id="29" name="Rectangle 28">
              <a:extLst>
                <a:ext uri="{FF2B5EF4-FFF2-40B4-BE49-F238E27FC236}">
                  <a16:creationId xmlns:a16="http://schemas.microsoft.com/office/drawing/2014/main" id="{ED7D3463-7DD0-CD84-B2B5-568AFEBE8075}"/>
                </a:ext>
              </a:extLst>
            </p:cNvPr>
            <p:cNvSpPr/>
            <p:nvPr/>
          </p:nvSpPr>
          <p:spPr>
            <a:xfrm>
              <a:off x="4468653" y="4011154"/>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3</a:t>
              </a:r>
              <a:endParaRPr lang="en-GB" b="1" dirty="0">
                <a:solidFill>
                  <a:srgbClr val="003E74"/>
                </a:solidFill>
              </a:endParaRPr>
            </a:p>
          </p:txBody>
        </p:sp>
        <p:sp>
          <p:nvSpPr>
            <p:cNvPr id="30" name="Rectangle 29">
              <a:extLst>
                <a:ext uri="{FF2B5EF4-FFF2-40B4-BE49-F238E27FC236}">
                  <a16:creationId xmlns:a16="http://schemas.microsoft.com/office/drawing/2014/main" id="{35D76BDD-9163-8AE0-2AE5-56BCB681EB63}"/>
                </a:ext>
              </a:extLst>
            </p:cNvPr>
            <p:cNvSpPr/>
            <p:nvPr/>
          </p:nvSpPr>
          <p:spPr>
            <a:xfrm>
              <a:off x="6879958" y="3113708"/>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4</a:t>
              </a:r>
              <a:endParaRPr lang="en-GB" b="1" dirty="0">
                <a:solidFill>
                  <a:srgbClr val="003E74"/>
                </a:solidFill>
              </a:endParaRPr>
            </a:p>
          </p:txBody>
        </p:sp>
        <p:cxnSp>
          <p:nvCxnSpPr>
            <p:cNvPr id="31" name="Straight Arrow Connector 30">
              <a:extLst>
                <a:ext uri="{FF2B5EF4-FFF2-40B4-BE49-F238E27FC236}">
                  <a16:creationId xmlns:a16="http://schemas.microsoft.com/office/drawing/2014/main" id="{DB759732-91D2-15C8-6026-B79AEDF38C70}"/>
                </a:ext>
              </a:extLst>
            </p:cNvPr>
            <p:cNvCxnSpPr>
              <a:cxnSpLocks/>
              <a:stCxn id="27" idx="3"/>
              <a:endCxn id="26" idx="1"/>
            </p:cNvCxnSpPr>
            <p:nvPr/>
          </p:nvCxnSpPr>
          <p:spPr>
            <a:xfrm flipV="1">
              <a:off x="3438634" y="2527619"/>
              <a:ext cx="104975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165BB7A-2111-36AE-BB38-ED333D09D94A}"/>
                </a:ext>
              </a:extLst>
            </p:cNvPr>
            <p:cNvCxnSpPr>
              <a:cxnSpLocks/>
              <a:stCxn id="28" idx="3"/>
              <a:endCxn id="26" idx="1"/>
            </p:cNvCxnSpPr>
            <p:nvPr/>
          </p:nvCxnSpPr>
          <p:spPr>
            <a:xfrm flipV="1">
              <a:off x="3438634" y="2527619"/>
              <a:ext cx="1049756" cy="1802763"/>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AE19ACB-84A5-E1F2-5F52-F6D8D57F5400}"/>
                </a:ext>
              </a:extLst>
            </p:cNvPr>
            <p:cNvCxnSpPr>
              <a:cxnSpLocks/>
              <a:stCxn id="28" idx="3"/>
              <a:endCxn id="29" idx="1"/>
            </p:cNvCxnSpPr>
            <p:nvPr/>
          </p:nvCxnSpPr>
          <p:spPr>
            <a:xfrm>
              <a:off x="3438634" y="4330382"/>
              <a:ext cx="1030019"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F7C922F-E6B5-10CA-30DC-1BAFFEF39E98}"/>
                </a:ext>
              </a:extLst>
            </p:cNvPr>
            <p:cNvCxnSpPr>
              <a:cxnSpLocks/>
              <a:stCxn id="26" idx="3"/>
              <a:endCxn id="30" idx="1"/>
            </p:cNvCxnSpPr>
            <p:nvPr/>
          </p:nvCxnSpPr>
          <p:spPr>
            <a:xfrm>
              <a:off x="5835642" y="2527619"/>
              <a:ext cx="1044316" cy="905318"/>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6B6FFB-79B5-CA62-55EA-B543836FCED4}"/>
                </a:ext>
              </a:extLst>
            </p:cNvPr>
            <p:cNvCxnSpPr>
              <a:cxnSpLocks/>
              <a:stCxn id="29" idx="3"/>
              <a:endCxn id="30" idx="1"/>
            </p:cNvCxnSpPr>
            <p:nvPr/>
          </p:nvCxnSpPr>
          <p:spPr>
            <a:xfrm flipV="1">
              <a:off x="6122529" y="3432937"/>
              <a:ext cx="757429" cy="897446"/>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130F8F63-1EB5-80E6-055C-E6563F5C505E}"/>
                </a:ext>
              </a:extLst>
            </p:cNvPr>
            <p:cNvSpPr/>
            <p:nvPr/>
          </p:nvSpPr>
          <p:spPr>
            <a:xfrm>
              <a:off x="1402954" y="1830153"/>
              <a:ext cx="7254087"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7" name="Straight Arrow Connector 36">
              <a:extLst>
                <a:ext uri="{FF2B5EF4-FFF2-40B4-BE49-F238E27FC236}">
                  <a16:creationId xmlns:a16="http://schemas.microsoft.com/office/drawing/2014/main" id="{44453B87-09FF-03B3-CF6A-91B3788DBC48}"/>
                </a:ext>
              </a:extLst>
            </p:cNvPr>
            <p:cNvCxnSpPr>
              <a:cxnSpLocks/>
              <a:endCxn id="36" idx="1"/>
            </p:cNvCxnSpPr>
            <p:nvPr/>
          </p:nvCxnSpPr>
          <p:spPr>
            <a:xfrm>
              <a:off x="434448" y="3429000"/>
              <a:ext cx="968506"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0D3181B-3415-3575-0DA1-FC1BA4DDC036}"/>
                </a:ext>
              </a:extLst>
            </p:cNvPr>
            <p:cNvCxnSpPr>
              <a:cxnSpLocks/>
              <a:stCxn id="36" idx="1"/>
              <a:endCxn id="27" idx="1"/>
            </p:cNvCxnSpPr>
            <p:nvPr/>
          </p:nvCxnSpPr>
          <p:spPr>
            <a:xfrm flipV="1">
              <a:off x="1402954" y="2527620"/>
              <a:ext cx="450087" cy="90138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A35F8B5-FE91-1873-E459-4F7C4BF7654E}"/>
                </a:ext>
              </a:extLst>
            </p:cNvPr>
            <p:cNvCxnSpPr>
              <a:cxnSpLocks/>
              <a:stCxn id="36" idx="1"/>
              <a:endCxn id="28" idx="1"/>
            </p:cNvCxnSpPr>
            <p:nvPr/>
          </p:nvCxnSpPr>
          <p:spPr>
            <a:xfrm>
              <a:off x="1402954" y="3429000"/>
              <a:ext cx="450087" cy="90138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8845451-6324-B342-A292-95E320FC5857}"/>
                </a:ext>
              </a:extLst>
            </p:cNvPr>
            <p:cNvCxnSpPr>
              <a:cxnSpLocks/>
              <a:stCxn id="36" idx="3"/>
            </p:cNvCxnSpPr>
            <p:nvPr/>
          </p:nvCxnSpPr>
          <p:spPr>
            <a:xfrm>
              <a:off x="8657041" y="3429000"/>
              <a:ext cx="898168"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54F4CCE-5BB0-963A-7241-D6D46EB84C85}"/>
                </a:ext>
              </a:extLst>
            </p:cNvPr>
            <p:cNvCxnSpPr>
              <a:cxnSpLocks/>
              <a:stCxn id="30" idx="3"/>
              <a:endCxn id="36" idx="3"/>
            </p:cNvCxnSpPr>
            <p:nvPr/>
          </p:nvCxnSpPr>
          <p:spPr>
            <a:xfrm flipV="1">
              <a:off x="8533834" y="3429000"/>
              <a:ext cx="123207" cy="3937"/>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C35F6AE-750C-7CA4-1AB5-622139528946}"/>
                </a:ext>
              </a:extLst>
            </p:cNvPr>
            <p:cNvSpPr txBox="1"/>
            <p:nvPr/>
          </p:nvSpPr>
          <p:spPr>
            <a:xfrm>
              <a:off x="7750681" y="1825584"/>
              <a:ext cx="867032" cy="369332"/>
            </a:xfrm>
            <a:prstGeom prst="rect">
              <a:avLst/>
            </a:prstGeom>
            <a:noFill/>
          </p:spPr>
          <p:txBody>
            <a:bodyPr wrap="none" rtlCol="0">
              <a:spAutoFit/>
            </a:bodyPr>
            <a:lstStyle/>
            <a:p>
              <a:r>
                <a:rPr lang="en-US" b="1" dirty="0">
                  <a:solidFill>
                    <a:srgbClr val="003E74"/>
                  </a:solidFill>
                </a:rPr>
                <a:t>System</a:t>
              </a:r>
              <a:endParaRPr lang="en-GB" b="1" dirty="0">
                <a:solidFill>
                  <a:srgbClr val="003E74"/>
                </a:solidFill>
              </a:endParaRPr>
            </a:p>
          </p:txBody>
        </p:sp>
        <p:sp>
          <p:nvSpPr>
            <p:cNvPr id="43" name="TextBox 42">
              <a:extLst>
                <a:ext uri="{FF2B5EF4-FFF2-40B4-BE49-F238E27FC236}">
                  <a16:creationId xmlns:a16="http://schemas.microsoft.com/office/drawing/2014/main" id="{31FFDAE2-811B-1083-BAC7-A9AF8475ABD9}"/>
                </a:ext>
              </a:extLst>
            </p:cNvPr>
            <p:cNvSpPr txBox="1"/>
            <p:nvPr/>
          </p:nvSpPr>
          <p:spPr>
            <a:xfrm>
              <a:off x="416295" y="3105834"/>
              <a:ext cx="1054776" cy="646331"/>
            </a:xfrm>
            <a:prstGeom prst="rect">
              <a:avLst/>
            </a:prstGeom>
            <a:noFill/>
          </p:spPr>
          <p:txBody>
            <a:bodyPr wrap="none" rtlCol="0">
              <a:spAutoFit/>
            </a:bodyPr>
            <a:lstStyle/>
            <a:p>
              <a:r>
                <a:rPr lang="en-US" b="1" dirty="0">
                  <a:solidFill>
                    <a:schemeClr val="accent2">
                      <a:lumMod val="50000"/>
                    </a:schemeClr>
                  </a:solidFill>
                </a:rPr>
                <a:t>User’s </a:t>
              </a:r>
            </a:p>
            <a:p>
              <a:r>
                <a:rPr lang="en-US" b="1" dirty="0">
                  <a:solidFill>
                    <a:schemeClr val="accent2">
                      <a:lumMod val="50000"/>
                    </a:schemeClr>
                  </a:solidFill>
                </a:rPr>
                <a:t>Request</a:t>
              </a:r>
              <a:endParaRPr lang="en-GB" b="1" dirty="0">
                <a:solidFill>
                  <a:schemeClr val="accent2">
                    <a:lumMod val="50000"/>
                  </a:schemeClr>
                </a:solidFill>
              </a:endParaRPr>
            </a:p>
          </p:txBody>
        </p:sp>
        <p:sp>
          <p:nvSpPr>
            <p:cNvPr id="44" name="TextBox 43">
              <a:extLst>
                <a:ext uri="{FF2B5EF4-FFF2-40B4-BE49-F238E27FC236}">
                  <a16:creationId xmlns:a16="http://schemas.microsoft.com/office/drawing/2014/main" id="{123F1C9B-9630-E8D2-B041-CC4E4F206CBD}"/>
                </a:ext>
              </a:extLst>
            </p:cNvPr>
            <p:cNvSpPr txBox="1"/>
            <p:nvPr/>
          </p:nvSpPr>
          <p:spPr>
            <a:xfrm>
              <a:off x="8615366" y="3105833"/>
              <a:ext cx="1135760" cy="646331"/>
            </a:xfrm>
            <a:prstGeom prst="rect">
              <a:avLst/>
            </a:prstGeom>
            <a:noFill/>
          </p:spPr>
          <p:txBody>
            <a:bodyPr wrap="none" rtlCol="0">
              <a:spAutoFit/>
            </a:bodyPr>
            <a:lstStyle/>
            <a:p>
              <a:r>
                <a:rPr lang="en-US" b="1" dirty="0">
                  <a:solidFill>
                    <a:schemeClr val="accent2">
                      <a:lumMod val="50000"/>
                    </a:schemeClr>
                  </a:solidFill>
                </a:rPr>
                <a:t>System’s</a:t>
              </a:r>
            </a:p>
            <a:p>
              <a:r>
                <a:rPr lang="en-US" b="1" dirty="0">
                  <a:solidFill>
                    <a:schemeClr val="accent2">
                      <a:lumMod val="50000"/>
                    </a:schemeClr>
                  </a:solidFill>
                </a:rPr>
                <a:t>Outputs</a:t>
              </a:r>
              <a:endParaRPr lang="en-GB" b="1" dirty="0">
                <a:solidFill>
                  <a:schemeClr val="accent2">
                    <a:lumMod val="50000"/>
                  </a:schemeClr>
                </a:solidFill>
              </a:endParaRPr>
            </a:p>
          </p:txBody>
        </p:sp>
      </p:grpSp>
      <p:sp>
        <p:nvSpPr>
          <p:cNvPr id="45" name="Content Placeholder 2">
            <a:extLst>
              <a:ext uri="{FF2B5EF4-FFF2-40B4-BE49-F238E27FC236}">
                <a16:creationId xmlns:a16="http://schemas.microsoft.com/office/drawing/2014/main" id="{79988819-443C-3345-7D68-59D31B269678}"/>
              </a:ext>
            </a:extLst>
          </p:cNvPr>
          <p:cNvSpPr txBox="1">
            <a:spLocks/>
          </p:cNvSpPr>
          <p:nvPr/>
        </p:nvSpPr>
        <p:spPr bwMode="auto">
          <a:xfrm>
            <a:off x="9405734" y="2486786"/>
            <a:ext cx="2786266"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215F9A"/>
                </a:solidFill>
              </a:rPr>
              <a:t>Learning models outputs can be inputs for other components</a:t>
            </a:r>
          </a:p>
          <a:p>
            <a:endParaRPr lang="en-US" dirty="0">
              <a:solidFill>
                <a:srgbClr val="215F9A"/>
              </a:solidFill>
            </a:endParaRPr>
          </a:p>
          <a:p>
            <a:r>
              <a:rPr lang="en-US" dirty="0">
                <a:solidFill>
                  <a:srgbClr val="215F9A"/>
                </a:solidFill>
              </a:rPr>
              <a:t>Systems’ outputs are aggregations of the data processed by different components.</a:t>
            </a:r>
          </a:p>
          <a:p>
            <a:pPr marL="342900" indent="-342900">
              <a:buFontTx/>
              <a:buChar char="-"/>
            </a:pPr>
            <a:endParaRPr lang="en-US" dirty="0">
              <a:solidFill>
                <a:srgbClr val="215F9A"/>
              </a:solidFill>
            </a:endParaRPr>
          </a:p>
          <a:p>
            <a:endParaRPr lang="en-US" dirty="0">
              <a:solidFill>
                <a:srgbClr val="215F9A"/>
              </a:solidFill>
            </a:endParaRPr>
          </a:p>
        </p:txBody>
      </p:sp>
      <p:sp>
        <p:nvSpPr>
          <p:cNvPr id="46" name="TextBox 45">
            <a:extLst>
              <a:ext uri="{FF2B5EF4-FFF2-40B4-BE49-F238E27FC236}">
                <a16:creationId xmlns:a16="http://schemas.microsoft.com/office/drawing/2014/main" id="{212BC486-E0F4-9056-BE27-A566097B4372}"/>
              </a:ext>
            </a:extLst>
          </p:cNvPr>
          <p:cNvSpPr txBox="1"/>
          <p:nvPr/>
        </p:nvSpPr>
        <p:spPr>
          <a:xfrm rot="2588457">
            <a:off x="5285760" y="3701189"/>
            <a:ext cx="1375889" cy="369332"/>
          </a:xfrm>
          <a:prstGeom prst="rect">
            <a:avLst/>
          </a:prstGeom>
          <a:noFill/>
        </p:spPr>
        <p:txBody>
          <a:bodyPr wrap="none" rtlCol="0">
            <a:spAutoFit/>
          </a:bodyPr>
          <a:lstStyle/>
          <a:p>
            <a:r>
              <a:rPr lang="en-US" dirty="0">
                <a:solidFill>
                  <a:srgbClr val="003E74"/>
                </a:solidFill>
              </a:rPr>
              <a:t>&lt;prediction&gt;</a:t>
            </a:r>
            <a:endParaRPr lang="en-GB" dirty="0">
              <a:solidFill>
                <a:srgbClr val="003E74"/>
              </a:solidFill>
            </a:endParaRPr>
          </a:p>
        </p:txBody>
      </p:sp>
      <p:sp>
        <p:nvSpPr>
          <p:cNvPr id="47" name="TextBox 46">
            <a:extLst>
              <a:ext uri="{FF2B5EF4-FFF2-40B4-BE49-F238E27FC236}">
                <a16:creationId xmlns:a16="http://schemas.microsoft.com/office/drawing/2014/main" id="{AF2DDE43-17CB-C81C-1E72-0ED9DCE14DD3}"/>
              </a:ext>
            </a:extLst>
          </p:cNvPr>
          <p:cNvSpPr txBox="1"/>
          <p:nvPr/>
        </p:nvSpPr>
        <p:spPr>
          <a:xfrm>
            <a:off x="3092348" y="3274715"/>
            <a:ext cx="1000595" cy="369332"/>
          </a:xfrm>
          <a:prstGeom prst="rect">
            <a:avLst/>
          </a:prstGeom>
          <a:noFill/>
        </p:spPr>
        <p:txBody>
          <a:bodyPr wrap="none" rtlCol="0">
            <a:spAutoFit/>
          </a:bodyPr>
          <a:lstStyle/>
          <a:p>
            <a:r>
              <a:rPr lang="en-US" dirty="0">
                <a:solidFill>
                  <a:srgbClr val="003E74"/>
                </a:solidFill>
              </a:rPr>
              <a:t>&lt;inputs&gt;</a:t>
            </a:r>
            <a:endParaRPr lang="en-GB" dirty="0">
              <a:solidFill>
                <a:srgbClr val="003E74"/>
              </a:solidFill>
            </a:endParaRPr>
          </a:p>
        </p:txBody>
      </p:sp>
      <p:sp>
        <p:nvSpPr>
          <p:cNvPr id="48" name="TextBox 47">
            <a:extLst>
              <a:ext uri="{FF2B5EF4-FFF2-40B4-BE49-F238E27FC236}">
                <a16:creationId xmlns:a16="http://schemas.microsoft.com/office/drawing/2014/main" id="{D6EBC6B5-5269-3520-F568-DABD8316DF1F}"/>
              </a:ext>
            </a:extLst>
          </p:cNvPr>
          <p:cNvSpPr txBox="1"/>
          <p:nvPr/>
        </p:nvSpPr>
        <p:spPr>
          <a:xfrm rot="18213921">
            <a:off x="2978166" y="4176096"/>
            <a:ext cx="1000595" cy="369332"/>
          </a:xfrm>
          <a:prstGeom prst="rect">
            <a:avLst/>
          </a:prstGeom>
          <a:noFill/>
        </p:spPr>
        <p:txBody>
          <a:bodyPr wrap="none" rtlCol="0">
            <a:spAutoFit/>
          </a:bodyPr>
          <a:lstStyle/>
          <a:p>
            <a:r>
              <a:rPr lang="en-US" dirty="0">
                <a:solidFill>
                  <a:srgbClr val="003E74"/>
                </a:solidFill>
              </a:rPr>
              <a:t>&lt;inputs&gt;</a:t>
            </a:r>
            <a:endParaRPr lang="en-GB" dirty="0">
              <a:solidFill>
                <a:srgbClr val="003E74"/>
              </a:solidFill>
            </a:endParaRPr>
          </a:p>
        </p:txBody>
      </p:sp>
    </p:spTree>
    <p:extLst>
      <p:ext uri="{BB962C8B-B14F-4D97-AF65-F5344CB8AC3E}">
        <p14:creationId xmlns:p14="http://schemas.microsoft.com/office/powerpoint/2010/main" val="1156702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6783A-F885-2EB0-922C-431B9F0CE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816A5-1D72-E4C8-1B32-F7A028935D2F}"/>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FF01DEB4-6C86-4D70-17A5-A80888BC032D}"/>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
        <p:nvSpPr>
          <p:cNvPr id="24" name="Content Placeholder 2">
            <a:extLst>
              <a:ext uri="{FF2B5EF4-FFF2-40B4-BE49-F238E27FC236}">
                <a16:creationId xmlns:a16="http://schemas.microsoft.com/office/drawing/2014/main" id="{65CC5515-79B3-8113-D96F-ECC107C6D2C6}"/>
              </a:ext>
            </a:extLst>
          </p:cNvPr>
          <p:cNvSpPr txBox="1">
            <a:spLocks/>
          </p:cNvSpPr>
          <p:nvPr/>
        </p:nvSpPr>
        <p:spPr>
          <a:xfrm>
            <a:off x="363894" y="2799527"/>
            <a:ext cx="11313757" cy="4067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000"/>
          </a:p>
          <a:p>
            <a:pPr marL="342900" indent="-342900"/>
            <a:endParaRPr lang="en-US" sz="3000"/>
          </a:p>
          <a:p>
            <a:pPr marL="342900" indent="-342900"/>
            <a:endParaRPr lang="en-US" sz="3000"/>
          </a:p>
          <a:p>
            <a:endParaRPr lang="en-US" sz="3000"/>
          </a:p>
          <a:p>
            <a:endParaRPr lang="en-GB" sz="3000" dirty="0"/>
          </a:p>
        </p:txBody>
      </p:sp>
      <p:sp>
        <p:nvSpPr>
          <p:cNvPr id="6" name="Content Placeholder 2">
            <a:extLst>
              <a:ext uri="{FF2B5EF4-FFF2-40B4-BE49-F238E27FC236}">
                <a16:creationId xmlns:a16="http://schemas.microsoft.com/office/drawing/2014/main" id="{5A06CA8D-866F-0DB5-E227-6098196544B4}"/>
              </a:ext>
            </a:extLst>
          </p:cNvPr>
          <p:cNvSpPr txBox="1">
            <a:spLocks/>
          </p:cNvSpPr>
          <p:nvPr/>
        </p:nvSpPr>
        <p:spPr bwMode="auto">
          <a:xfrm>
            <a:off x="8446169" y="2784244"/>
            <a:ext cx="3745832" cy="1726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FF0000"/>
                </a:solidFill>
              </a:rPr>
              <a:t>* Low latency requirement!</a:t>
            </a:r>
          </a:p>
          <a:p>
            <a:r>
              <a:rPr lang="en-US" sz="3000" b="1" dirty="0">
                <a:solidFill>
                  <a:srgbClr val="FF0000"/>
                </a:solidFill>
              </a:rPr>
              <a:t>    (&lt; 5secs)</a:t>
            </a:r>
          </a:p>
          <a:p>
            <a:endParaRPr lang="en-US" sz="3000" dirty="0">
              <a:solidFill>
                <a:srgbClr val="FF0000"/>
              </a:solidFill>
            </a:endParaRPr>
          </a:p>
          <a:p>
            <a:pPr marL="457200" indent="-457200">
              <a:buFont typeface="Arial" panose="020B0604020202020204" pitchFamily="34" charset="0"/>
              <a:buChar char="•"/>
            </a:pPr>
            <a:endParaRPr lang="en-GB" sz="3000" dirty="0">
              <a:solidFill>
                <a:srgbClr val="FF0000"/>
              </a:solidFill>
            </a:endParaRPr>
          </a:p>
        </p:txBody>
      </p:sp>
      <p:sp>
        <p:nvSpPr>
          <p:cNvPr id="4" name="Content Placeholder 2">
            <a:extLst>
              <a:ext uri="{FF2B5EF4-FFF2-40B4-BE49-F238E27FC236}">
                <a16:creationId xmlns:a16="http://schemas.microsoft.com/office/drawing/2014/main" id="{E11CF3F7-3446-B877-A02B-F2E32389EF2E}"/>
              </a:ext>
            </a:extLst>
          </p:cNvPr>
          <p:cNvSpPr txBox="1">
            <a:spLocks/>
          </p:cNvSpPr>
          <p:nvPr/>
        </p:nvSpPr>
        <p:spPr bwMode="auto">
          <a:xfrm>
            <a:off x="8748357" y="4482675"/>
            <a:ext cx="4210049" cy="56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endParaRPr lang="en-GB" sz="3000" dirty="0">
              <a:solidFill>
                <a:srgbClr val="FF0000"/>
              </a:solidFill>
            </a:endParaRPr>
          </a:p>
        </p:txBody>
      </p:sp>
      <p:graphicFrame>
        <p:nvGraphicFramePr>
          <p:cNvPr id="7" name="Table 5">
            <a:extLst>
              <a:ext uri="{FF2B5EF4-FFF2-40B4-BE49-F238E27FC236}">
                <a16:creationId xmlns:a16="http://schemas.microsoft.com/office/drawing/2014/main" id="{5A9DD6A4-DAC6-4D03-8B92-DC125528200A}"/>
              </a:ext>
            </a:extLst>
          </p:cNvPr>
          <p:cNvGraphicFramePr>
            <a:graphicFrameLocks noGrp="1"/>
          </p:cNvGraphicFramePr>
          <p:nvPr>
            <p:extLst>
              <p:ext uri="{D42A27DB-BD31-4B8C-83A1-F6EECF244321}">
                <p14:modId xmlns:p14="http://schemas.microsoft.com/office/powerpoint/2010/main" val="3821124631"/>
              </p:ext>
            </p:extLst>
          </p:nvPr>
        </p:nvGraphicFramePr>
        <p:xfrm>
          <a:off x="3139383" y="5045411"/>
          <a:ext cx="4088327" cy="1747520"/>
        </p:xfrm>
        <a:graphic>
          <a:graphicData uri="http://schemas.openxmlformats.org/drawingml/2006/table">
            <a:tbl>
              <a:tblPr firstRow="1" bandRow="1">
                <a:tableStyleId>{5C22544A-7EE6-4342-B048-85BDC9FD1C3A}</a:tableStyleId>
              </a:tblPr>
              <a:tblGrid>
                <a:gridCol w="1726205">
                  <a:extLst>
                    <a:ext uri="{9D8B030D-6E8A-4147-A177-3AD203B41FA5}">
                      <a16:colId xmlns:a16="http://schemas.microsoft.com/office/drawing/2014/main" val="643936482"/>
                    </a:ext>
                  </a:extLst>
                </a:gridCol>
                <a:gridCol w="1250020">
                  <a:extLst>
                    <a:ext uri="{9D8B030D-6E8A-4147-A177-3AD203B41FA5}">
                      <a16:colId xmlns:a16="http://schemas.microsoft.com/office/drawing/2014/main" val="1543968518"/>
                    </a:ext>
                  </a:extLst>
                </a:gridCol>
                <a:gridCol w="1112102">
                  <a:extLst>
                    <a:ext uri="{9D8B030D-6E8A-4147-A177-3AD203B41FA5}">
                      <a16:colId xmlns:a16="http://schemas.microsoft.com/office/drawing/2014/main" val="3488579508"/>
                    </a:ext>
                  </a:extLst>
                </a:gridCol>
              </a:tblGrid>
              <a:tr h="370840">
                <a:tc>
                  <a:txBody>
                    <a:bodyPr/>
                    <a:lstStyle/>
                    <a:p>
                      <a:pPr algn="ctr"/>
                      <a:r>
                        <a:rPr lang="en-US" dirty="0"/>
                        <a:t>Learning Model</a:t>
                      </a:r>
                      <a:endParaRPr lang="en-GB" dirty="0"/>
                    </a:p>
                  </a:txBody>
                  <a:tcPr>
                    <a:solidFill>
                      <a:srgbClr val="003E74"/>
                    </a:solidFill>
                  </a:tcPr>
                </a:tc>
                <a:tc>
                  <a:txBody>
                    <a:bodyPr/>
                    <a:lstStyle/>
                    <a:p>
                      <a:pPr algn="ctr"/>
                      <a:r>
                        <a:rPr lang="en-US" dirty="0"/>
                        <a:t>Accuracy</a:t>
                      </a:r>
                      <a:endParaRPr lang="en-GB" dirty="0"/>
                    </a:p>
                  </a:txBody>
                  <a:tcPr>
                    <a:solidFill>
                      <a:srgbClr val="003E74"/>
                    </a:solidFill>
                  </a:tcPr>
                </a:tc>
                <a:tc>
                  <a:txBody>
                    <a:bodyPr/>
                    <a:lstStyle/>
                    <a:p>
                      <a:pPr algn="ctr"/>
                      <a:r>
                        <a:rPr lang="en-US" dirty="0"/>
                        <a:t>Latency</a:t>
                      </a:r>
                      <a:endParaRPr lang="en-GB" dirty="0"/>
                    </a:p>
                  </a:txBody>
                  <a:tcPr>
                    <a:solidFill>
                      <a:srgbClr val="003E74"/>
                    </a:solidFill>
                  </a:tcPr>
                </a:tc>
                <a:extLst>
                  <a:ext uri="{0D108BD9-81ED-4DB2-BD59-A6C34878D82A}">
                    <a16:rowId xmlns:a16="http://schemas.microsoft.com/office/drawing/2014/main" val="89676683"/>
                  </a:ext>
                </a:extLst>
              </a:tr>
              <a:tr h="370840">
                <a:tc>
                  <a:txBody>
                    <a:bodyPr/>
                    <a:lstStyle/>
                    <a:p>
                      <a:r>
                        <a:rPr lang="en-US" b="1" dirty="0">
                          <a:solidFill>
                            <a:srgbClr val="003E74"/>
                          </a:solidFill>
                        </a:rPr>
                        <a:t>Modelv1</a:t>
                      </a:r>
                      <a:endParaRPr lang="en-GB" b="1" dirty="0">
                        <a:solidFill>
                          <a:srgbClr val="003E74"/>
                        </a:solidFill>
                      </a:endParaRPr>
                    </a:p>
                  </a:txBody>
                  <a:tcPr/>
                </a:tc>
                <a:tc>
                  <a:txBody>
                    <a:bodyPr/>
                    <a:lstStyle/>
                    <a:p>
                      <a:r>
                        <a:rPr lang="en-US" b="1" dirty="0">
                          <a:solidFill>
                            <a:srgbClr val="C00000"/>
                          </a:solidFill>
                        </a:rPr>
                        <a:t>88%</a:t>
                      </a:r>
                      <a:endParaRPr lang="en-GB" b="1" dirty="0">
                        <a:solidFill>
                          <a:srgbClr val="C00000"/>
                        </a:solidFill>
                      </a:endParaRPr>
                    </a:p>
                  </a:txBody>
                  <a:tcPr/>
                </a:tc>
                <a:tc>
                  <a:txBody>
                    <a:bodyPr/>
                    <a:lstStyle/>
                    <a:p>
                      <a:r>
                        <a:rPr lang="en-US" b="1" dirty="0">
                          <a:solidFill>
                            <a:srgbClr val="00B050"/>
                          </a:solidFill>
                        </a:rPr>
                        <a:t>3 secs</a:t>
                      </a:r>
                      <a:endParaRPr lang="en-GB" b="1" dirty="0">
                        <a:solidFill>
                          <a:srgbClr val="00B050"/>
                        </a:solidFill>
                      </a:endParaRPr>
                    </a:p>
                  </a:txBody>
                  <a:tcPr/>
                </a:tc>
                <a:extLst>
                  <a:ext uri="{0D108BD9-81ED-4DB2-BD59-A6C34878D82A}">
                    <a16:rowId xmlns:a16="http://schemas.microsoft.com/office/drawing/2014/main" val="445002850"/>
                  </a:ext>
                </a:extLst>
              </a:tr>
              <a:tr h="370840">
                <a:tc>
                  <a:txBody>
                    <a:bodyPr/>
                    <a:lstStyle/>
                    <a:p>
                      <a:r>
                        <a:rPr lang="en-US" b="1" dirty="0">
                          <a:solidFill>
                            <a:srgbClr val="003E74"/>
                          </a:solidFill>
                        </a:rPr>
                        <a:t>Modelv2</a:t>
                      </a:r>
                      <a:endParaRPr lang="en-GB" b="1" dirty="0">
                        <a:solidFill>
                          <a:srgbClr val="003E74"/>
                        </a:solidFill>
                      </a:endParaRPr>
                    </a:p>
                  </a:txBody>
                  <a:tcPr/>
                </a:tc>
                <a:tc>
                  <a:txBody>
                    <a:bodyPr/>
                    <a:lstStyle/>
                    <a:p>
                      <a:r>
                        <a:rPr lang="en-US" b="1" dirty="0">
                          <a:solidFill>
                            <a:srgbClr val="C00000"/>
                          </a:solidFill>
                        </a:rPr>
                        <a:t>90%</a:t>
                      </a:r>
                      <a:endParaRPr lang="en-GB" b="1" dirty="0">
                        <a:solidFill>
                          <a:srgbClr val="C00000"/>
                        </a:solidFill>
                      </a:endParaRPr>
                    </a:p>
                  </a:txBody>
                  <a:tcPr/>
                </a:tc>
                <a:tc>
                  <a:txBody>
                    <a:bodyPr/>
                    <a:lstStyle/>
                    <a:p>
                      <a:r>
                        <a:rPr lang="en-US" b="1" dirty="0">
                          <a:solidFill>
                            <a:srgbClr val="00B050"/>
                          </a:solidFill>
                        </a:rPr>
                        <a:t>4 secs</a:t>
                      </a:r>
                      <a:endParaRPr lang="en-GB" b="1" dirty="0">
                        <a:solidFill>
                          <a:srgbClr val="00B050"/>
                        </a:solidFill>
                      </a:endParaRPr>
                    </a:p>
                  </a:txBody>
                  <a:tcPr/>
                </a:tc>
                <a:extLst>
                  <a:ext uri="{0D108BD9-81ED-4DB2-BD59-A6C34878D82A}">
                    <a16:rowId xmlns:a16="http://schemas.microsoft.com/office/drawing/2014/main" val="746331468"/>
                  </a:ext>
                </a:extLst>
              </a:tr>
              <a:tr h="159174">
                <a:tc>
                  <a:txBody>
                    <a:bodyPr/>
                    <a:lstStyle/>
                    <a:p>
                      <a:r>
                        <a:rPr lang="en-US" b="1" dirty="0">
                          <a:solidFill>
                            <a:srgbClr val="003E74"/>
                          </a:solidFill>
                        </a:rPr>
                        <a:t>Modelv3</a:t>
                      </a:r>
                      <a:endParaRPr lang="en-GB" b="1" dirty="0">
                        <a:solidFill>
                          <a:srgbClr val="003E74"/>
                        </a:solidFill>
                      </a:endParaRPr>
                    </a:p>
                  </a:txBody>
                  <a:tcPr/>
                </a:tc>
                <a:tc>
                  <a:txBody>
                    <a:bodyPr/>
                    <a:lstStyle/>
                    <a:p>
                      <a:r>
                        <a:rPr lang="en-US" b="1" dirty="0">
                          <a:solidFill>
                            <a:srgbClr val="00B050"/>
                          </a:solidFill>
                        </a:rPr>
                        <a:t>98%</a:t>
                      </a:r>
                      <a:endParaRPr lang="en-GB" b="1" dirty="0">
                        <a:solidFill>
                          <a:srgbClr val="00B050"/>
                        </a:solidFill>
                      </a:endParaRPr>
                    </a:p>
                  </a:txBody>
                  <a:tcPr/>
                </a:tc>
                <a:tc>
                  <a:txBody>
                    <a:bodyPr/>
                    <a:lstStyle/>
                    <a:p>
                      <a:r>
                        <a:rPr lang="en-US" b="1" dirty="0">
                          <a:solidFill>
                            <a:srgbClr val="C00000"/>
                          </a:solidFill>
                        </a:rPr>
                        <a:t>10 secs</a:t>
                      </a:r>
                      <a:endParaRPr lang="en-GB" b="1" dirty="0">
                        <a:solidFill>
                          <a:srgbClr val="C00000"/>
                        </a:solidFill>
                      </a:endParaRPr>
                    </a:p>
                  </a:txBody>
                  <a:tcPr/>
                </a:tc>
                <a:extLst>
                  <a:ext uri="{0D108BD9-81ED-4DB2-BD59-A6C34878D82A}">
                    <a16:rowId xmlns:a16="http://schemas.microsoft.com/office/drawing/2014/main" val="3908724428"/>
                  </a:ext>
                </a:extLst>
              </a:tr>
            </a:tbl>
          </a:graphicData>
        </a:graphic>
      </p:graphicFrame>
      <p:pic>
        <p:nvPicPr>
          <p:cNvPr id="9" name="Picture 8">
            <a:extLst>
              <a:ext uri="{FF2B5EF4-FFF2-40B4-BE49-F238E27FC236}">
                <a16:creationId xmlns:a16="http://schemas.microsoft.com/office/drawing/2014/main" id="{07E72DFB-44AE-715E-9E13-77F95D64E90E}"/>
              </a:ext>
            </a:extLst>
          </p:cNvPr>
          <p:cNvPicPr>
            <a:picLocks noChangeAspect="1"/>
          </p:cNvPicPr>
          <p:nvPr/>
        </p:nvPicPr>
        <p:blipFill>
          <a:blip r:embed="rId2"/>
          <a:stretch>
            <a:fillRect/>
          </a:stretch>
        </p:blipFill>
        <p:spPr>
          <a:xfrm>
            <a:off x="323850" y="2313567"/>
            <a:ext cx="7744388" cy="2658073"/>
          </a:xfrm>
          <a:prstGeom prst="rect">
            <a:avLst/>
          </a:prstGeom>
        </p:spPr>
      </p:pic>
    </p:spTree>
    <p:extLst>
      <p:ext uri="{BB962C8B-B14F-4D97-AF65-F5344CB8AC3E}">
        <p14:creationId xmlns:p14="http://schemas.microsoft.com/office/powerpoint/2010/main" val="2395526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F85F5-C340-CE1B-F09B-C1AEBB39E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354F9-A2B1-4ABE-AC0E-84EA3099C362}"/>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AC8E862F-3727-48E6-6673-2610DB3FB3D8}"/>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
        <p:nvSpPr>
          <p:cNvPr id="24" name="Content Placeholder 2">
            <a:extLst>
              <a:ext uri="{FF2B5EF4-FFF2-40B4-BE49-F238E27FC236}">
                <a16:creationId xmlns:a16="http://schemas.microsoft.com/office/drawing/2014/main" id="{19261F44-8002-1A6B-BFA1-D8A74A739F09}"/>
              </a:ext>
            </a:extLst>
          </p:cNvPr>
          <p:cNvSpPr txBox="1">
            <a:spLocks/>
          </p:cNvSpPr>
          <p:nvPr/>
        </p:nvSpPr>
        <p:spPr>
          <a:xfrm>
            <a:off x="363894" y="2799527"/>
            <a:ext cx="11313757" cy="4067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000"/>
          </a:p>
          <a:p>
            <a:pPr marL="342900" indent="-342900"/>
            <a:endParaRPr lang="en-US" sz="3000"/>
          </a:p>
          <a:p>
            <a:pPr marL="342900" indent="-342900"/>
            <a:endParaRPr lang="en-US" sz="3000"/>
          </a:p>
          <a:p>
            <a:endParaRPr lang="en-US" sz="3000"/>
          </a:p>
          <a:p>
            <a:endParaRPr lang="en-GB" sz="3000" dirty="0"/>
          </a:p>
        </p:txBody>
      </p:sp>
      <p:sp>
        <p:nvSpPr>
          <p:cNvPr id="4" name="Content Placeholder 2">
            <a:extLst>
              <a:ext uri="{FF2B5EF4-FFF2-40B4-BE49-F238E27FC236}">
                <a16:creationId xmlns:a16="http://schemas.microsoft.com/office/drawing/2014/main" id="{50D4C894-D02B-F5CF-29F2-FA99E857282E}"/>
              </a:ext>
            </a:extLst>
          </p:cNvPr>
          <p:cNvSpPr txBox="1">
            <a:spLocks/>
          </p:cNvSpPr>
          <p:nvPr/>
        </p:nvSpPr>
        <p:spPr bwMode="auto">
          <a:xfrm>
            <a:off x="8748357" y="4482675"/>
            <a:ext cx="4210049" cy="56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endParaRPr lang="en-GB" sz="3000" dirty="0">
              <a:solidFill>
                <a:srgbClr val="FF0000"/>
              </a:solidFill>
            </a:endParaRPr>
          </a:p>
        </p:txBody>
      </p:sp>
      <p:graphicFrame>
        <p:nvGraphicFramePr>
          <p:cNvPr id="7" name="Table 5">
            <a:extLst>
              <a:ext uri="{FF2B5EF4-FFF2-40B4-BE49-F238E27FC236}">
                <a16:creationId xmlns:a16="http://schemas.microsoft.com/office/drawing/2014/main" id="{937A5699-C036-483D-31BE-5D0594560A3A}"/>
              </a:ext>
            </a:extLst>
          </p:cNvPr>
          <p:cNvGraphicFramePr>
            <a:graphicFrameLocks noGrp="1"/>
          </p:cNvGraphicFramePr>
          <p:nvPr>
            <p:extLst>
              <p:ext uri="{D42A27DB-BD31-4B8C-83A1-F6EECF244321}">
                <p14:modId xmlns:p14="http://schemas.microsoft.com/office/powerpoint/2010/main" val="1061057126"/>
              </p:ext>
            </p:extLst>
          </p:nvPr>
        </p:nvGraphicFramePr>
        <p:xfrm>
          <a:off x="3139383" y="5045411"/>
          <a:ext cx="5800129" cy="1747520"/>
        </p:xfrm>
        <a:graphic>
          <a:graphicData uri="http://schemas.openxmlformats.org/drawingml/2006/table">
            <a:tbl>
              <a:tblPr firstRow="1" bandRow="1">
                <a:tableStyleId>{5C22544A-7EE6-4342-B048-85BDC9FD1C3A}</a:tableStyleId>
              </a:tblPr>
              <a:tblGrid>
                <a:gridCol w="1726205">
                  <a:extLst>
                    <a:ext uri="{9D8B030D-6E8A-4147-A177-3AD203B41FA5}">
                      <a16:colId xmlns:a16="http://schemas.microsoft.com/office/drawing/2014/main" val="643936482"/>
                    </a:ext>
                  </a:extLst>
                </a:gridCol>
                <a:gridCol w="1250020">
                  <a:extLst>
                    <a:ext uri="{9D8B030D-6E8A-4147-A177-3AD203B41FA5}">
                      <a16:colId xmlns:a16="http://schemas.microsoft.com/office/drawing/2014/main" val="1543968518"/>
                    </a:ext>
                  </a:extLst>
                </a:gridCol>
                <a:gridCol w="1112102">
                  <a:extLst>
                    <a:ext uri="{9D8B030D-6E8A-4147-A177-3AD203B41FA5}">
                      <a16:colId xmlns:a16="http://schemas.microsoft.com/office/drawing/2014/main" val="3488579508"/>
                    </a:ext>
                  </a:extLst>
                </a:gridCol>
                <a:gridCol w="1711802">
                  <a:extLst>
                    <a:ext uri="{9D8B030D-6E8A-4147-A177-3AD203B41FA5}">
                      <a16:colId xmlns:a16="http://schemas.microsoft.com/office/drawing/2014/main" val="2669911473"/>
                    </a:ext>
                  </a:extLst>
                </a:gridCol>
              </a:tblGrid>
              <a:tr h="370840">
                <a:tc>
                  <a:txBody>
                    <a:bodyPr/>
                    <a:lstStyle/>
                    <a:p>
                      <a:pPr algn="ctr"/>
                      <a:r>
                        <a:rPr lang="en-US" dirty="0"/>
                        <a:t>Learning Model</a:t>
                      </a:r>
                      <a:endParaRPr lang="en-GB" dirty="0"/>
                    </a:p>
                  </a:txBody>
                  <a:tcPr>
                    <a:solidFill>
                      <a:srgbClr val="003E74"/>
                    </a:solidFill>
                  </a:tcPr>
                </a:tc>
                <a:tc>
                  <a:txBody>
                    <a:bodyPr/>
                    <a:lstStyle/>
                    <a:p>
                      <a:pPr algn="ctr"/>
                      <a:r>
                        <a:rPr lang="en-US" dirty="0"/>
                        <a:t>Accuracy</a:t>
                      </a:r>
                      <a:endParaRPr lang="en-GB" dirty="0"/>
                    </a:p>
                  </a:txBody>
                  <a:tcPr>
                    <a:solidFill>
                      <a:srgbClr val="003E74"/>
                    </a:solidFill>
                  </a:tcPr>
                </a:tc>
                <a:tc>
                  <a:txBody>
                    <a:bodyPr/>
                    <a:lstStyle/>
                    <a:p>
                      <a:pPr algn="ctr"/>
                      <a:r>
                        <a:rPr lang="en-US" dirty="0"/>
                        <a:t>Latency</a:t>
                      </a:r>
                      <a:endParaRPr lang="en-GB" dirty="0"/>
                    </a:p>
                  </a:txBody>
                  <a:tcPr>
                    <a:solidFill>
                      <a:srgbClr val="003E74"/>
                    </a:solidFill>
                  </a:tcPr>
                </a:tc>
                <a:tc>
                  <a:txBody>
                    <a:bodyPr/>
                    <a:lstStyle/>
                    <a:p>
                      <a:pPr algn="ctr"/>
                      <a:r>
                        <a:rPr lang="en-US" dirty="0"/>
                        <a:t>Resources Demand</a:t>
                      </a:r>
                      <a:endParaRPr lang="en-GB" dirty="0"/>
                    </a:p>
                  </a:txBody>
                  <a:tcPr>
                    <a:solidFill>
                      <a:srgbClr val="003E74"/>
                    </a:solidFill>
                  </a:tcPr>
                </a:tc>
                <a:extLst>
                  <a:ext uri="{0D108BD9-81ED-4DB2-BD59-A6C34878D82A}">
                    <a16:rowId xmlns:a16="http://schemas.microsoft.com/office/drawing/2014/main" val="89676683"/>
                  </a:ext>
                </a:extLst>
              </a:tr>
              <a:tr h="370840">
                <a:tc>
                  <a:txBody>
                    <a:bodyPr/>
                    <a:lstStyle/>
                    <a:p>
                      <a:r>
                        <a:rPr lang="en-US" b="1" dirty="0">
                          <a:solidFill>
                            <a:srgbClr val="003E74"/>
                          </a:solidFill>
                        </a:rPr>
                        <a:t>Modelv1</a:t>
                      </a:r>
                      <a:endParaRPr lang="en-GB" b="1" dirty="0">
                        <a:solidFill>
                          <a:srgbClr val="003E74"/>
                        </a:solidFill>
                      </a:endParaRPr>
                    </a:p>
                  </a:txBody>
                  <a:tcPr/>
                </a:tc>
                <a:tc>
                  <a:txBody>
                    <a:bodyPr/>
                    <a:lstStyle/>
                    <a:p>
                      <a:r>
                        <a:rPr lang="en-US" b="1" dirty="0">
                          <a:solidFill>
                            <a:srgbClr val="C00000"/>
                          </a:solidFill>
                        </a:rPr>
                        <a:t>88%</a:t>
                      </a:r>
                      <a:endParaRPr lang="en-GB" b="1" dirty="0">
                        <a:solidFill>
                          <a:srgbClr val="C00000"/>
                        </a:solidFill>
                      </a:endParaRPr>
                    </a:p>
                  </a:txBody>
                  <a:tcPr/>
                </a:tc>
                <a:tc>
                  <a:txBody>
                    <a:bodyPr/>
                    <a:lstStyle/>
                    <a:p>
                      <a:r>
                        <a:rPr lang="en-US" b="1" dirty="0">
                          <a:solidFill>
                            <a:srgbClr val="00B050"/>
                          </a:solidFill>
                        </a:rPr>
                        <a:t>3 secs</a:t>
                      </a:r>
                      <a:endParaRPr lang="en-GB" b="1" dirty="0">
                        <a:solidFill>
                          <a:srgbClr val="00B050"/>
                        </a:solidFill>
                      </a:endParaRPr>
                    </a:p>
                  </a:txBody>
                  <a:tcPr/>
                </a:tc>
                <a:tc>
                  <a:txBody>
                    <a:bodyPr/>
                    <a:lstStyle/>
                    <a:p>
                      <a:r>
                        <a:rPr lang="en-US" b="1" dirty="0">
                          <a:solidFill>
                            <a:srgbClr val="00B050"/>
                          </a:solidFill>
                        </a:rPr>
                        <a:t>Low</a:t>
                      </a:r>
                      <a:endParaRPr lang="en-GB" b="1" dirty="0">
                        <a:solidFill>
                          <a:srgbClr val="00B050"/>
                        </a:solidFill>
                      </a:endParaRPr>
                    </a:p>
                  </a:txBody>
                  <a:tcPr/>
                </a:tc>
                <a:extLst>
                  <a:ext uri="{0D108BD9-81ED-4DB2-BD59-A6C34878D82A}">
                    <a16:rowId xmlns:a16="http://schemas.microsoft.com/office/drawing/2014/main" val="445002850"/>
                  </a:ext>
                </a:extLst>
              </a:tr>
              <a:tr h="370840">
                <a:tc>
                  <a:txBody>
                    <a:bodyPr/>
                    <a:lstStyle/>
                    <a:p>
                      <a:r>
                        <a:rPr lang="en-US" b="1" dirty="0">
                          <a:solidFill>
                            <a:srgbClr val="003E74"/>
                          </a:solidFill>
                        </a:rPr>
                        <a:t>Modelv2</a:t>
                      </a:r>
                      <a:endParaRPr lang="en-GB" b="1" dirty="0">
                        <a:solidFill>
                          <a:srgbClr val="003E74"/>
                        </a:solidFill>
                      </a:endParaRPr>
                    </a:p>
                  </a:txBody>
                  <a:tcPr/>
                </a:tc>
                <a:tc>
                  <a:txBody>
                    <a:bodyPr/>
                    <a:lstStyle/>
                    <a:p>
                      <a:r>
                        <a:rPr lang="en-US" b="1" dirty="0">
                          <a:solidFill>
                            <a:srgbClr val="C00000"/>
                          </a:solidFill>
                        </a:rPr>
                        <a:t>90%</a:t>
                      </a:r>
                      <a:endParaRPr lang="en-GB" b="1" dirty="0">
                        <a:solidFill>
                          <a:srgbClr val="C00000"/>
                        </a:solidFill>
                      </a:endParaRPr>
                    </a:p>
                  </a:txBody>
                  <a:tcPr/>
                </a:tc>
                <a:tc>
                  <a:txBody>
                    <a:bodyPr/>
                    <a:lstStyle/>
                    <a:p>
                      <a:r>
                        <a:rPr lang="en-US" b="1" dirty="0">
                          <a:solidFill>
                            <a:srgbClr val="00B050"/>
                          </a:solidFill>
                        </a:rPr>
                        <a:t>4 secs</a:t>
                      </a:r>
                      <a:endParaRPr lang="en-GB" b="1" dirty="0">
                        <a:solidFill>
                          <a:srgbClr val="00B050"/>
                        </a:solidFill>
                      </a:endParaRPr>
                    </a:p>
                  </a:txBody>
                  <a:tcPr/>
                </a:tc>
                <a:tc>
                  <a:txBody>
                    <a:bodyPr/>
                    <a:lstStyle/>
                    <a:p>
                      <a:r>
                        <a:rPr lang="en-US" b="1" dirty="0">
                          <a:solidFill>
                            <a:srgbClr val="00B050"/>
                          </a:solidFill>
                        </a:rPr>
                        <a:t>Medium</a:t>
                      </a:r>
                      <a:endParaRPr lang="en-GB" b="1" dirty="0">
                        <a:solidFill>
                          <a:srgbClr val="00B050"/>
                        </a:solidFill>
                      </a:endParaRPr>
                    </a:p>
                  </a:txBody>
                  <a:tcPr/>
                </a:tc>
                <a:extLst>
                  <a:ext uri="{0D108BD9-81ED-4DB2-BD59-A6C34878D82A}">
                    <a16:rowId xmlns:a16="http://schemas.microsoft.com/office/drawing/2014/main" val="746331468"/>
                  </a:ext>
                </a:extLst>
              </a:tr>
              <a:tr h="159174">
                <a:tc>
                  <a:txBody>
                    <a:bodyPr/>
                    <a:lstStyle/>
                    <a:p>
                      <a:r>
                        <a:rPr lang="en-US" b="1" dirty="0">
                          <a:solidFill>
                            <a:srgbClr val="003E74"/>
                          </a:solidFill>
                        </a:rPr>
                        <a:t>Modelv3</a:t>
                      </a:r>
                      <a:endParaRPr lang="en-GB" b="1" dirty="0">
                        <a:solidFill>
                          <a:srgbClr val="003E74"/>
                        </a:solidFill>
                      </a:endParaRPr>
                    </a:p>
                  </a:txBody>
                  <a:tcPr/>
                </a:tc>
                <a:tc>
                  <a:txBody>
                    <a:bodyPr/>
                    <a:lstStyle/>
                    <a:p>
                      <a:r>
                        <a:rPr lang="en-US" b="1" dirty="0">
                          <a:solidFill>
                            <a:srgbClr val="00B050"/>
                          </a:solidFill>
                        </a:rPr>
                        <a:t>98%</a:t>
                      </a:r>
                      <a:endParaRPr lang="en-GB" b="1" dirty="0">
                        <a:solidFill>
                          <a:srgbClr val="00B050"/>
                        </a:solidFill>
                      </a:endParaRPr>
                    </a:p>
                  </a:txBody>
                  <a:tcPr/>
                </a:tc>
                <a:tc>
                  <a:txBody>
                    <a:bodyPr/>
                    <a:lstStyle/>
                    <a:p>
                      <a:r>
                        <a:rPr lang="en-US" b="1" dirty="0">
                          <a:solidFill>
                            <a:srgbClr val="C00000"/>
                          </a:solidFill>
                        </a:rPr>
                        <a:t>10 secs</a:t>
                      </a:r>
                      <a:endParaRPr lang="en-GB" b="1" dirty="0">
                        <a:solidFill>
                          <a:srgbClr val="C00000"/>
                        </a:solidFill>
                      </a:endParaRPr>
                    </a:p>
                  </a:txBody>
                  <a:tcPr/>
                </a:tc>
                <a:tc>
                  <a:txBody>
                    <a:bodyPr/>
                    <a:lstStyle/>
                    <a:p>
                      <a:r>
                        <a:rPr lang="en-US" b="1" dirty="0">
                          <a:solidFill>
                            <a:srgbClr val="C00000"/>
                          </a:solidFill>
                        </a:rPr>
                        <a:t>High</a:t>
                      </a:r>
                      <a:endParaRPr lang="en-GB" b="1" dirty="0">
                        <a:solidFill>
                          <a:srgbClr val="C00000"/>
                        </a:solidFill>
                      </a:endParaRPr>
                    </a:p>
                  </a:txBody>
                  <a:tcPr/>
                </a:tc>
                <a:extLst>
                  <a:ext uri="{0D108BD9-81ED-4DB2-BD59-A6C34878D82A}">
                    <a16:rowId xmlns:a16="http://schemas.microsoft.com/office/drawing/2014/main" val="3908724428"/>
                  </a:ext>
                </a:extLst>
              </a:tr>
            </a:tbl>
          </a:graphicData>
        </a:graphic>
      </p:graphicFrame>
      <p:pic>
        <p:nvPicPr>
          <p:cNvPr id="9" name="Picture 8">
            <a:extLst>
              <a:ext uri="{FF2B5EF4-FFF2-40B4-BE49-F238E27FC236}">
                <a16:creationId xmlns:a16="http://schemas.microsoft.com/office/drawing/2014/main" id="{2BC4E61A-13F4-063A-70A4-32C2741446D3}"/>
              </a:ext>
            </a:extLst>
          </p:cNvPr>
          <p:cNvPicPr>
            <a:picLocks noChangeAspect="1"/>
          </p:cNvPicPr>
          <p:nvPr/>
        </p:nvPicPr>
        <p:blipFill>
          <a:blip r:embed="rId2"/>
          <a:stretch>
            <a:fillRect/>
          </a:stretch>
        </p:blipFill>
        <p:spPr>
          <a:xfrm>
            <a:off x="323850" y="2313567"/>
            <a:ext cx="7744388" cy="2658073"/>
          </a:xfrm>
          <a:prstGeom prst="rect">
            <a:avLst/>
          </a:prstGeom>
        </p:spPr>
      </p:pic>
      <p:sp>
        <p:nvSpPr>
          <p:cNvPr id="10" name="Content Placeholder 2">
            <a:extLst>
              <a:ext uri="{FF2B5EF4-FFF2-40B4-BE49-F238E27FC236}">
                <a16:creationId xmlns:a16="http://schemas.microsoft.com/office/drawing/2014/main" id="{F5A203D5-13BF-ACC0-86D1-27BB9AD2BD94}"/>
              </a:ext>
            </a:extLst>
          </p:cNvPr>
          <p:cNvSpPr txBox="1">
            <a:spLocks/>
          </p:cNvSpPr>
          <p:nvPr/>
        </p:nvSpPr>
        <p:spPr bwMode="auto">
          <a:xfrm>
            <a:off x="8446169" y="2784244"/>
            <a:ext cx="3745832" cy="2004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FF0000"/>
                </a:solidFill>
              </a:rPr>
              <a:t>* Low latency requirement!</a:t>
            </a:r>
          </a:p>
          <a:p>
            <a:r>
              <a:rPr lang="en-US" sz="3000" b="1" dirty="0">
                <a:solidFill>
                  <a:srgbClr val="FF0000"/>
                </a:solidFill>
              </a:rPr>
              <a:t>    (&lt; 5secs)</a:t>
            </a:r>
          </a:p>
          <a:p>
            <a:r>
              <a:rPr lang="en-US" sz="3000" b="1" dirty="0">
                <a:solidFill>
                  <a:srgbClr val="FF0000"/>
                </a:solidFill>
              </a:rPr>
              <a:t>*Constraint resources.</a:t>
            </a:r>
          </a:p>
          <a:p>
            <a:pPr marL="457200" indent="-457200">
              <a:buFont typeface="Arial" panose="020B0604020202020204" pitchFamily="34" charset="0"/>
              <a:buChar char="•"/>
            </a:pPr>
            <a:endParaRPr lang="en-GB" sz="3000" dirty="0">
              <a:solidFill>
                <a:srgbClr val="FF0000"/>
              </a:solidFill>
            </a:endParaRPr>
          </a:p>
        </p:txBody>
      </p:sp>
    </p:spTree>
    <p:extLst>
      <p:ext uri="{BB962C8B-B14F-4D97-AF65-F5344CB8AC3E}">
        <p14:creationId xmlns:p14="http://schemas.microsoft.com/office/powerpoint/2010/main" val="2442442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C20D2-FC23-3107-4F0F-05991C1D3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30D10-C36E-C491-7D40-0DD8D271B12A}"/>
              </a:ext>
            </a:extLst>
          </p:cNvPr>
          <p:cNvSpPr>
            <a:spLocks noGrp="1"/>
          </p:cNvSpPr>
          <p:nvPr>
            <p:ph type="title"/>
          </p:nvPr>
        </p:nvSpPr>
        <p:spPr/>
        <p:txBody>
          <a:bodyPr/>
          <a:lstStyle/>
          <a:p>
            <a:r>
              <a:rPr lang="en-US" b="1" dirty="0">
                <a:solidFill>
                  <a:schemeClr val="tx2">
                    <a:lumMod val="75000"/>
                    <a:lumOff val="25000"/>
                  </a:schemeClr>
                </a:solidFill>
              </a:rPr>
              <a:t>Context</a:t>
            </a:r>
            <a:endParaRPr lang="en-GB" b="1" dirty="0">
              <a:solidFill>
                <a:schemeClr val="tx2">
                  <a:lumMod val="75000"/>
                  <a:lumOff val="25000"/>
                </a:schemeClr>
              </a:solidFill>
            </a:endParaRPr>
          </a:p>
        </p:txBody>
      </p:sp>
      <p:sp>
        <p:nvSpPr>
          <p:cNvPr id="4" name="Content Placeholder 2">
            <a:extLst>
              <a:ext uri="{FF2B5EF4-FFF2-40B4-BE49-F238E27FC236}">
                <a16:creationId xmlns:a16="http://schemas.microsoft.com/office/drawing/2014/main" id="{3DE51E65-D897-98D1-7C66-2FC8197868B7}"/>
              </a:ext>
            </a:extLst>
          </p:cNvPr>
          <p:cNvSpPr txBox="1">
            <a:spLocks/>
          </p:cNvSpPr>
          <p:nvPr/>
        </p:nvSpPr>
        <p:spPr bwMode="auto">
          <a:xfrm>
            <a:off x="8748357" y="4482675"/>
            <a:ext cx="4210049" cy="56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endParaRPr lang="en-GB" sz="3000" dirty="0">
              <a:solidFill>
                <a:srgbClr val="FF0000"/>
              </a:solidFill>
            </a:endParaRPr>
          </a:p>
        </p:txBody>
      </p:sp>
      <p:pic>
        <p:nvPicPr>
          <p:cNvPr id="1026" name="Picture 2">
            <a:extLst>
              <a:ext uri="{FF2B5EF4-FFF2-40B4-BE49-F238E27FC236}">
                <a16:creationId xmlns:a16="http://schemas.microsoft.com/office/drawing/2014/main" id="{D20EBCAB-721A-2754-D028-6336D1D3ED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642" y="1533770"/>
            <a:ext cx="5496095" cy="365490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D9B4D9C-5CB0-808D-608A-2E9FF36E0E93}"/>
              </a:ext>
            </a:extLst>
          </p:cNvPr>
          <p:cNvSpPr txBox="1"/>
          <p:nvPr/>
        </p:nvSpPr>
        <p:spPr>
          <a:xfrm>
            <a:off x="683642" y="5188673"/>
            <a:ext cx="4841278" cy="646331"/>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3"/>
              </a:rPr>
              <a:t>https://commons.wikimedia.org/wiki/File:NP_coffee_cooperative_%285867722870%29.jpg</a:t>
            </a:r>
            <a:r>
              <a:rPr lang="en-GB" sz="1200" dirty="0">
                <a:solidFill>
                  <a:srgbClr val="003E74"/>
                </a:solidFill>
              </a:rPr>
              <a:t> </a:t>
            </a:r>
            <a:endParaRPr lang="en-GB" sz="1200" dirty="0"/>
          </a:p>
        </p:txBody>
      </p:sp>
      <p:pic>
        <p:nvPicPr>
          <p:cNvPr id="13" name="Picture 12" descr="A group of women sitting in a room&#10;&#10;Description automatically generated">
            <a:extLst>
              <a:ext uri="{FF2B5EF4-FFF2-40B4-BE49-F238E27FC236}">
                <a16:creationId xmlns:a16="http://schemas.microsoft.com/office/drawing/2014/main" id="{EA3C9EFD-3418-6B90-657B-EF2B163179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5323" y="2758342"/>
            <a:ext cx="6048744" cy="3429000"/>
          </a:xfrm>
          <a:prstGeom prst="rect">
            <a:avLst/>
          </a:prstGeom>
        </p:spPr>
      </p:pic>
      <p:sp>
        <p:nvSpPr>
          <p:cNvPr id="14" name="TextBox 13">
            <a:extLst>
              <a:ext uri="{FF2B5EF4-FFF2-40B4-BE49-F238E27FC236}">
                <a16:creationId xmlns:a16="http://schemas.microsoft.com/office/drawing/2014/main" id="{0B6A0910-2B66-50C6-8219-C0B5323207BD}"/>
              </a:ext>
            </a:extLst>
          </p:cNvPr>
          <p:cNvSpPr txBox="1"/>
          <p:nvPr/>
        </p:nvSpPr>
        <p:spPr>
          <a:xfrm>
            <a:off x="5955323" y="6201836"/>
            <a:ext cx="4841278" cy="646331"/>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5"/>
              </a:rPr>
              <a:t>https://www.flickr.com/photos/scottishgovernment/23657582298/in/photostream/</a:t>
            </a:r>
            <a:r>
              <a:rPr lang="en-GB" sz="1200" dirty="0">
                <a:solidFill>
                  <a:srgbClr val="003E74"/>
                </a:solidFill>
              </a:rPr>
              <a:t>  </a:t>
            </a:r>
            <a:endParaRPr lang="en-GB" sz="1200" dirty="0"/>
          </a:p>
        </p:txBody>
      </p:sp>
      <p:sp>
        <p:nvSpPr>
          <p:cNvPr id="3" name="TextBox 2">
            <a:extLst>
              <a:ext uri="{FF2B5EF4-FFF2-40B4-BE49-F238E27FC236}">
                <a16:creationId xmlns:a16="http://schemas.microsoft.com/office/drawing/2014/main" id="{EB3DF2E5-5945-42DF-136F-3C96074AF8A6}"/>
              </a:ext>
            </a:extLst>
          </p:cNvPr>
          <p:cNvSpPr txBox="1"/>
          <p:nvPr/>
        </p:nvSpPr>
        <p:spPr>
          <a:xfrm>
            <a:off x="7025789" y="1427349"/>
            <a:ext cx="4328011" cy="1200329"/>
          </a:xfrm>
          <a:prstGeom prst="rect">
            <a:avLst/>
          </a:prstGeom>
          <a:noFill/>
        </p:spPr>
        <p:txBody>
          <a:bodyPr wrap="square">
            <a:spAutoFit/>
          </a:bodyPr>
          <a:lstStyle/>
          <a:p>
            <a:r>
              <a:rPr lang="en-US" sz="2400" b="1" dirty="0">
                <a:solidFill>
                  <a:srgbClr val="C00000"/>
                </a:solidFill>
              </a:rPr>
              <a:t>What do people need?</a:t>
            </a:r>
          </a:p>
          <a:p>
            <a:r>
              <a:rPr lang="en-US" sz="2400" b="1" dirty="0">
                <a:solidFill>
                  <a:srgbClr val="C00000"/>
                </a:solidFill>
              </a:rPr>
              <a:t>What are the social problems data science can help with?</a:t>
            </a:r>
          </a:p>
        </p:txBody>
      </p:sp>
    </p:spTree>
    <p:extLst>
      <p:ext uri="{BB962C8B-B14F-4D97-AF65-F5344CB8AC3E}">
        <p14:creationId xmlns:p14="http://schemas.microsoft.com/office/powerpoint/2010/main" val="4043856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53F69-1484-5368-D1FD-A12A0B45E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077D5-76B8-D49E-4498-A1D31D1E7378}"/>
              </a:ext>
            </a:extLst>
          </p:cNvPr>
          <p:cNvSpPr>
            <a:spLocks noGrp="1"/>
          </p:cNvSpPr>
          <p:nvPr>
            <p:ph type="title"/>
          </p:nvPr>
        </p:nvSpPr>
        <p:spPr/>
        <p:txBody>
          <a:bodyPr/>
          <a:lstStyle/>
          <a:p>
            <a:r>
              <a:rPr lang="en-US" b="1" dirty="0">
                <a:solidFill>
                  <a:schemeClr val="tx2">
                    <a:lumMod val="75000"/>
                    <a:lumOff val="25000"/>
                  </a:schemeClr>
                </a:solidFill>
              </a:rPr>
              <a:t>Technology Adoption</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1E952830-44D2-E4A5-54C9-9C97F635FB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819" b="20358"/>
          <a:stretch/>
        </p:blipFill>
        <p:spPr bwMode="auto">
          <a:xfrm>
            <a:off x="507414" y="2625213"/>
            <a:ext cx="11177171" cy="237940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2C686D0-9D5D-A88B-0D39-C61D4F13EA35}"/>
              </a:ext>
            </a:extLst>
          </p:cNvPr>
          <p:cNvSpPr/>
          <p:nvPr/>
        </p:nvSpPr>
        <p:spPr>
          <a:xfrm>
            <a:off x="4581832" y="2625213"/>
            <a:ext cx="3106994" cy="269403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4131981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6F0BE-8AD5-4C75-04B5-5C3C06E3E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92593-AF90-70E3-FF1A-81D3D981AED3}"/>
              </a:ext>
            </a:extLst>
          </p:cNvPr>
          <p:cNvSpPr>
            <a:spLocks noGrp="1"/>
          </p:cNvSpPr>
          <p:nvPr>
            <p:ph type="title"/>
          </p:nvPr>
        </p:nvSpPr>
        <p:spPr/>
        <p:txBody>
          <a:bodyPr/>
          <a:lstStyle/>
          <a:p>
            <a:r>
              <a:rPr lang="en-US" b="1" dirty="0">
                <a:solidFill>
                  <a:schemeClr val="tx2">
                    <a:lumMod val="75000"/>
                    <a:lumOff val="25000"/>
                  </a:schemeClr>
                </a:solidFill>
              </a:rPr>
              <a:t>Technology Adoption</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333EBF9E-E3A3-0963-47F9-D066F4DDE7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819" b="20358"/>
          <a:stretch/>
        </p:blipFill>
        <p:spPr bwMode="auto">
          <a:xfrm>
            <a:off x="507414" y="2625213"/>
            <a:ext cx="11177171" cy="2379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845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3487E-47E0-ABED-B6B3-956C9E2C4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B5BFB-E52E-8E4F-F7D2-BDA60656BD2C}"/>
              </a:ext>
            </a:extLst>
          </p:cNvPr>
          <p:cNvSpPr>
            <a:spLocks noGrp="1"/>
          </p:cNvSpPr>
          <p:nvPr>
            <p:ph type="title"/>
          </p:nvPr>
        </p:nvSpPr>
        <p:spPr/>
        <p:txBody>
          <a:bodyPr/>
          <a:lstStyle/>
          <a:p>
            <a:r>
              <a:rPr lang="en-US" b="1" dirty="0">
                <a:solidFill>
                  <a:schemeClr val="tx2">
                    <a:lumMod val="75000"/>
                    <a:lumOff val="25000"/>
                  </a:schemeClr>
                </a:solidFill>
              </a:rPr>
              <a:t>Technology Adoption</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446BA8A0-9982-768B-AC2B-E019F11701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0610"/>
          <a:stretch/>
        </p:blipFill>
        <p:spPr bwMode="auto">
          <a:xfrm>
            <a:off x="507414" y="1889023"/>
            <a:ext cx="11177171" cy="3105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87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87501-68BD-945F-E216-7038F65B9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2EB89D-9FE6-C74D-005B-0FB4EEF1E004}"/>
              </a:ext>
            </a:extLst>
          </p:cNvPr>
          <p:cNvSpPr>
            <a:spLocks noGrp="1"/>
          </p:cNvSpPr>
          <p:nvPr>
            <p:ph type="title"/>
          </p:nvPr>
        </p:nvSpPr>
        <p:spPr/>
        <p:txBody>
          <a:bodyPr/>
          <a:lstStyle/>
          <a:p>
            <a:r>
              <a:rPr lang="en-US" b="1" dirty="0">
                <a:solidFill>
                  <a:schemeClr val="tx2">
                    <a:lumMod val="75000"/>
                    <a:lumOff val="25000"/>
                  </a:schemeClr>
                </a:solidFill>
              </a:rPr>
              <a:t>Technology Adoption</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C786B61A-3A27-981B-3C67-605412CAA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414" y="1889023"/>
            <a:ext cx="11177171" cy="3912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456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6F8EE-95C7-3FCA-18AA-56405DBCE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722C7-5A92-67D1-28E2-534CDE90C4C8}"/>
              </a:ext>
            </a:extLst>
          </p:cNvPr>
          <p:cNvSpPr>
            <a:spLocks noGrp="1"/>
          </p:cNvSpPr>
          <p:nvPr>
            <p:ph type="title"/>
          </p:nvPr>
        </p:nvSpPr>
        <p:spPr/>
        <p:txBody>
          <a:bodyPr/>
          <a:lstStyle/>
          <a:p>
            <a:r>
              <a:rPr lang="en-US" b="1" dirty="0">
                <a:solidFill>
                  <a:schemeClr val="tx2">
                    <a:lumMod val="75000"/>
                    <a:lumOff val="25000"/>
                  </a:schemeClr>
                </a:solidFill>
              </a:rPr>
              <a:t>How do we engineer software systems?</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A7FC2DF2-5D35-F3EA-378A-A314F492D6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092" t="20327" r="39092" b="19604"/>
          <a:stretch/>
        </p:blipFill>
        <p:spPr bwMode="auto">
          <a:xfrm>
            <a:off x="1219201" y="2192591"/>
            <a:ext cx="3366829" cy="324464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F6B9886-A208-BCBD-A143-B59885FBEF8C}"/>
              </a:ext>
            </a:extLst>
          </p:cNvPr>
          <p:cNvSpPr>
            <a:spLocks noGrp="1"/>
          </p:cNvSpPr>
          <p:nvPr>
            <p:ph idx="1"/>
          </p:nvPr>
        </p:nvSpPr>
        <p:spPr>
          <a:xfrm>
            <a:off x="5152104" y="1825625"/>
            <a:ext cx="6201696" cy="4351338"/>
          </a:xfrm>
        </p:spPr>
        <p:txBody>
          <a:bodyPr>
            <a:normAutofit/>
          </a:bodyPr>
          <a:lstStyle/>
          <a:p>
            <a:pPr marL="0" indent="0">
              <a:buNone/>
            </a:pPr>
            <a:r>
              <a:rPr lang="en-US" b="1" dirty="0">
                <a:solidFill>
                  <a:schemeClr val="tx2">
                    <a:lumMod val="75000"/>
                    <a:lumOff val="25000"/>
                  </a:schemeClr>
                </a:solidFill>
              </a:rPr>
              <a:t>The Systems Engineering Approach</a:t>
            </a:r>
          </a:p>
          <a:p>
            <a:endParaRPr lang="en-US" b="1" dirty="0">
              <a:solidFill>
                <a:schemeClr val="tx2">
                  <a:lumMod val="75000"/>
                  <a:lumOff val="25000"/>
                </a:schemeClr>
              </a:solidFill>
            </a:endParaRPr>
          </a:p>
          <a:p>
            <a:r>
              <a:rPr lang="en-US" dirty="0">
                <a:solidFill>
                  <a:schemeClr val="tx2">
                    <a:lumMod val="75000"/>
                    <a:lumOff val="25000"/>
                  </a:schemeClr>
                </a:solidFill>
              </a:rPr>
              <a:t>Problem first</a:t>
            </a:r>
          </a:p>
          <a:p>
            <a:pPr lvl="1"/>
            <a:r>
              <a:rPr lang="en-US" dirty="0">
                <a:solidFill>
                  <a:schemeClr val="tx2">
                    <a:lumMod val="75000"/>
                    <a:lumOff val="25000"/>
                  </a:schemeClr>
                </a:solidFill>
              </a:rPr>
              <a:t>Why is this problem important?</a:t>
            </a:r>
          </a:p>
          <a:p>
            <a:pPr lvl="1"/>
            <a:r>
              <a:rPr lang="en-US" dirty="0">
                <a:solidFill>
                  <a:schemeClr val="tx2">
                    <a:lumMod val="75000"/>
                    <a:lumOff val="25000"/>
                  </a:schemeClr>
                </a:solidFill>
              </a:rPr>
              <a:t>What are the people needs?</a:t>
            </a:r>
          </a:p>
          <a:p>
            <a:pPr lvl="1"/>
            <a:r>
              <a:rPr lang="en-US" dirty="0">
                <a:solidFill>
                  <a:schemeClr val="tx2">
                    <a:lumMod val="75000"/>
                    <a:lumOff val="25000"/>
                  </a:schemeClr>
                </a:solidFill>
              </a:rPr>
              <a:t>Which are the problem constraints?</a:t>
            </a:r>
          </a:p>
          <a:p>
            <a:pPr lvl="1"/>
            <a:r>
              <a:rPr lang="en-US" dirty="0">
                <a:solidFill>
                  <a:schemeClr val="tx2">
                    <a:lumMod val="75000"/>
                    <a:lumOff val="25000"/>
                  </a:schemeClr>
                </a:solidFill>
              </a:rPr>
              <a:t>What are the important variables to consider?</a:t>
            </a:r>
          </a:p>
          <a:p>
            <a:pPr lvl="1"/>
            <a:r>
              <a:rPr lang="en-US" dirty="0">
                <a:solidFill>
                  <a:schemeClr val="tx2">
                    <a:lumMod val="75000"/>
                    <a:lumOff val="25000"/>
                  </a:schemeClr>
                </a:solidFill>
              </a:rPr>
              <a:t>…</a:t>
            </a: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Tree>
    <p:extLst>
      <p:ext uri="{BB962C8B-B14F-4D97-AF65-F5344CB8AC3E}">
        <p14:creationId xmlns:p14="http://schemas.microsoft.com/office/powerpoint/2010/main" val="3282713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9F156-105B-8E4D-4B7D-DC2B5229C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8F5AE-ED7D-2DB7-97C9-24A9B2AF4D3D}"/>
              </a:ext>
            </a:extLst>
          </p:cNvPr>
          <p:cNvSpPr>
            <a:spLocks noGrp="1"/>
          </p:cNvSpPr>
          <p:nvPr>
            <p:ph type="title"/>
          </p:nvPr>
        </p:nvSpPr>
        <p:spPr/>
        <p:txBody>
          <a:bodyPr/>
          <a:lstStyle/>
          <a:p>
            <a:r>
              <a:rPr lang="en-US" b="1" dirty="0">
                <a:solidFill>
                  <a:schemeClr val="tx2">
                    <a:lumMod val="75000"/>
                    <a:lumOff val="25000"/>
                  </a:schemeClr>
                </a:solidFill>
              </a:rPr>
              <a:t>How do we engineer software systems?</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00676FDB-7A77-1BCA-B3ED-92CB518E2C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092" t="20327" r="39092" b="19604"/>
          <a:stretch/>
        </p:blipFill>
        <p:spPr bwMode="auto">
          <a:xfrm>
            <a:off x="1219201" y="2192591"/>
            <a:ext cx="3366829" cy="324464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FBBACE9-65A1-126D-928C-6B6BD49406D6}"/>
              </a:ext>
            </a:extLst>
          </p:cNvPr>
          <p:cNvSpPr>
            <a:spLocks noGrp="1"/>
          </p:cNvSpPr>
          <p:nvPr>
            <p:ph idx="1"/>
          </p:nvPr>
        </p:nvSpPr>
        <p:spPr>
          <a:xfrm>
            <a:off x="5152104" y="1825625"/>
            <a:ext cx="6201696" cy="4351338"/>
          </a:xfrm>
        </p:spPr>
        <p:txBody>
          <a:bodyPr>
            <a:normAutofit/>
          </a:bodyPr>
          <a:lstStyle/>
          <a:p>
            <a:pPr marL="0" indent="0">
              <a:buNone/>
            </a:pPr>
            <a:r>
              <a:rPr lang="en-US" b="1" dirty="0">
                <a:solidFill>
                  <a:schemeClr val="tx2">
                    <a:lumMod val="75000"/>
                    <a:lumOff val="25000"/>
                  </a:schemeClr>
                </a:solidFill>
              </a:rPr>
              <a:t>The Systems Engineering Approach</a:t>
            </a:r>
          </a:p>
          <a:p>
            <a:endParaRPr lang="en-US" b="1" dirty="0">
              <a:solidFill>
                <a:schemeClr val="tx2">
                  <a:lumMod val="75000"/>
                  <a:lumOff val="25000"/>
                </a:schemeClr>
              </a:solidFill>
            </a:endParaRPr>
          </a:p>
          <a:p>
            <a:r>
              <a:rPr lang="en-US" dirty="0">
                <a:solidFill>
                  <a:schemeClr val="tx2">
                    <a:lumMod val="75000"/>
                    <a:lumOff val="25000"/>
                  </a:schemeClr>
                </a:solidFill>
              </a:rPr>
              <a:t>Engineering Principles</a:t>
            </a:r>
          </a:p>
          <a:p>
            <a:pPr lvl="1"/>
            <a:endParaRPr lang="en-US" dirty="0">
              <a:solidFill>
                <a:schemeClr val="tx2">
                  <a:lumMod val="75000"/>
                  <a:lumOff val="25000"/>
                </a:schemeClr>
              </a:solidFill>
            </a:endParaRPr>
          </a:p>
          <a:p>
            <a:pPr lvl="1"/>
            <a:r>
              <a:rPr lang="en-US" dirty="0">
                <a:solidFill>
                  <a:schemeClr val="tx2">
                    <a:lumMod val="75000"/>
                    <a:lumOff val="25000"/>
                  </a:schemeClr>
                </a:solidFill>
              </a:rPr>
              <a:t>Systems Thinking</a:t>
            </a:r>
          </a:p>
          <a:p>
            <a:pPr lvl="1"/>
            <a:endParaRPr lang="en-US" dirty="0">
              <a:solidFill>
                <a:schemeClr val="tx2">
                  <a:lumMod val="75000"/>
                  <a:lumOff val="25000"/>
                </a:schemeClr>
              </a:solidFill>
            </a:endParaRPr>
          </a:p>
          <a:p>
            <a:pPr lvl="1"/>
            <a:r>
              <a:rPr lang="en-US" dirty="0">
                <a:solidFill>
                  <a:schemeClr val="tx2">
                    <a:lumMod val="75000"/>
                    <a:lumOff val="25000"/>
                  </a:schemeClr>
                </a:solidFill>
              </a:rPr>
              <a:t>Process Model</a:t>
            </a:r>
          </a:p>
          <a:p>
            <a:endParaRPr lang="en-US" dirty="0">
              <a:solidFill>
                <a:schemeClr val="tx2">
                  <a:lumMod val="75000"/>
                  <a:lumOff val="25000"/>
                </a:schemeClr>
              </a:solidFill>
            </a:endParaRPr>
          </a:p>
        </p:txBody>
      </p:sp>
    </p:spTree>
    <p:extLst>
      <p:ext uri="{BB962C8B-B14F-4D97-AF65-F5344CB8AC3E}">
        <p14:creationId xmlns:p14="http://schemas.microsoft.com/office/powerpoint/2010/main" val="2186831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E3997-5669-D38D-6D12-2AF0D651A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2D2F6-6E2C-8A18-E486-233198E443B7}"/>
              </a:ext>
            </a:extLst>
          </p:cNvPr>
          <p:cNvSpPr>
            <a:spLocks noGrp="1"/>
          </p:cNvSpPr>
          <p:nvPr>
            <p:ph type="title"/>
          </p:nvPr>
        </p:nvSpPr>
        <p:spPr/>
        <p:txBody>
          <a:bodyPr/>
          <a:lstStyle/>
          <a:p>
            <a:r>
              <a:rPr lang="en-US" b="1" dirty="0">
                <a:solidFill>
                  <a:schemeClr val="tx2">
                    <a:lumMod val="75000"/>
                    <a:lumOff val="25000"/>
                  </a:schemeClr>
                </a:solidFill>
              </a:rPr>
              <a:t>How do we engineer software systems?</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4F49AC32-4DF7-6A4B-DF71-0C44F91E4C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092" t="20327" r="39092" b="19604"/>
          <a:stretch/>
        </p:blipFill>
        <p:spPr bwMode="auto">
          <a:xfrm>
            <a:off x="1219201" y="2192591"/>
            <a:ext cx="3366829" cy="324464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2A0DC92-F8A9-B08C-57F4-784406FBB80B}"/>
              </a:ext>
            </a:extLst>
          </p:cNvPr>
          <p:cNvSpPr>
            <a:spLocks noGrp="1"/>
          </p:cNvSpPr>
          <p:nvPr>
            <p:ph idx="1"/>
          </p:nvPr>
        </p:nvSpPr>
        <p:spPr>
          <a:xfrm>
            <a:off x="5152104" y="1825625"/>
            <a:ext cx="6201696" cy="4351338"/>
          </a:xfrm>
        </p:spPr>
        <p:txBody>
          <a:bodyPr>
            <a:normAutofit lnSpcReduction="10000"/>
          </a:bodyPr>
          <a:lstStyle/>
          <a:p>
            <a:pPr marL="0" indent="0">
              <a:buNone/>
            </a:pPr>
            <a:r>
              <a:rPr lang="en-US" b="1" dirty="0">
                <a:solidFill>
                  <a:schemeClr val="tx2">
                    <a:lumMod val="75000"/>
                    <a:lumOff val="25000"/>
                  </a:schemeClr>
                </a:solidFill>
              </a:rPr>
              <a:t>Systems Thinking</a:t>
            </a:r>
          </a:p>
          <a:p>
            <a:endParaRPr lang="en-US" b="1" dirty="0">
              <a:solidFill>
                <a:schemeClr val="tx2">
                  <a:lumMod val="75000"/>
                  <a:lumOff val="25000"/>
                </a:schemeClr>
              </a:solidFill>
            </a:endParaRPr>
          </a:p>
          <a:p>
            <a:r>
              <a:rPr lang="en-US" dirty="0">
                <a:solidFill>
                  <a:schemeClr val="tx2">
                    <a:lumMod val="75000"/>
                    <a:lumOff val="25000"/>
                  </a:schemeClr>
                </a:solidFill>
              </a:rPr>
              <a:t>System Views: Defining problems from different perspectives.</a:t>
            </a:r>
          </a:p>
          <a:p>
            <a:endParaRPr lang="en-US" dirty="0">
              <a:solidFill>
                <a:schemeClr val="tx2">
                  <a:lumMod val="75000"/>
                  <a:lumOff val="25000"/>
                </a:schemeClr>
              </a:solidFill>
            </a:endParaRPr>
          </a:p>
          <a:p>
            <a:r>
              <a:rPr lang="en-US" dirty="0">
                <a:solidFill>
                  <a:schemeClr val="tx2">
                    <a:lumMod val="75000"/>
                    <a:lumOff val="25000"/>
                  </a:schemeClr>
                </a:solidFill>
              </a:rPr>
              <a:t>Agility System: Defining flexible systems architectures.</a:t>
            </a:r>
          </a:p>
          <a:p>
            <a:endParaRPr lang="en-US" dirty="0">
              <a:solidFill>
                <a:schemeClr val="tx2">
                  <a:lumMod val="75000"/>
                  <a:lumOff val="25000"/>
                </a:schemeClr>
              </a:solidFill>
            </a:endParaRPr>
          </a:p>
          <a:p>
            <a:r>
              <a:rPr lang="en-US" dirty="0">
                <a:solidFill>
                  <a:schemeClr val="tx2">
                    <a:lumMod val="75000"/>
                    <a:lumOff val="25000"/>
                  </a:schemeClr>
                </a:solidFill>
              </a:rPr>
              <a:t>System Dynamics: Modelling the changing nature of systems.</a:t>
            </a:r>
          </a:p>
        </p:txBody>
      </p:sp>
    </p:spTree>
    <p:extLst>
      <p:ext uri="{BB962C8B-B14F-4D97-AF65-F5344CB8AC3E}">
        <p14:creationId xmlns:p14="http://schemas.microsoft.com/office/powerpoint/2010/main" val="3540502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94C6B-F96A-1ACB-4D4B-E5C86E22C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004EB-6CAA-86C8-BB1C-56DC679CD095}"/>
              </a:ext>
            </a:extLst>
          </p:cNvPr>
          <p:cNvSpPr>
            <a:spLocks noGrp="1"/>
          </p:cNvSpPr>
          <p:nvPr>
            <p:ph type="title"/>
          </p:nvPr>
        </p:nvSpPr>
        <p:spPr/>
        <p:txBody>
          <a:bodyPr/>
          <a:lstStyle/>
          <a:p>
            <a:r>
              <a:rPr lang="en-US" b="1" dirty="0">
                <a:solidFill>
                  <a:schemeClr val="tx2">
                    <a:lumMod val="75000"/>
                    <a:lumOff val="25000"/>
                  </a:schemeClr>
                </a:solidFill>
              </a:rPr>
              <a:t>How do we engineer software systems?</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C7EA0AC0-8894-D94A-4865-818AF4F493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092" t="20327" r="39092" b="19604"/>
          <a:stretch/>
        </p:blipFill>
        <p:spPr bwMode="auto">
          <a:xfrm>
            <a:off x="1219201" y="2192591"/>
            <a:ext cx="3366829" cy="324464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2062713-57A6-DE6D-3A37-5CEF9364093C}"/>
              </a:ext>
            </a:extLst>
          </p:cNvPr>
          <p:cNvSpPr>
            <a:spLocks noGrp="1"/>
          </p:cNvSpPr>
          <p:nvPr>
            <p:ph idx="1"/>
          </p:nvPr>
        </p:nvSpPr>
        <p:spPr>
          <a:xfrm>
            <a:off x="5152104" y="1825625"/>
            <a:ext cx="6201696" cy="4351338"/>
          </a:xfrm>
        </p:spPr>
        <p:txBody>
          <a:bodyPr>
            <a:normAutofit lnSpcReduction="10000"/>
          </a:bodyPr>
          <a:lstStyle/>
          <a:p>
            <a:pPr marL="0" indent="0">
              <a:buNone/>
            </a:pPr>
            <a:r>
              <a:rPr lang="en-US" b="1" dirty="0">
                <a:solidFill>
                  <a:schemeClr val="tx2">
                    <a:lumMod val="75000"/>
                    <a:lumOff val="25000"/>
                  </a:schemeClr>
                </a:solidFill>
              </a:rPr>
              <a:t>Process Model</a:t>
            </a:r>
          </a:p>
          <a:p>
            <a:endParaRPr lang="en-US" b="1" dirty="0">
              <a:solidFill>
                <a:schemeClr val="tx2">
                  <a:lumMod val="75000"/>
                  <a:lumOff val="25000"/>
                </a:schemeClr>
              </a:solidFill>
            </a:endParaRPr>
          </a:p>
          <a:p>
            <a:r>
              <a:rPr lang="en-US" dirty="0">
                <a:solidFill>
                  <a:schemeClr val="tx2">
                    <a:lumMod val="75000"/>
                    <a:lumOff val="25000"/>
                  </a:schemeClr>
                </a:solidFill>
              </a:rPr>
              <a:t>Top-Down Analysis: Divide and conquer. Problem decomposition.</a:t>
            </a:r>
          </a:p>
          <a:p>
            <a:endParaRPr lang="en-US" dirty="0">
              <a:solidFill>
                <a:schemeClr val="tx2">
                  <a:lumMod val="75000"/>
                  <a:lumOff val="25000"/>
                </a:schemeClr>
              </a:solidFill>
            </a:endParaRPr>
          </a:p>
          <a:p>
            <a:r>
              <a:rPr lang="en-US" dirty="0">
                <a:solidFill>
                  <a:schemeClr val="tx2">
                    <a:lumMod val="75000"/>
                    <a:lumOff val="25000"/>
                  </a:schemeClr>
                </a:solidFill>
              </a:rPr>
              <a:t>Variant Creation: Assessing different alternatives to solve a problem.</a:t>
            </a:r>
          </a:p>
          <a:p>
            <a:endParaRPr lang="en-US" dirty="0">
              <a:solidFill>
                <a:schemeClr val="tx2">
                  <a:lumMod val="75000"/>
                  <a:lumOff val="25000"/>
                </a:schemeClr>
              </a:solidFill>
            </a:endParaRPr>
          </a:p>
          <a:p>
            <a:r>
              <a:rPr lang="en-US" dirty="0">
                <a:solidFill>
                  <a:schemeClr val="tx2">
                    <a:lumMod val="75000"/>
                    <a:lumOff val="25000"/>
                  </a:schemeClr>
                </a:solidFill>
              </a:rPr>
              <a:t>Problem-Solving Cycle: Defining and following a methodology.</a:t>
            </a:r>
          </a:p>
        </p:txBody>
      </p:sp>
    </p:spTree>
    <p:extLst>
      <p:ext uri="{BB962C8B-B14F-4D97-AF65-F5344CB8AC3E}">
        <p14:creationId xmlns:p14="http://schemas.microsoft.com/office/powerpoint/2010/main" val="2595000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56B86-D0C0-3838-40E2-9BE529ED5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F87F2-B6BF-52D3-F689-C3C1D4D2F24A}"/>
              </a:ext>
            </a:extLst>
          </p:cNvPr>
          <p:cNvSpPr>
            <a:spLocks noGrp="1"/>
          </p:cNvSpPr>
          <p:nvPr>
            <p:ph type="title"/>
          </p:nvPr>
        </p:nvSpPr>
        <p:spPr/>
        <p:txBody>
          <a:bodyPr/>
          <a:lstStyle/>
          <a:p>
            <a:r>
              <a:rPr lang="en-US" b="1" dirty="0">
                <a:solidFill>
                  <a:schemeClr val="tx2">
                    <a:lumMod val="75000"/>
                    <a:lumOff val="25000"/>
                  </a:schemeClr>
                </a:solidFill>
              </a:rPr>
              <a:t>Systems Engineering Principles in Practice</a:t>
            </a:r>
            <a:endParaRPr lang="en-GB" b="1" dirty="0">
              <a:solidFill>
                <a:schemeClr val="tx2">
                  <a:lumMod val="75000"/>
                  <a:lumOff val="25000"/>
                </a:schemeClr>
              </a:solidFill>
            </a:endParaRPr>
          </a:p>
        </p:txBody>
      </p:sp>
      <p:pic>
        <p:nvPicPr>
          <p:cNvPr id="23554" name="Picture 2">
            <a:extLst>
              <a:ext uri="{FF2B5EF4-FFF2-40B4-BE49-F238E27FC236}">
                <a16:creationId xmlns:a16="http://schemas.microsoft.com/office/drawing/2014/main" id="{8E1091F7-C85E-677A-7911-93EE389525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24" b="4085"/>
          <a:stretch/>
        </p:blipFill>
        <p:spPr bwMode="auto">
          <a:xfrm>
            <a:off x="5845603" y="1294278"/>
            <a:ext cx="5665513" cy="513238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F12D6A82-2919-230B-7FB6-C4B856A81208}"/>
              </a:ext>
            </a:extLst>
          </p:cNvPr>
          <p:cNvSpPr>
            <a:spLocks noGrp="1"/>
          </p:cNvSpPr>
          <p:nvPr>
            <p:ph idx="1"/>
          </p:nvPr>
        </p:nvSpPr>
        <p:spPr>
          <a:xfrm>
            <a:off x="838200" y="1690688"/>
            <a:ext cx="5007403" cy="4351338"/>
          </a:xfrm>
        </p:spPr>
        <p:txBody>
          <a:bodyPr>
            <a:normAutofit lnSpcReduction="10000"/>
          </a:bodyPr>
          <a:lstStyle/>
          <a:p>
            <a:pPr marL="0" indent="0">
              <a:buNone/>
            </a:pPr>
            <a:r>
              <a:rPr lang="en-US" dirty="0">
                <a:solidFill>
                  <a:schemeClr val="tx2">
                    <a:lumMod val="75000"/>
                    <a:lumOff val="25000"/>
                  </a:schemeClr>
                </a:solidFill>
              </a:rPr>
              <a:t>A survey of 24 works that apply the principles to address when deploying AI-based Systems:</a:t>
            </a:r>
          </a:p>
          <a:p>
            <a:endParaRPr lang="en-US" b="1" dirty="0">
              <a:solidFill>
                <a:schemeClr val="tx2">
                  <a:lumMod val="75000"/>
                  <a:lumOff val="25000"/>
                </a:schemeClr>
              </a:solidFill>
            </a:endParaRPr>
          </a:p>
          <a:p>
            <a:r>
              <a:rPr lang="en-US" dirty="0">
                <a:solidFill>
                  <a:schemeClr val="tx2">
                    <a:lumMod val="75000"/>
                    <a:lumOff val="25000"/>
                  </a:schemeClr>
                </a:solidFill>
              </a:rPr>
              <a:t>Alignment and Reliability</a:t>
            </a:r>
          </a:p>
          <a:p>
            <a:r>
              <a:rPr lang="en-US" dirty="0">
                <a:solidFill>
                  <a:schemeClr val="tx2">
                    <a:lumMod val="75000"/>
                    <a:lumOff val="25000"/>
                  </a:schemeClr>
                </a:solidFill>
              </a:rPr>
              <a:t>Interpretability and Accountability</a:t>
            </a:r>
          </a:p>
          <a:p>
            <a:r>
              <a:rPr lang="en-US" dirty="0">
                <a:solidFill>
                  <a:schemeClr val="tx2">
                    <a:lumMod val="75000"/>
                    <a:lumOff val="25000"/>
                  </a:schemeClr>
                </a:solidFill>
              </a:rPr>
              <a:t>Maintainability and Sustainability</a:t>
            </a:r>
          </a:p>
          <a:p>
            <a:r>
              <a:rPr lang="en-US" dirty="0">
                <a:solidFill>
                  <a:schemeClr val="tx2">
                    <a:lumMod val="75000"/>
                    <a:lumOff val="25000"/>
                  </a:schemeClr>
                </a:solidFill>
              </a:rPr>
              <a:t>Security and Privacy</a:t>
            </a:r>
          </a:p>
          <a:p>
            <a:endParaRPr lang="en-US" dirty="0">
              <a:solidFill>
                <a:schemeClr val="tx2">
                  <a:lumMod val="75000"/>
                  <a:lumOff val="25000"/>
                </a:schemeClr>
              </a:solidFill>
            </a:endParaRPr>
          </a:p>
        </p:txBody>
      </p:sp>
      <p:sp>
        <p:nvSpPr>
          <p:cNvPr id="7" name="TextBox 6">
            <a:extLst>
              <a:ext uri="{FF2B5EF4-FFF2-40B4-BE49-F238E27FC236}">
                <a16:creationId xmlns:a16="http://schemas.microsoft.com/office/drawing/2014/main" id="{C17AA66B-8CD9-E0D7-D752-3B32B222DF47}"/>
              </a:ext>
            </a:extLst>
          </p:cNvPr>
          <p:cNvSpPr txBox="1"/>
          <p:nvPr/>
        </p:nvSpPr>
        <p:spPr>
          <a:xfrm>
            <a:off x="0" y="6340566"/>
            <a:ext cx="12192000" cy="523220"/>
          </a:xfrm>
          <a:prstGeom prst="rect">
            <a:avLst/>
          </a:prstGeom>
          <a:noFill/>
        </p:spPr>
        <p:txBody>
          <a:bodyPr wrap="square">
            <a:spAutoFit/>
          </a:bodyPr>
          <a:lstStyle/>
          <a:p>
            <a:r>
              <a:rPr lang="en-US" sz="1400" b="0" i="0" dirty="0">
                <a:solidFill>
                  <a:srgbClr val="222222"/>
                </a:solidFill>
                <a:effectLst/>
                <a:latin typeface="Arial" panose="020B0604020202020204" pitchFamily="34" charset="0"/>
              </a:rPr>
              <a:t>Cabrera, Christian, Bastidas Viviana, Schooling Jennifer, and Neil David Lawrence. “The Systems Engineering Approach in Times of Large Language Models." </a:t>
            </a:r>
            <a:r>
              <a:rPr lang="en-US" sz="1400" b="0" i="1" dirty="0">
                <a:solidFill>
                  <a:srgbClr val="222222"/>
                </a:solidFill>
                <a:effectLst/>
                <a:latin typeface="Arial" panose="020B0604020202020204" pitchFamily="34" charset="0"/>
              </a:rPr>
              <a:t>Proceedings of the </a:t>
            </a:r>
            <a:r>
              <a:rPr lang="en-US" sz="1400" i="1" dirty="0">
                <a:solidFill>
                  <a:srgbClr val="222222"/>
                </a:solidFill>
                <a:latin typeface="Arial" panose="020B0604020202020204" pitchFamily="34" charset="0"/>
              </a:rPr>
              <a:t>58th</a:t>
            </a:r>
            <a:r>
              <a:rPr lang="en-US" sz="1400" b="0" i="1" dirty="0">
                <a:solidFill>
                  <a:srgbClr val="222222"/>
                </a:solidFill>
                <a:effectLst/>
                <a:latin typeface="Arial" panose="020B0604020202020204" pitchFamily="34" charset="0"/>
              </a:rPr>
              <a:t> Hawaii International Conference on System Sciences</a:t>
            </a:r>
            <a:r>
              <a:rPr lang="en-US" sz="1400" b="0" i="0" dirty="0">
                <a:solidFill>
                  <a:srgbClr val="222222"/>
                </a:solidFill>
                <a:effectLst/>
                <a:latin typeface="Arial" panose="020B0604020202020204" pitchFamily="34" charset="0"/>
              </a:rPr>
              <a:t> 2025. (To appear)</a:t>
            </a:r>
            <a:endParaRPr lang="en-GB" sz="1400" dirty="0"/>
          </a:p>
        </p:txBody>
      </p:sp>
    </p:spTree>
    <p:extLst>
      <p:ext uri="{BB962C8B-B14F-4D97-AF65-F5344CB8AC3E}">
        <p14:creationId xmlns:p14="http://schemas.microsoft.com/office/powerpoint/2010/main" val="4276767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36933-8A73-26D1-A0AF-0BC329A63BB0}"/>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011D0EC-167B-4A2E-86A5-1954F1CFAE8D}"/>
              </a:ext>
            </a:extLst>
          </p:cNvPr>
          <p:cNvSpPr>
            <a:spLocks noGrp="1"/>
          </p:cNvSpPr>
          <p:nvPr>
            <p:ph idx="1"/>
          </p:nvPr>
        </p:nvSpPr>
        <p:spPr>
          <a:xfrm>
            <a:off x="7016155" y="1672892"/>
            <a:ext cx="5007403" cy="4351338"/>
          </a:xfrm>
        </p:spPr>
        <p:txBody>
          <a:bodyPr>
            <a:normAutofit/>
          </a:bodyPr>
          <a:lstStyle/>
          <a:p>
            <a:pPr marL="0" indent="0">
              <a:buNone/>
            </a:pPr>
            <a:r>
              <a:rPr lang="en-US" dirty="0">
                <a:solidFill>
                  <a:schemeClr val="tx2">
                    <a:lumMod val="75000"/>
                    <a:lumOff val="25000"/>
                  </a:schemeClr>
                </a:solidFill>
              </a:rPr>
              <a:t>MLTRL – Technology readiness levels for machine learning systems</a:t>
            </a:r>
          </a:p>
          <a:p>
            <a:pPr marL="0" indent="0">
              <a:buNone/>
            </a:pPr>
            <a:endParaRPr lang="en-US" dirty="0">
              <a:solidFill>
                <a:schemeClr val="tx2">
                  <a:lumMod val="75000"/>
                  <a:lumOff val="25000"/>
                </a:schemeClr>
              </a:solidFill>
            </a:endParaRPr>
          </a:p>
          <a:p>
            <a:pPr marL="0" indent="0">
              <a:buNone/>
            </a:pPr>
            <a:r>
              <a:rPr lang="en-US" b="1" dirty="0">
                <a:solidFill>
                  <a:schemeClr val="tx2">
                    <a:lumMod val="75000"/>
                    <a:lumOff val="25000"/>
                  </a:schemeClr>
                </a:solidFill>
              </a:rPr>
              <a:t>Domain: Critical Systems</a:t>
            </a:r>
          </a:p>
          <a:p>
            <a:pPr marL="0" indent="0">
              <a:buNone/>
            </a:pPr>
            <a:endParaRPr lang="en-US" dirty="0">
              <a:solidFill>
                <a:schemeClr val="tx2">
                  <a:lumMod val="75000"/>
                  <a:lumOff val="25000"/>
                </a:schemeClr>
              </a:solidFill>
            </a:endParaRPr>
          </a:p>
        </p:txBody>
      </p:sp>
      <p:sp>
        <p:nvSpPr>
          <p:cNvPr id="5" name="Title 1">
            <a:extLst>
              <a:ext uri="{FF2B5EF4-FFF2-40B4-BE49-F238E27FC236}">
                <a16:creationId xmlns:a16="http://schemas.microsoft.com/office/drawing/2014/main" id="{43E194E1-3280-650D-8D31-E56E6DB5735B}"/>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Systems Engineering Principles in Practice</a:t>
            </a:r>
            <a:endParaRPr lang="en-GB" b="1" dirty="0">
              <a:solidFill>
                <a:schemeClr val="tx2">
                  <a:lumMod val="75000"/>
                  <a:lumOff val="25000"/>
                </a:schemeClr>
              </a:solidFill>
            </a:endParaRPr>
          </a:p>
        </p:txBody>
      </p:sp>
      <p:sp>
        <p:nvSpPr>
          <p:cNvPr id="9" name="TextBox 8">
            <a:extLst>
              <a:ext uri="{FF2B5EF4-FFF2-40B4-BE49-F238E27FC236}">
                <a16:creationId xmlns:a16="http://schemas.microsoft.com/office/drawing/2014/main" id="{1E08704B-85FF-BC80-062A-C3B1F0E0C03D}"/>
              </a:ext>
            </a:extLst>
          </p:cNvPr>
          <p:cNvSpPr txBox="1"/>
          <p:nvPr/>
        </p:nvSpPr>
        <p:spPr>
          <a:xfrm>
            <a:off x="0" y="6340566"/>
            <a:ext cx="12192000" cy="523220"/>
          </a:xfrm>
          <a:prstGeom prst="rect">
            <a:avLst/>
          </a:prstGeom>
          <a:noFill/>
        </p:spPr>
        <p:txBody>
          <a:bodyPr wrap="square">
            <a:spAutoFit/>
          </a:bodyPr>
          <a:lstStyle/>
          <a:p>
            <a:r>
              <a:rPr lang="en-US" sz="1400" b="0" i="0" dirty="0">
                <a:solidFill>
                  <a:srgbClr val="222222"/>
                </a:solidFill>
                <a:effectLst/>
                <a:latin typeface="Arial" panose="020B0604020202020204" pitchFamily="34" charset="0"/>
              </a:rPr>
              <a:t>Lavin, A., Gilligan-Lee, C.M., Visnjic, A. et al. Technology readiness levels for machine learning systems. Nat Commun 13, 6039 (2022). </a:t>
            </a:r>
            <a:r>
              <a:rPr lang="en-US" sz="1400" b="0" i="0" dirty="0">
                <a:solidFill>
                  <a:srgbClr val="222222"/>
                </a:solidFill>
                <a:effectLst/>
                <a:latin typeface="Arial" panose="020B0604020202020204" pitchFamily="34" charset="0"/>
                <a:hlinkClick r:id="rId2"/>
              </a:rPr>
              <a:t>https://doi.org/10.1038/s41467-022-33128-9</a:t>
            </a:r>
            <a:r>
              <a:rPr lang="en-US" sz="1400" b="0" i="0" dirty="0">
                <a:solidFill>
                  <a:srgbClr val="222222"/>
                </a:solidFill>
                <a:effectLst/>
                <a:latin typeface="Arial" panose="020B0604020202020204" pitchFamily="34" charset="0"/>
              </a:rPr>
              <a:t>  </a:t>
            </a:r>
            <a:endParaRPr lang="en-GB" sz="1400" dirty="0"/>
          </a:p>
        </p:txBody>
      </p:sp>
      <p:pic>
        <p:nvPicPr>
          <p:cNvPr id="2050" name="Picture 2" descr="Fig. 1">
            <a:extLst>
              <a:ext uri="{FF2B5EF4-FFF2-40B4-BE49-F238E27FC236}">
                <a16:creationId xmlns:a16="http://schemas.microsoft.com/office/drawing/2014/main" id="{B7DCAC27-FC59-325A-E3AB-BAC2E8DBD8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56" y="1954220"/>
            <a:ext cx="6945958" cy="29185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471531C-E703-3A1B-69F1-E801D4422038}"/>
              </a:ext>
            </a:extLst>
          </p:cNvPr>
          <p:cNvSpPr txBox="1"/>
          <p:nvPr/>
        </p:nvSpPr>
        <p:spPr>
          <a:xfrm>
            <a:off x="168441" y="5053058"/>
            <a:ext cx="6847713" cy="1015663"/>
          </a:xfrm>
          <a:prstGeom prst="rect">
            <a:avLst/>
          </a:prstGeom>
          <a:noFill/>
        </p:spPr>
        <p:txBody>
          <a:bodyPr wrap="square">
            <a:spAutoFit/>
          </a:bodyPr>
          <a:lstStyle/>
          <a:p>
            <a:r>
              <a:rPr lang="en-US" sz="2000" b="1" dirty="0">
                <a:solidFill>
                  <a:schemeClr val="tx2">
                    <a:lumMod val="75000"/>
                    <a:lumOff val="25000"/>
                  </a:schemeClr>
                </a:solidFill>
              </a:rPr>
              <a:t>Alignment and reliability, interpretability and accountability, maintainability and sustainability, and security and privacy.</a:t>
            </a:r>
            <a:endParaRPr lang="en-GB" sz="2000" b="1" dirty="0"/>
          </a:p>
        </p:txBody>
      </p:sp>
    </p:spTree>
    <p:extLst>
      <p:ext uri="{BB962C8B-B14F-4D97-AF65-F5344CB8AC3E}">
        <p14:creationId xmlns:p14="http://schemas.microsoft.com/office/powerpoint/2010/main" val="1387018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04D15-DFA2-EFD9-D188-6C8C4C53FFB2}"/>
            </a:ext>
          </a:extLst>
        </p:cNvPr>
        <p:cNvGrpSpPr/>
        <p:nvPr/>
      </p:nvGrpSpPr>
      <p:grpSpPr>
        <a:xfrm>
          <a:off x="0" y="0"/>
          <a:ext cx="0" cy="0"/>
          <a:chOff x="0" y="0"/>
          <a:chExt cx="0" cy="0"/>
        </a:xfrm>
      </p:grpSpPr>
      <p:pic>
        <p:nvPicPr>
          <p:cNvPr id="2050" name="Picture 2" descr="Fig. 1">
            <a:extLst>
              <a:ext uri="{FF2B5EF4-FFF2-40B4-BE49-F238E27FC236}">
                <a16:creationId xmlns:a16="http://schemas.microsoft.com/office/drawing/2014/main" id="{15031698-678D-9B02-7B31-440996256B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726" y="1390060"/>
            <a:ext cx="11108687" cy="466767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FFFBDACE-F638-CE56-B34A-EE607C81DCB9}"/>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Systems Engineering Principles in Practice</a:t>
            </a:r>
            <a:endParaRPr lang="en-GB" b="1" dirty="0">
              <a:solidFill>
                <a:schemeClr val="tx2">
                  <a:lumMod val="75000"/>
                  <a:lumOff val="25000"/>
                </a:schemeClr>
              </a:solidFill>
            </a:endParaRPr>
          </a:p>
        </p:txBody>
      </p:sp>
      <p:sp>
        <p:nvSpPr>
          <p:cNvPr id="9" name="TextBox 8">
            <a:extLst>
              <a:ext uri="{FF2B5EF4-FFF2-40B4-BE49-F238E27FC236}">
                <a16:creationId xmlns:a16="http://schemas.microsoft.com/office/drawing/2014/main" id="{5234195D-0FA5-9628-FE33-36AE5B9DA3A3}"/>
              </a:ext>
            </a:extLst>
          </p:cNvPr>
          <p:cNvSpPr txBox="1"/>
          <p:nvPr/>
        </p:nvSpPr>
        <p:spPr>
          <a:xfrm>
            <a:off x="0" y="6340566"/>
            <a:ext cx="12192000" cy="523220"/>
          </a:xfrm>
          <a:prstGeom prst="rect">
            <a:avLst/>
          </a:prstGeom>
          <a:noFill/>
        </p:spPr>
        <p:txBody>
          <a:bodyPr wrap="square">
            <a:spAutoFit/>
          </a:bodyPr>
          <a:lstStyle/>
          <a:p>
            <a:r>
              <a:rPr lang="en-US" sz="1400" b="0" i="0" dirty="0">
                <a:solidFill>
                  <a:srgbClr val="222222"/>
                </a:solidFill>
                <a:effectLst/>
                <a:latin typeface="Arial" panose="020B0604020202020204" pitchFamily="34" charset="0"/>
              </a:rPr>
              <a:t>Lavin, A., Gilligan-Lee, C.M., Visnjic, A. et al. Technology readiness levels for machine learning systems. Nat Commun 13, 6039 (2022). </a:t>
            </a:r>
            <a:r>
              <a:rPr lang="en-US" sz="1400" b="0" i="0" dirty="0">
                <a:solidFill>
                  <a:srgbClr val="222222"/>
                </a:solidFill>
                <a:effectLst/>
                <a:latin typeface="Arial" panose="020B0604020202020204" pitchFamily="34" charset="0"/>
                <a:hlinkClick r:id="rId3"/>
              </a:rPr>
              <a:t>https://doi.org/10.1038/s41467-022-33128-9</a:t>
            </a:r>
            <a:r>
              <a:rPr lang="en-US" sz="1400" b="0" i="0" dirty="0">
                <a:solidFill>
                  <a:srgbClr val="222222"/>
                </a:solidFill>
                <a:effectLst/>
                <a:latin typeface="Arial" panose="020B0604020202020204" pitchFamily="34" charset="0"/>
              </a:rPr>
              <a:t>  </a:t>
            </a:r>
            <a:endParaRPr lang="en-GB" sz="1400" dirty="0"/>
          </a:p>
        </p:txBody>
      </p:sp>
      <p:sp>
        <p:nvSpPr>
          <p:cNvPr id="4" name="Rectangle 3">
            <a:extLst>
              <a:ext uri="{FF2B5EF4-FFF2-40B4-BE49-F238E27FC236}">
                <a16:creationId xmlns:a16="http://schemas.microsoft.com/office/drawing/2014/main" id="{E2B70223-C136-CB33-B9D6-B66DAE5C9AB7}"/>
              </a:ext>
            </a:extLst>
          </p:cNvPr>
          <p:cNvSpPr/>
          <p:nvPr/>
        </p:nvSpPr>
        <p:spPr>
          <a:xfrm>
            <a:off x="5147950" y="4239114"/>
            <a:ext cx="3334184" cy="639899"/>
          </a:xfrm>
          <a:prstGeom prst="rect">
            <a:avLst/>
          </a:prstGeom>
          <a:no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84F6FE1-7ABC-917A-7508-D4E32710DDD2}"/>
              </a:ext>
            </a:extLst>
          </p:cNvPr>
          <p:cNvSpPr/>
          <p:nvPr/>
        </p:nvSpPr>
        <p:spPr>
          <a:xfrm>
            <a:off x="2707154" y="4841896"/>
            <a:ext cx="1686037" cy="1325562"/>
          </a:xfrm>
          <a:prstGeom prst="rect">
            <a:avLst/>
          </a:prstGeom>
          <a:no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Connector: Elbow 6">
            <a:extLst>
              <a:ext uri="{FF2B5EF4-FFF2-40B4-BE49-F238E27FC236}">
                <a16:creationId xmlns:a16="http://schemas.microsoft.com/office/drawing/2014/main" id="{9D95E983-CD5D-8F22-1E71-6A3105DB3136}"/>
              </a:ext>
            </a:extLst>
          </p:cNvPr>
          <p:cNvCxnSpPr>
            <a:cxnSpLocks/>
            <a:stCxn id="4" idx="1"/>
            <a:endCxn id="6" idx="0"/>
          </p:cNvCxnSpPr>
          <p:nvPr/>
        </p:nvCxnSpPr>
        <p:spPr>
          <a:xfrm rot="10800000" flipV="1">
            <a:off x="3550174" y="4559064"/>
            <a:ext cx="1597777" cy="28283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1092698-2DEC-F2E9-ED24-9AC316C4B895}"/>
              </a:ext>
            </a:extLst>
          </p:cNvPr>
          <p:cNvSpPr txBox="1"/>
          <p:nvPr/>
        </p:nvSpPr>
        <p:spPr>
          <a:xfrm>
            <a:off x="1021117" y="1690688"/>
            <a:ext cx="1686037" cy="707886"/>
          </a:xfrm>
          <a:prstGeom prst="rect">
            <a:avLst/>
          </a:prstGeom>
          <a:noFill/>
        </p:spPr>
        <p:txBody>
          <a:bodyPr wrap="square">
            <a:spAutoFit/>
          </a:bodyPr>
          <a:lstStyle/>
          <a:p>
            <a:r>
              <a:rPr lang="en-US" sz="2000" b="1" dirty="0">
                <a:solidFill>
                  <a:schemeClr val="tx2">
                    <a:lumMod val="75000"/>
                    <a:lumOff val="25000"/>
                  </a:schemeClr>
                </a:solidFill>
              </a:rPr>
              <a:t>System Views.</a:t>
            </a:r>
            <a:endParaRPr lang="en-GB" sz="2000" dirty="0"/>
          </a:p>
        </p:txBody>
      </p:sp>
      <p:sp>
        <p:nvSpPr>
          <p:cNvPr id="12" name="TextBox 11">
            <a:extLst>
              <a:ext uri="{FF2B5EF4-FFF2-40B4-BE49-F238E27FC236}">
                <a16:creationId xmlns:a16="http://schemas.microsoft.com/office/drawing/2014/main" id="{B5FD0533-02F4-5F29-4F06-E8B3C50B7248}"/>
              </a:ext>
            </a:extLst>
          </p:cNvPr>
          <p:cNvSpPr txBox="1"/>
          <p:nvPr/>
        </p:nvSpPr>
        <p:spPr>
          <a:xfrm>
            <a:off x="6308232" y="4841896"/>
            <a:ext cx="1295725" cy="707886"/>
          </a:xfrm>
          <a:prstGeom prst="rect">
            <a:avLst/>
          </a:prstGeom>
          <a:noFill/>
        </p:spPr>
        <p:txBody>
          <a:bodyPr wrap="square">
            <a:spAutoFit/>
          </a:bodyPr>
          <a:lstStyle/>
          <a:p>
            <a:r>
              <a:rPr lang="en-US" sz="2000" b="1" dirty="0">
                <a:solidFill>
                  <a:schemeClr val="tx2">
                    <a:lumMod val="75000"/>
                    <a:lumOff val="25000"/>
                  </a:schemeClr>
                </a:solidFill>
              </a:rPr>
              <a:t>Variant Creation.</a:t>
            </a:r>
          </a:p>
        </p:txBody>
      </p:sp>
    </p:spTree>
    <p:extLst>
      <p:ext uri="{BB962C8B-B14F-4D97-AF65-F5344CB8AC3E}">
        <p14:creationId xmlns:p14="http://schemas.microsoft.com/office/powerpoint/2010/main" val="3625383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D66C4-3F9F-7263-1FEE-A6AD71D9AE9E}"/>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4301846-9B50-67FE-8AF8-8DC4C25A87E3}"/>
              </a:ext>
            </a:extLst>
          </p:cNvPr>
          <p:cNvSpPr>
            <a:spLocks noGrp="1"/>
          </p:cNvSpPr>
          <p:nvPr>
            <p:ph idx="1"/>
          </p:nvPr>
        </p:nvSpPr>
        <p:spPr>
          <a:xfrm>
            <a:off x="838200" y="1690688"/>
            <a:ext cx="5007403" cy="4351338"/>
          </a:xfrm>
        </p:spPr>
        <p:txBody>
          <a:bodyPr>
            <a:normAutofit fontScale="92500" lnSpcReduction="10000"/>
          </a:bodyPr>
          <a:lstStyle/>
          <a:p>
            <a:pPr marL="0" indent="0">
              <a:buNone/>
            </a:pPr>
            <a:r>
              <a:rPr lang="en-US" dirty="0">
                <a:solidFill>
                  <a:schemeClr val="tx2">
                    <a:lumMod val="75000"/>
                    <a:lumOff val="25000"/>
                  </a:schemeClr>
                </a:solidFill>
              </a:rPr>
              <a:t>PAISE® – Process Model for AI Systems Engineering</a:t>
            </a:r>
          </a:p>
          <a:p>
            <a:pPr marL="0" indent="0">
              <a:buNone/>
            </a:pPr>
            <a:endParaRPr lang="en-US" dirty="0">
              <a:solidFill>
                <a:schemeClr val="tx2">
                  <a:lumMod val="75000"/>
                  <a:lumOff val="25000"/>
                </a:schemeClr>
              </a:solidFill>
            </a:endParaRPr>
          </a:p>
          <a:p>
            <a:pPr marL="0" indent="0">
              <a:buNone/>
            </a:pPr>
            <a:r>
              <a:rPr lang="en-US" b="1" dirty="0">
                <a:solidFill>
                  <a:schemeClr val="tx2">
                    <a:lumMod val="75000"/>
                    <a:lumOff val="25000"/>
                  </a:schemeClr>
                </a:solidFill>
              </a:rPr>
              <a:t>Domain: ML-based Systems</a:t>
            </a:r>
          </a:p>
          <a:p>
            <a:pPr marL="0" indent="0">
              <a:buNone/>
            </a:pPr>
            <a:endParaRPr lang="en-US" b="1" dirty="0">
              <a:solidFill>
                <a:schemeClr val="tx2">
                  <a:lumMod val="75000"/>
                  <a:lumOff val="25000"/>
                </a:schemeClr>
              </a:solidFill>
            </a:endParaRPr>
          </a:p>
          <a:p>
            <a:pPr marL="0" indent="0">
              <a:buNone/>
            </a:pPr>
            <a:r>
              <a:rPr lang="en-US" b="1" dirty="0">
                <a:solidFill>
                  <a:schemeClr val="tx2">
                    <a:lumMod val="75000"/>
                    <a:lumOff val="25000"/>
                  </a:schemeClr>
                </a:solidFill>
              </a:rPr>
              <a:t>Alignment and reliability:</a:t>
            </a:r>
          </a:p>
          <a:p>
            <a:r>
              <a:rPr lang="en-US" dirty="0">
                <a:solidFill>
                  <a:schemeClr val="tx2">
                    <a:lumMod val="75000"/>
                    <a:lumOff val="25000"/>
                  </a:schemeClr>
                </a:solidFill>
              </a:rPr>
              <a:t>Problem Solving Cycle.</a:t>
            </a:r>
          </a:p>
          <a:p>
            <a:r>
              <a:rPr lang="en-US" dirty="0">
                <a:solidFill>
                  <a:schemeClr val="tx2">
                    <a:lumMod val="75000"/>
                    <a:lumOff val="25000"/>
                  </a:schemeClr>
                </a:solidFill>
              </a:rPr>
              <a:t>Top-Down Analysis.</a:t>
            </a:r>
          </a:p>
          <a:p>
            <a:r>
              <a:rPr lang="en-US" dirty="0">
                <a:solidFill>
                  <a:schemeClr val="tx2">
                    <a:lumMod val="75000"/>
                    <a:lumOff val="25000"/>
                  </a:schemeClr>
                </a:solidFill>
              </a:rPr>
              <a:t>System Views. </a:t>
            </a:r>
          </a:p>
          <a:p>
            <a:r>
              <a:rPr lang="en-US" dirty="0">
                <a:solidFill>
                  <a:schemeClr val="tx2">
                    <a:lumMod val="75000"/>
                    <a:lumOff val="25000"/>
                  </a:schemeClr>
                </a:solidFill>
              </a:rPr>
              <a:t>Agility Systems.</a:t>
            </a:r>
          </a:p>
          <a:p>
            <a:endParaRPr lang="en-US" dirty="0">
              <a:solidFill>
                <a:schemeClr val="tx2">
                  <a:lumMod val="75000"/>
                  <a:lumOff val="25000"/>
                </a:schemeClr>
              </a:solidFill>
            </a:endParaRPr>
          </a:p>
        </p:txBody>
      </p:sp>
      <p:sp>
        <p:nvSpPr>
          <p:cNvPr id="5" name="Title 1">
            <a:extLst>
              <a:ext uri="{FF2B5EF4-FFF2-40B4-BE49-F238E27FC236}">
                <a16:creationId xmlns:a16="http://schemas.microsoft.com/office/drawing/2014/main" id="{5601FD02-A19C-14D5-5095-7268D2D03325}"/>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Systems Engineering Principles in Practice</a:t>
            </a:r>
            <a:endParaRPr lang="en-GB" b="1" dirty="0">
              <a:solidFill>
                <a:schemeClr val="tx2">
                  <a:lumMod val="75000"/>
                  <a:lumOff val="25000"/>
                </a:schemeClr>
              </a:solidFill>
            </a:endParaRPr>
          </a:p>
        </p:txBody>
      </p:sp>
      <p:pic>
        <p:nvPicPr>
          <p:cNvPr id="1026" name="Picture 2" descr="Figure 1 &#10;Schematic view on the overall structure of the Process model for AI Systems Engineering (PAISE®).&#10;">
            <a:extLst>
              <a:ext uri="{FF2B5EF4-FFF2-40B4-BE49-F238E27FC236}">
                <a16:creationId xmlns:a16="http://schemas.microsoft.com/office/drawing/2014/main" id="{BC113D6F-F34B-FE7D-AEE6-54E22341DB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7684" y="1690689"/>
            <a:ext cx="4175088" cy="452720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5C8E6D1-2D95-866E-EE3C-2147A39672E8}"/>
              </a:ext>
            </a:extLst>
          </p:cNvPr>
          <p:cNvSpPr txBox="1"/>
          <p:nvPr/>
        </p:nvSpPr>
        <p:spPr>
          <a:xfrm>
            <a:off x="0" y="6340566"/>
            <a:ext cx="12192000" cy="523220"/>
          </a:xfrm>
          <a:prstGeom prst="rect">
            <a:avLst/>
          </a:prstGeom>
          <a:noFill/>
        </p:spPr>
        <p:txBody>
          <a:bodyPr wrap="square">
            <a:spAutoFit/>
          </a:bodyPr>
          <a:lstStyle/>
          <a:p>
            <a:r>
              <a:rPr lang="en-US" sz="1400" b="0" i="0" dirty="0" err="1">
                <a:solidFill>
                  <a:srgbClr val="222222"/>
                </a:solidFill>
                <a:effectLst/>
                <a:latin typeface="Arial" panose="020B0604020202020204" pitchFamily="34" charset="0"/>
              </a:rPr>
              <a:t>Hasterok</a:t>
            </a:r>
            <a:r>
              <a:rPr lang="en-US" sz="1400" b="0" i="0" dirty="0">
                <a:solidFill>
                  <a:srgbClr val="222222"/>
                </a:solidFill>
                <a:effectLst/>
                <a:latin typeface="Arial" panose="020B0604020202020204" pitchFamily="34" charset="0"/>
              </a:rPr>
              <a:t>, </a:t>
            </a:r>
            <a:r>
              <a:rPr lang="en-US" sz="1400" b="0" i="0" dirty="0" err="1">
                <a:solidFill>
                  <a:srgbClr val="222222"/>
                </a:solidFill>
                <a:effectLst/>
                <a:latin typeface="Arial" panose="020B0604020202020204" pitchFamily="34" charset="0"/>
              </a:rPr>
              <a:t>Constanze</a:t>
            </a:r>
            <a:r>
              <a:rPr lang="en-US" sz="1400" b="0" i="0" dirty="0">
                <a:solidFill>
                  <a:srgbClr val="222222"/>
                </a:solidFill>
                <a:effectLst/>
                <a:latin typeface="Arial" panose="020B0604020202020204" pitchFamily="34" charset="0"/>
              </a:rPr>
              <a:t> and </a:t>
            </a:r>
            <a:r>
              <a:rPr lang="en-US" sz="1400" b="0" i="0" dirty="0" err="1">
                <a:solidFill>
                  <a:srgbClr val="222222"/>
                </a:solidFill>
                <a:effectLst/>
                <a:latin typeface="Arial" panose="020B0604020202020204" pitchFamily="34" charset="0"/>
              </a:rPr>
              <a:t>Stompe</a:t>
            </a:r>
            <a:r>
              <a:rPr lang="en-US" sz="1400" b="0" i="0" dirty="0">
                <a:solidFill>
                  <a:srgbClr val="222222"/>
                </a:solidFill>
                <a:effectLst/>
                <a:latin typeface="Arial" panose="020B0604020202020204" pitchFamily="34" charset="0"/>
              </a:rPr>
              <a:t>, Janina. "PAISE® – process model for AI systems engineering" at - </a:t>
            </a:r>
            <a:r>
              <a:rPr lang="en-US" sz="1400" b="0" i="0" dirty="0" err="1">
                <a:solidFill>
                  <a:srgbClr val="222222"/>
                </a:solidFill>
                <a:effectLst/>
                <a:latin typeface="Arial" panose="020B0604020202020204" pitchFamily="34" charset="0"/>
              </a:rPr>
              <a:t>Automatisierungstechnik</a:t>
            </a:r>
            <a:r>
              <a:rPr lang="en-US" sz="1400" b="0" i="0" dirty="0">
                <a:solidFill>
                  <a:srgbClr val="222222"/>
                </a:solidFill>
                <a:effectLst/>
                <a:latin typeface="Arial" panose="020B0604020202020204" pitchFamily="34" charset="0"/>
              </a:rPr>
              <a:t> 70, no. 9 (2022): 777-786. </a:t>
            </a:r>
            <a:r>
              <a:rPr lang="en-US" sz="1400" b="0" i="0" dirty="0">
                <a:solidFill>
                  <a:srgbClr val="222222"/>
                </a:solidFill>
                <a:effectLst/>
                <a:latin typeface="Arial" panose="020B0604020202020204" pitchFamily="34" charset="0"/>
                <a:hlinkClick r:id="rId3"/>
              </a:rPr>
              <a:t>https://doi.org/10.1515/auto-2022-0020</a:t>
            </a:r>
            <a:r>
              <a:rPr lang="en-US" sz="1400" b="0" i="0" dirty="0">
                <a:solidFill>
                  <a:srgbClr val="222222"/>
                </a:solidFill>
                <a:effectLst/>
                <a:latin typeface="Arial" panose="020B0604020202020204" pitchFamily="34" charset="0"/>
              </a:rPr>
              <a:t> </a:t>
            </a:r>
            <a:endParaRPr lang="en-GB" sz="1400" dirty="0"/>
          </a:p>
        </p:txBody>
      </p:sp>
    </p:spTree>
    <p:extLst>
      <p:ext uri="{BB962C8B-B14F-4D97-AF65-F5344CB8AC3E}">
        <p14:creationId xmlns:p14="http://schemas.microsoft.com/office/powerpoint/2010/main" val="2802091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513FF-7496-FD49-6A44-A69B5EAF395B}"/>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603D6C8-16A8-DB66-4A67-6F596D569A03}"/>
              </a:ext>
            </a:extLst>
          </p:cNvPr>
          <p:cNvSpPr>
            <a:spLocks noGrp="1"/>
          </p:cNvSpPr>
          <p:nvPr>
            <p:ph idx="1"/>
          </p:nvPr>
        </p:nvSpPr>
        <p:spPr>
          <a:xfrm>
            <a:off x="7016155" y="1672892"/>
            <a:ext cx="5007403" cy="4351338"/>
          </a:xfrm>
        </p:spPr>
        <p:txBody>
          <a:bodyPr>
            <a:normAutofit lnSpcReduction="10000"/>
          </a:bodyPr>
          <a:lstStyle/>
          <a:p>
            <a:pPr marL="0" indent="0">
              <a:buNone/>
            </a:pPr>
            <a:r>
              <a:rPr lang="en-US" dirty="0">
                <a:solidFill>
                  <a:schemeClr val="tx2">
                    <a:lumMod val="75000"/>
                    <a:lumOff val="25000"/>
                  </a:schemeClr>
                </a:solidFill>
              </a:rPr>
              <a:t>ACDANS – System of Systems Engineering Approach for Complex Deterministic and Nondeterministic Systems</a:t>
            </a:r>
          </a:p>
          <a:p>
            <a:pPr marL="0" indent="0">
              <a:buNone/>
            </a:pPr>
            <a:endParaRPr lang="en-US" dirty="0">
              <a:solidFill>
                <a:schemeClr val="tx2">
                  <a:lumMod val="75000"/>
                  <a:lumOff val="25000"/>
                </a:schemeClr>
              </a:solidFill>
            </a:endParaRPr>
          </a:p>
          <a:p>
            <a:pPr marL="0" indent="0">
              <a:buNone/>
            </a:pPr>
            <a:r>
              <a:rPr lang="en-US" b="1" dirty="0">
                <a:solidFill>
                  <a:schemeClr val="tx2">
                    <a:lumMod val="75000"/>
                    <a:lumOff val="25000"/>
                  </a:schemeClr>
                </a:solidFill>
              </a:rPr>
              <a:t>Domain: Military Systems</a:t>
            </a:r>
          </a:p>
          <a:p>
            <a:pPr marL="0" indent="0">
              <a:buNone/>
            </a:pPr>
            <a:endParaRPr lang="en-US" dirty="0">
              <a:solidFill>
                <a:schemeClr val="tx2">
                  <a:lumMod val="75000"/>
                  <a:lumOff val="25000"/>
                </a:schemeClr>
              </a:solidFill>
            </a:endParaRPr>
          </a:p>
          <a:p>
            <a:r>
              <a:rPr lang="en-US" b="1" dirty="0">
                <a:solidFill>
                  <a:schemeClr val="tx2">
                    <a:lumMod val="75000"/>
                    <a:lumOff val="25000"/>
                  </a:schemeClr>
                </a:solidFill>
              </a:rPr>
              <a:t>Problem Solving Cycle.</a:t>
            </a:r>
          </a:p>
          <a:p>
            <a:r>
              <a:rPr lang="en-US" b="1" dirty="0">
                <a:solidFill>
                  <a:schemeClr val="tx2">
                    <a:lumMod val="75000"/>
                    <a:lumOff val="25000"/>
                  </a:schemeClr>
                </a:solidFill>
              </a:rPr>
              <a:t>System Dynamics</a:t>
            </a:r>
          </a:p>
          <a:p>
            <a:r>
              <a:rPr lang="en-US" b="1" dirty="0">
                <a:solidFill>
                  <a:schemeClr val="tx2">
                    <a:lumMod val="75000"/>
                    <a:lumOff val="25000"/>
                  </a:schemeClr>
                </a:solidFill>
              </a:rPr>
              <a:t>Variant Creation.</a:t>
            </a:r>
          </a:p>
        </p:txBody>
      </p:sp>
      <p:sp>
        <p:nvSpPr>
          <p:cNvPr id="5" name="Title 1">
            <a:extLst>
              <a:ext uri="{FF2B5EF4-FFF2-40B4-BE49-F238E27FC236}">
                <a16:creationId xmlns:a16="http://schemas.microsoft.com/office/drawing/2014/main" id="{A7AC74D9-81F9-B1F6-39BC-C6686E79AA3B}"/>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Systems Engineering Principles in Practice</a:t>
            </a:r>
            <a:endParaRPr lang="en-GB" b="1" dirty="0">
              <a:solidFill>
                <a:schemeClr val="tx2">
                  <a:lumMod val="75000"/>
                  <a:lumOff val="25000"/>
                </a:schemeClr>
              </a:solidFill>
            </a:endParaRPr>
          </a:p>
        </p:txBody>
      </p:sp>
      <p:sp>
        <p:nvSpPr>
          <p:cNvPr id="9" name="TextBox 8">
            <a:extLst>
              <a:ext uri="{FF2B5EF4-FFF2-40B4-BE49-F238E27FC236}">
                <a16:creationId xmlns:a16="http://schemas.microsoft.com/office/drawing/2014/main" id="{ED05D8D2-D4EF-F1E5-C87C-6A30AAA7A742}"/>
              </a:ext>
            </a:extLst>
          </p:cNvPr>
          <p:cNvSpPr txBox="1"/>
          <p:nvPr/>
        </p:nvSpPr>
        <p:spPr>
          <a:xfrm>
            <a:off x="0" y="6340566"/>
            <a:ext cx="12192000" cy="523220"/>
          </a:xfrm>
          <a:prstGeom prst="rect">
            <a:avLst/>
          </a:prstGeom>
          <a:noFill/>
        </p:spPr>
        <p:txBody>
          <a:bodyPr wrap="square">
            <a:spAutoFit/>
          </a:bodyPr>
          <a:lstStyle/>
          <a:p>
            <a:r>
              <a:rPr lang="en-US" sz="1400" b="0" i="0" dirty="0">
                <a:solidFill>
                  <a:srgbClr val="222222"/>
                </a:solidFill>
                <a:effectLst/>
                <a:latin typeface="Arial" panose="020B0604020202020204" pitchFamily="34" charset="0"/>
              </a:rPr>
              <a:t>P. Hershey, "System of Systems Engineering Approach for Complex Deterministic and Nondeterministic Systems (ACDANS)," 2021 16th International Conference of System of Systems Engineering (</a:t>
            </a:r>
            <a:r>
              <a:rPr lang="en-US" sz="1400" b="0" i="0" dirty="0" err="1">
                <a:solidFill>
                  <a:srgbClr val="222222"/>
                </a:solidFill>
                <a:effectLst/>
                <a:latin typeface="Arial" panose="020B0604020202020204" pitchFamily="34" charset="0"/>
              </a:rPr>
              <a:t>SoSE</a:t>
            </a:r>
            <a:r>
              <a:rPr lang="en-US" sz="1400" b="0" i="0" dirty="0">
                <a:solidFill>
                  <a:srgbClr val="222222"/>
                </a:solidFill>
                <a:effectLst/>
                <a:latin typeface="Arial" panose="020B0604020202020204" pitchFamily="34" charset="0"/>
              </a:rPr>
              <a:t>), </a:t>
            </a:r>
            <a:r>
              <a:rPr lang="en-US" sz="1400" b="0" i="0" dirty="0" err="1">
                <a:solidFill>
                  <a:srgbClr val="222222"/>
                </a:solidFill>
                <a:effectLst/>
                <a:latin typeface="Arial" panose="020B0604020202020204" pitchFamily="34" charset="0"/>
              </a:rPr>
              <a:t>Västerås</a:t>
            </a:r>
            <a:r>
              <a:rPr lang="en-US" sz="1400" b="0" i="0" dirty="0">
                <a:solidFill>
                  <a:srgbClr val="222222"/>
                </a:solidFill>
                <a:effectLst/>
                <a:latin typeface="Arial" panose="020B0604020202020204" pitchFamily="34" charset="0"/>
              </a:rPr>
              <a:t>, Sweden, 2021, pp. 185-190, </a:t>
            </a:r>
            <a:r>
              <a:rPr lang="en-US" sz="1400" b="0" i="0" dirty="0" err="1">
                <a:solidFill>
                  <a:srgbClr val="222222"/>
                </a:solidFill>
                <a:effectLst/>
                <a:latin typeface="Arial" panose="020B0604020202020204" pitchFamily="34" charset="0"/>
              </a:rPr>
              <a:t>doi</a:t>
            </a:r>
            <a:r>
              <a:rPr lang="en-US" sz="1400" b="0" i="0" dirty="0">
                <a:solidFill>
                  <a:srgbClr val="222222"/>
                </a:solidFill>
                <a:effectLst/>
                <a:latin typeface="Arial" panose="020B0604020202020204" pitchFamily="34" charset="0"/>
              </a:rPr>
              <a:t>: 10.1109/SOSE52739.2021.9497496.  </a:t>
            </a:r>
            <a:endParaRPr lang="en-GB" sz="1400" dirty="0"/>
          </a:p>
        </p:txBody>
      </p:sp>
      <p:sp>
        <p:nvSpPr>
          <p:cNvPr id="3" name="TextBox 2">
            <a:extLst>
              <a:ext uri="{FF2B5EF4-FFF2-40B4-BE49-F238E27FC236}">
                <a16:creationId xmlns:a16="http://schemas.microsoft.com/office/drawing/2014/main" id="{58A878B9-DD4E-E444-BA9A-10D5FD5788DD}"/>
              </a:ext>
            </a:extLst>
          </p:cNvPr>
          <p:cNvSpPr txBox="1"/>
          <p:nvPr/>
        </p:nvSpPr>
        <p:spPr>
          <a:xfrm>
            <a:off x="168441" y="5053058"/>
            <a:ext cx="6847713" cy="707886"/>
          </a:xfrm>
          <a:prstGeom prst="rect">
            <a:avLst/>
          </a:prstGeom>
          <a:noFill/>
        </p:spPr>
        <p:txBody>
          <a:bodyPr wrap="square">
            <a:spAutoFit/>
          </a:bodyPr>
          <a:lstStyle/>
          <a:p>
            <a:r>
              <a:rPr lang="en-US" sz="2000" b="1" dirty="0">
                <a:solidFill>
                  <a:schemeClr val="tx2">
                    <a:lumMod val="75000"/>
                    <a:lumOff val="25000"/>
                  </a:schemeClr>
                </a:solidFill>
              </a:rPr>
              <a:t>Alignment and reliability, maintainability and sustainability, and security and privacy.</a:t>
            </a:r>
            <a:endParaRPr lang="en-GB" sz="2000" b="1" dirty="0"/>
          </a:p>
        </p:txBody>
      </p:sp>
      <p:pic>
        <p:nvPicPr>
          <p:cNvPr id="11" name="Picture 10">
            <a:extLst>
              <a:ext uri="{FF2B5EF4-FFF2-40B4-BE49-F238E27FC236}">
                <a16:creationId xmlns:a16="http://schemas.microsoft.com/office/drawing/2014/main" id="{EDAF59D5-A471-CD22-F1C8-ACE7A04637B9}"/>
              </a:ext>
            </a:extLst>
          </p:cNvPr>
          <p:cNvPicPr>
            <a:picLocks noChangeAspect="1"/>
          </p:cNvPicPr>
          <p:nvPr/>
        </p:nvPicPr>
        <p:blipFill>
          <a:blip r:embed="rId2"/>
          <a:stretch>
            <a:fillRect/>
          </a:stretch>
        </p:blipFill>
        <p:spPr>
          <a:xfrm>
            <a:off x="443033" y="1596002"/>
            <a:ext cx="6210769" cy="3143255"/>
          </a:xfrm>
          <a:prstGeom prst="rect">
            <a:avLst/>
          </a:prstGeom>
        </p:spPr>
      </p:pic>
    </p:spTree>
    <p:extLst>
      <p:ext uri="{BB962C8B-B14F-4D97-AF65-F5344CB8AC3E}">
        <p14:creationId xmlns:p14="http://schemas.microsoft.com/office/powerpoint/2010/main" val="4112480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8B210-EE7F-E410-016B-9F13F95DD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A1A14-A48C-3E62-4E0A-C26239921F89}"/>
              </a:ext>
            </a:extLst>
          </p:cNvPr>
          <p:cNvSpPr>
            <a:spLocks noGrp="1"/>
          </p:cNvSpPr>
          <p:nvPr>
            <p:ph type="title"/>
          </p:nvPr>
        </p:nvSpPr>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pic>
        <p:nvPicPr>
          <p:cNvPr id="3" name="Picture 2">
            <a:extLst>
              <a:ext uri="{FF2B5EF4-FFF2-40B4-BE49-F238E27FC236}">
                <a16:creationId xmlns:a16="http://schemas.microsoft.com/office/drawing/2014/main" id="{3F60FC7C-07A9-BD4C-0E24-B5AF54BFA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414" y="1889023"/>
            <a:ext cx="11177171" cy="39120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F90AF4C-B9FD-7762-FD27-6453D780FBA8}"/>
              </a:ext>
            </a:extLst>
          </p:cNvPr>
          <p:cNvSpPr txBox="1"/>
          <p:nvPr/>
        </p:nvSpPr>
        <p:spPr>
          <a:xfrm>
            <a:off x="2961968" y="3429000"/>
            <a:ext cx="1651819" cy="830997"/>
          </a:xfrm>
          <a:prstGeom prst="rect">
            <a:avLst/>
          </a:prstGeom>
          <a:noFill/>
        </p:spPr>
        <p:txBody>
          <a:bodyPr wrap="square">
            <a:spAutoFit/>
          </a:bodyPr>
          <a:lstStyle/>
          <a:p>
            <a:pPr algn="ctr"/>
            <a:r>
              <a:rPr lang="en-US" sz="2400" b="1" dirty="0">
                <a:solidFill>
                  <a:schemeClr val="tx2">
                    <a:lumMod val="75000"/>
                    <a:lumOff val="25000"/>
                  </a:schemeClr>
                </a:solidFill>
              </a:rPr>
              <a:t>Data Problem</a:t>
            </a:r>
          </a:p>
        </p:txBody>
      </p:sp>
      <p:sp>
        <p:nvSpPr>
          <p:cNvPr id="6" name="TextBox 5">
            <a:extLst>
              <a:ext uri="{FF2B5EF4-FFF2-40B4-BE49-F238E27FC236}">
                <a16:creationId xmlns:a16="http://schemas.microsoft.com/office/drawing/2014/main" id="{BF7693BD-6336-9849-31B4-973A42DB189E}"/>
              </a:ext>
            </a:extLst>
          </p:cNvPr>
          <p:cNvSpPr txBox="1"/>
          <p:nvPr/>
        </p:nvSpPr>
        <p:spPr>
          <a:xfrm>
            <a:off x="7578213" y="3452984"/>
            <a:ext cx="1651819" cy="830997"/>
          </a:xfrm>
          <a:prstGeom prst="rect">
            <a:avLst/>
          </a:prstGeom>
          <a:noFill/>
        </p:spPr>
        <p:txBody>
          <a:bodyPr wrap="square">
            <a:spAutoFit/>
          </a:bodyPr>
          <a:lstStyle/>
          <a:p>
            <a:pPr algn="ctr"/>
            <a:r>
              <a:rPr lang="en-US" sz="2400" b="1" dirty="0">
                <a:solidFill>
                  <a:schemeClr val="tx2">
                    <a:lumMod val="75000"/>
                    <a:lumOff val="25000"/>
                  </a:schemeClr>
                </a:solidFill>
              </a:rPr>
              <a:t>Data Pipeline</a:t>
            </a:r>
          </a:p>
        </p:txBody>
      </p:sp>
    </p:spTree>
    <p:extLst>
      <p:ext uri="{BB962C8B-B14F-4D97-AF65-F5344CB8AC3E}">
        <p14:creationId xmlns:p14="http://schemas.microsoft.com/office/powerpoint/2010/main" val="729559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0D3D4-3E88-5606-11D2-1C049AD53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092C0-AA78-FACE-CF98-24F890ACB36C}"/>
              </a:ext>
            </a:extLst>
          </p:cNvPr>
          <p:cNvSpPr>
            <a:spLocks noGrp="1"/>
          </p:cNvSpPr>
          <p:nvPr>
            <p:ph type="title"/>
          </p:nvPr>
        </p:nvSpPr>
        <p:spPr>
          <a:xfrm>
            <a:off x="838200" y="365125"/>
            <a:ext cx="5493774" cy="1325563"/>
          </a:xfrm>
        </p:spPr>
        <p:txBody>
          <a:bodyPr/>
          <a:lstStyle/>
          <a:p>
            <a:r>
              <a:rPr lang="en-US" b="1" dirty="0">
                <a:solidFill>
                  <a:schemeClr val="tx2">
                    <a:lumMod val="75000"/>
                    <a:lumOff val="25000"/>
                  </a:schemeClr>
                </a:solidFill>
              </a:rPr>
              <a:t>Data Problem</a:t>
            </a:r>
            <a:endParaRPr lang="en-GB" b="1" dirty="0">
              <a:solidFill>
                <a:schemeClr val="tx2">
                  <a:lumMod val="75000"/>
                  <a:lumOff val="25000"/>
                </a:schemeClr>
              </a:solidFill>
            </a:endParaRPr>
          </a:p>
        </p:txBody>
      </p:sp>
      <p:sp>
        <p:nvSpPr>
          <p:cNvPr id="4" name="Content Placeholder 2">
            <a:extLst>
              <a:ext uri="{FF2B5EF4-FFF2-40B4-BE49-F238E27FC236}">
                <a16:creationId xmlns:a16="http://schemas.microsoft.com/office/drawing/2014/main" id="{B5D5B842-E61E-A750-FB7D-798A366EB6E8}"/>
              </a:ext>
            </a:extLst>
          </p:cNvPr>
          <p:cNvSpPr>
            <a:spLocks noGrp="1"/>
          </p:cNvSpPr>
          <p:nvPr>
            <p:ph idx="1"/>
          </p:nvPr>
        </p:nvSpPr>
        <p:spPr>
          <a:xfrm>
            <a:off x="838200" y="1825625"/>
            <a:ext cx="5493774" cy="4351338"/>
          </a:xfrm>
        </p:spPr>
        <p:txBody>
          <a:bodyPr>
            <a:normAutofit lnSpcReduction="10000"/>
          </a:bodyPr>
          <a:lstStyle/>
          <a:p>
            <a:r>
              <a:rPr lang="en-US" dirty="0">
                <a:solidFill>
                  <a:schemeClr val="tx2">
                    <a:lumMod val="75000"/>
                    <a:lumOff val="25000"/>
                  </a:schemeClr>
                </a:solidFill>
              </a:rPr>
              <a:t>Understanding stakeholders’ needs</a:t>
            </a:r>
          </a:p>
          <a:p>
            <a:endParaRPr lang="en-US" dirty="0">
              <a:solidFill>
                <a:schemeClr val="tx2">
                  <a:lumMod val="75000"/>
                  <a:lumOff val="25000"/>
                </a:schemeClr>
              </a:solidFill>
            </a:endParaRPr>
          </a:p>
          <a:p>
            <a:r>
              <a:rPr lang="en-US" dirty="0">
                <a:solidFill>
                  <a:schemeClr val="tx2">
                    <a:lumMod val="75000"/>
                    <a:lumOff val="25000"/>
                  </a:schemeClr>
                </a:solidFill>
              </a:rPr>
              <a:t>Understanding resources and constraints</a:t>
            </a:r>
          </a:p>
          <a:p>
            <a:endParaRPr lang="en-US" dirty="0">
              <a:solidFill>
                <a:schemeClr val="tx2">
                  <a:lumMod val="75000"/>
                  <a:lumOff val="25000"/>
                </a:schemeClr>
              </a:solidFill>
            </a:endParaRPr>
          </a:p>
          <a:p>
            <a:r>
              <a:rPr lang="en-US" dirty="0">
                <a:solidFill>
                  <a:schemeClr val="tx2">
                    <a:lumMod val="75000"/>
                    <a:lumOff val="25000"/>
                  </a:schemeClr>
                </a:solidFill>
              </a:rPr>
              <a:t>Understanding data sources</a:t>
            </a:r>
          </a:p>
          <a:p>
            <a:endParaRPr lang="en-US" dirty="0">
              <a:solidFill>
                <a:schemeClr val="tx2">
                  <a:lumMod val="75000"/>
                  <a:lumOff val="25000"/>
                </a:schemeClr>
              </a:solidFill>
            </a:endParaRPr>
          </a:p>
          <a:p>
            <a:r>
              <a:rPr lang="en-US" dirty="0">
                <a:solidFill>
                  <a:schemeClr val="tx2">
                    <a:lumMod val="75000"/>
                    <a:lumOff val="25000"/>
                  </a:schemeClr>
                </a:solidFill>
              </a:rPr>
              <a:t>Understanding the nature of the data</a:t>
            </a:r>
          </a:p>
        </p:txBody>
      </p:sp>
    </p:spTree>
    <p:extLst>
      <p:ext uri="{BB962C8B-B14F-4D97-AF65-F5344CB8AC3E}">
        <p14:creationId xmlns:p14="http://schemas.microsoft.com/office/powerpoint/2010/main" val="1867135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ABAB0-7B95-3669-2DDD-17B8B325D8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A8F56-D481-38E8-6CE6-38DEE67C75FC}"/>
              </a:ext>
            </a:extLst>
          </p:cNvPr>
          <p:cNvSpPr>
            <a:spLocks noGrp="1"/>
          </p:cNvSpPr>
          <p:nvPr>
            <p:ph type="title"/>
          </p:nvPr>
        </p:nvSpPr>
        <p:spPr>
          <a:xfrm>
            <a:off x="838200" y="365125"/>
            <a:ext cx="5493774" cy="1325563"/>
          </a:xfrm>
        </p:spPr>
        <p:txBody>
          <a:bodyPr/>
          <a:lstStyle/>
          <a:p>
            <a:r>
              <a:rPr lang="en-US" b="1" dirty="0">
                <a:solidFill>
                  <a:schemeClr val="tx2">
                    <a:lumMod val="75000"/>
                    <a:lumOff val="25000"/>
                  </a:schemeClr>
                </a:solidFill>
              </a:rPr>
              <a:t>Data Problem</a:t>
            </a:r>
            <a:endParaRPr lang="en-GB" b="1" dirty="0">
              <a:solidFill>
                <a:schemeClr val="tx2">
                  <a:lumMod val="75000"/>
                  <a:lumOff val="25000"/>
                </a:schemeClr>
              </a:solidFill>
            </a:endParaRPr>
          </a:p>
        </p:txBody>
      </p:sp>
      <p:sp>
        <p:nvSpPr>
          <p:cNvPr id="4" name="Content Placeholder 2">
            <a:extLst>
              <a:ext uri="{FF2B5EF4-FFF2-40B4-BE49-F238E27FC236}">
                <a16:creationId xmlns:a16="http://schemas.microsoft.com/office/drawing/2014/main" id="{E80B8BFA-4190-C63F-EC1D-CFFC3D612EF4}"/>
              </a:ext>
            </a:extLst>
          </p:cNvPr>
          <p:cNvSpPr>
            <a:spLocks noGrp="1"/>
          </p:cNvSpPr>
          <p:nvPr>
            <p:ph idx="1"/>
          </p:nvPr>
        </p:nvSpPr>
        <p:spPr>
          <a:xfrm>
            <a:off x="838200" y="1825625"/>
            <a:ext cx="5493774" cy="4351338"/>
          </a:xfrm>
        </p:spPr>
        <p:txBody>
          <a:bodyPr>
            <a:normAutofit lnSpcReduction="10000"/>
          </a:bodyPr>
          <a:lstStyle/>
          <a:p>
            <a:r>
              <a:rPr lang="en-US" dirty="0">
                <a:solidFill>
                  <a:schemeClr val="tx2">
                    <a:lumMod val="75000"/>
                    <a:lumOff val="25000"/>
                  </a:schemeClr>
                </a:solidFill>
              </a:rPr>
              <a:t>Understanding stakeholders’ needs</a:t>
            </a:r>
          </a:p>
          <a:p>
            <a:endParaRPr lang="en-US" dirty="0">
              <a:solidFill>
                <a:schemeClr val="tx2">
                  <a:lumMod val="75000"/>
                  <a:lumOff val="25000"/>
                </a:schemeClr>
              </a:solidFill>
            </a:endParaRPr>
          </a:p>
          <a:p>
            <a:r>
              <a:rPr lang="en-US" dirty="0">
                <a:solidFill>
                  <a:schemeClr val="tx2">
                    <a:lumMod val="75000"/>
                    <a:lumOff val="25000"/>
                  </a:schemeClr>
                </a:solidFill>
              </a:rPr>
              <a:t>Understanding resources and constraints</a:t>
            </a:r>
          </a:p>
          <a:p>
            <a:endParaRPr lang="en-US" dirty="0">
              <a:solidFill>
                <a:schemeClr val="tx2">
                  <a:lumMod val="75000"/>
                  <a:lumOff val="25000"/>
                </a:schemeClr>
              </a:solidFill>
            </a:endParaRPr>
          </a:p>
          <a:p>
            <a:r>
              <a:rPr lang="en-US" dirty="0">
                <a:solidFill>
                  <a:schemeClr val="tx2">
                    <a:lumMod val="75000"/>
                    <a:lumOff val="25000"/>
                  </a:schemeClr>
                </a:solidFill>
              </a:rPr>
              <a:t>Understanding data sources</a:t>
            </a:r>
          </a:p>
          <a:p>
            <a:endParaRPr lang="en-US" dirty="0">
              <a:solidFill>
                <a:schemeClr val="tx2">
                  <a:lumMod val="75000"/>
                  <a:lumOff val="25000"/>
                </a:schemeClr>
              </a:solidFill>
            </a:endParaRPr>
          </a:p>
          <a:p>
            <a:r>
              <a:rPr lang="en-US" dirty="0">
                <a:solidFill>
                  <a:schemeClr val="tx2">
                    <a:lumMod val="75000"/>
                    <a:lumOff val="25000"/>
                  </a:schemeClr>
                </a:solidFill>
              </a:rPr>
              <a:t>Understanding the nature of the data</a:t>
            </a:r>
          </a:p>
        </p:txBody>
      </p:sp>
      <p:sp>
        <p:nvSpPr>
          <p:cNvPr id="7" name="Content Placeholder 2">
            <a:extLst>
              <a:ext uri="{FF2B5EF4-FFF2-40B4-BE49-F238E27FC236}">
                <a16:creationId xmlns:a16="http://schemas.microsoft.com/office/drawing/2014/main" id="{3F0C38D5-35A5-97E0-F705-08297CF89A3B}"/>
              </a:ext>
            </a:extLst>
          </p:cNvPr>
          <p:cNvSpPr txBox="1">
            <a:spLocks/>
          </p:cNvSpPr>
          <p:nvPr/>
        </p:nvSpPr>
        <p:spPr>
          <a:xfrm>
            <a:off x="6334449" y="1796129"/>
            <a:ext cx="5683027" cy="466164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2">
                    <a:lumMod val="75000"/>
                    <a:lumOff val="25000"/>
                  </a:schemeClr>
                </a:solidFill>
              </a:rPr>
              <a:t>Different points of view: </a:t>
            </a:r>
            <a:r>
              <a:rPr lang="en-US" b="1" dirty="0">
                <a:solidFill>
                  <a:schemeClr val="tx2">
                    <a:lumMod val="75000"/>
                    <a:lumOff val="25000"/>
                  </a:schemeClr>
                </a:solidFill>
              </a:rPr>
              <a:t>city council, landlord, tenants.</a:t>
            </a:r>
          </a:p>
          <a:p>
            <a:endParaRPr lang="en-US" b="1" dirty="0">
              <a:solidFill>
                <a:schemeClr val="tx2">
                  <a:lumMod val="75000"/>
                  <a:lumOff val="25000"/>
                </a:schemeClr>
              </a:solidFill>
            </a:endParaRPr>
          </a:p>
          <a:p>
            <a:r>
              <a:rPr lang="en-US" dirty="0">
                <a:solidFill>
                  <a:schemeClr val="tx2">
                    <a:lumMod val="75000"/>
                    <a:lumOff val="25000"/>
                  </a:schemeClr>
                </a:solidFill>
              </a:rPr>
              <a:t>Agility Systems: </a:t>
            </a:r>
            <a:r>
              <a:rPr lang="en-US" b="1" dirty="0">
                <a:solidFill>
                  <a:schemeClr val="tx2">
                    <a:lumMod val="75000"/>
                    <a:lumOff val="25000"/>
                  </a:schemeClr>
                </a:solidFill>
              </a:rPr>
              <a:t>Flexible resources (e.g., cloud database), and flexible architecture (i.e., library).</a:t>
            </a:r>
          </a:p>
          <a:p>
            <a:pPr marL="0" indent="0">
              <a:buNone/>
            </a:pPr>
            <a:endParaRPr lang="en-US" b="1" dirty="0">
              <a:solidFill>
                <a:schemeClr val="tx2">
                  <a:lumMod val="75000"/>
                  <a:lumOff val="25000"/>
                </a:schemeClr>
              </a:solidFill>
            </a:endParaRPr>
          </a:p>
          <a:p>
            <a:r>
              <a:rPr lang="en-US" dirty="0">
                <a:solidFill>
                  <a:schemeClr val="tx2">
                    <a:lumMod val="75000"/>
                    <a:lumOff val="25000"/>
                  </a:schemeClr>
                </a:solidFill>
              </a:rPr>
              <a:t>Dynamic Systems: </a:t>
            </a:r>
            <a:r>
              <a:rPr lang="en-US" b="1" dirty="0">
                <a:solidFill>
                  <a:schemeClr val="tx2">
                    <a:lumMod val="75000"/>
                    <a:lumOff val="25000"/>
                  </a:schemeClr>
                </a:solidFill>
              </a:rPr>
              <a:t>Heterogeneous data, temporal features, spatial data, etc. </a:t>
            </a:r>
            <a:endParaRPr lang="en-US" dirty="0">
              <a:solidFill>
                <a:schemeClr val="tx2">
                  <a:lumMod val="75000"/>
                  <a:lumOff val="25000"/>
                </a:schemeClr>
              </a:solidFill>
            </a:endParaRPr>
          </a:p>
        </p:txBody>
      </p:sp>
      <p:sp>
        <p:nvSpPr>
          <p:cNvPr id="8" name="Right Brace 7">
            <a:extLst>
              <a:ext uri="{FF2B5EF4-FFF2-40B4-BE49-F238E27FC236}">
                <a16:creationId xmlns:a16="http://schemas.microsoft.com/office/drawing/2014/main" id="{A9C9B1E2-94B4-B50C-A7D7-AE1DF18AD060}"/>
              </a:ext>
            </a:extLst>
          </p:cNvPr>
          <p:cNvSpPr/>
          <p:nvPr/>
        </p:nvSpPr>
        <p:spPr>
          <a:xfrm>
            <a:off x="5948516" y="1728455"/>
            <a:ext cx="383458" cy="454567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0" name="Title 1">
            <a:extLst>
              <a:ext uri="{FF2B5EF4-FFF2-40B4-BE49-F238E27FC236}">
                <a16:creationId xmlns:a16="http://schemas.microsoft.com/office/drawing/2014/main" id="{48B87D68-AB07-BB03-8795-58652781F8DC}"/>
              </a:ext>
            </a:extLst>
          </p:cNvPr>
          <p:cNvSpPr txBox="1">
            <a:spLocks/>
          </p:cNvSpPr>
          <p:nvPr/>
        </p:nvSpPr>
        <p:spPr>
          <a:xfrm>
            <a:off x="6523703" y="365125"/>
            <a:ext cx="549377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tx2">
                    <a:lumMod val="75000"/>
                    <a:lumOff val="25000"/>
                  </a:schemeClr>
                </a:solidFill>
              </a:rPr>
              <a:t>Systems Thinking</a:t>
            </a:r>
            <a:endParaRPr lang="en-GB" b="1" dirty="0">
              <a:solidFill>
                <a:schemeClr val="tx2">
                  <a:lumMod val="75000"/>
                  <a:lumOff val="25000"/>
                </a:schemeClr>
              </a:solidFill>
            </a:endParaRPr>
          </a:p>
        </p:txBody>
      </p:sp>
    </p:spTree>
    <p:extLst>
      <p:ext uri="{BB962C8B-B14F-4D97-AF65-F5344CB8AC3E}">
        <p14:creationId xmlns:p14="http://schemas.microsoft.com/office/powerpoint/2010/main" val="2686868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02A71-2ADB-09B6-2C29-87F4E7779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0054C-FBA6-B19B-3D29-1F40E6F037DE}"/>
              </a:ext>
            </a:extLst>
          </p:cNvPr>
          <p:cNvSpPr>
            <a:spLocks noGrp="1"/>
          </p:cNvSpPr>
          <p:nvPr>
            <p:ph type="title"/>
          </p:nvPr>
        </p:nvSpPr>
        <p:spPr/>
        <p:txBody>
          <a:bodyPr/>
          <a:lstStyle/>
          <a:p>
            <a:r>
              <a:rPr lang="en-US" b="1" dirty="0">
                <a:solidFill>
                  <a:schemeClr val="tx2">
                    <a:lumMod val="75000"/>
                    <a:lumOff val="25000"/>
                  </a:schemeClr>
                </a:solidFill>
              </a:rPr>
              <a:t>Data Pipeline</a:t>
            </a:r>
            <a:endParaRPr lang="en-GB" b="1" dirty="0">
              <a:solidFill>
                <a:schemeClr val="tx2">
                  <a:lumMod val="75000"/>
                  <a:lumOff val="25000"/>
                </a:schemeClr>
              </a:solidFill>
            </a:endParaRPr>
          </a:p>
        </p:txBody>
      </p:sp>
      <p:sp>
        <p:nvSpPr>
          <p:cNvPr id="18" name="Content Placeholder 2">
            <a:extLst>
              <a:ext uri="{FF2B5EF4-FFF2-40B4-BE49-F238E27FC236}">
                <a16:creationId xmlns:a16="http://schemas.microsoft.com/office/drawing/2014/main" id="{9EDA2E34-2AB1-040B-48D2-04DCBE77186C}"/>
              </a:ext>
            </a:extLst>
          </p:cNvPr>
          <p:cNvSpPr>
            <a:spLocks noGrp="1"/>
          </p:cNvSpPr>
          <p:nvPr>
            <p:ph idx="1"/>
          </p:nvPr>
        </p:nvSpPr>
        <p:spPr>
          <a:xfrm>
            <a:off x="838200" y="1825625"/>
            <a:ext cx="5493774" cy="4351338"/>
          </a:xfrm>
        </p:spPr>
        <p:txBody>
          <a:bodyPr>
            <a:normAutofit/>
          </a:bodyPr>
          <a:lstStyle/>
          <a:p>
            <a:pPr marL="0" indent="0">
              <a:buNone/>
            </a:pPr>
            <a:r>
              <a:rPr lang="en-US" dirty="0">
                <a:solidFill>
                  <a:schemeClr val="tx2">
                    <a:lumMod val="75000"/>
                    <a:lumOff val="25000"/>
                  </a:schemeClr>
                </a:solidFill>
              </a:rPr>
              <a:t>The </a:t>
            </a:r>
            <a:r>
              <a:rPr lang="en-US" dirty="0" err="1">
                <a:solidFill>
                  <a:schemeClr val="tx2">
                    <a:lumMod val="75000"/>
                    <a:lumOff val="25000"/>
                  </a:schemeClr>
                </a:solidFill>
              </a:rPr>
              <a:t>Fynesse</a:t>
            </a:r>
            <a:r>
              <a:rPr lang="en-US" dirty="0">
                <a:solidFill>
                  <a:schemeClr val="tx2">
                    <a:lumMod val="75000"/>
                    <a:lumOff val="25000"/>
                  </a:schemeClr>
                </a:solidFill>
              </a:rPr>
              <a:t> framework:</a:t>
            </a:r>
          </a:p>
          <a:p>
            <a:endParaRPr lang="en-US" dirty="0">
              <a:solidFill>
                <a:schemeClr val="tx2">
                  <a:lumMod val="75000"/>
                  <a:lumOff val="25000"/>
                </a:schemeClr>
              </a:solidFill>
            </a:endParaRPr>
          </a:p>
          <a:p>
            <a:r>
              <a:rPr lang="en-US" dirty="0">
                <a:solidFill>
                  <a:schemeClr val="tx2">
                    <a:lumMod val="75000"/>
                    <a:lumOff val="25000"/>
                  </a:schemeClr>
                </a:solidFill>
              </a:rPr>
              <a:t>Access</a:t>
            </a:r>
          </a:p>
          <a:p>
            <a:endParaRPr lang="en-US" dirty="0">
              <a:solidFill>
                <a:schemeClr val="tx2">
                  <a:lumMod val="75000"/>
                  <a:lumOff val="25000"/>
                </a:schemeClr>
              </a:solidFill>
            </a:endParaRPr>
          </a:p>
          <a:p>
            <a:r>
              <a:rPr lang="en-US" dirty="0">
                <a:solidFill>
                  <a:schemeClr val="tx2">
                    <a:lumMod val="75000"/>
                    <a:lumOff val="25000"/>
                  </a:schemeClr>
                </a:solidFill>
              </a:rPr>
              <a:t>Assess</a:t>
            </a:r>
          </a:p>
          <a:p>
            <a:endParaRPr lang="en-US" dirty="0">
              <a:solidFill>
                <a:schemeClr val="tx2">
                  <a:lumMod val="75000"/>
                  <a:lumOff val="25000"/>
                </a:schemeClr>
              </a:solidFill>
            </a:endParaRPr>
          </a:p>
          <a:p>
            <a:r>
              <a:rPr lang="en-US" dirty="0">
                <a:solidFill>
                  <a:schemeClr val="tx2">
                    <a:lumMod val="75000"/>
                    <a:lumOff val="25000"/>
                  </a:schemeClr>
                </a:solidFill>
              </a:rPr>
              <a:t>Address</a:t>
            </a:r>
          </a:p>
        </p:txBody>
      </p:sp>
    </p:spTree>
    <p:extLst>
      <p:ext uri="{BB962C8B-B14F-4D97-AF65-F5344CB8AC3E}">
        <p14:creationId xmlns:p14="http://schemas.microsoft.com/office/powerpoint/2010/main" val="5973697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4CF43-0BB2-EAC1-FBAE-32ADCC44E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28CAB-1D3B-5104-D4B5-CF37413785B6}"/>
              </a:ext>
            </a:extLst>
          </p:cNvPr>
          <p:cNvSpPr>
            <a:spLocks noGrp="1"/>
          </p:cNvSpPr>
          <p:nvPr>
            <p:ph type="title"/>
          </p:nvPr>
        </p:nvSpPr>
        <p:spPr/>
        <p:txBody>
          <a:bodyPr/>
          <a:lstStyle/>
          <a:p>
            <a:r>
              <a:rPr lang="en-US" b="1" dirty="0">
                <a:solidFill>
                  <a:schemeClr val="tx2">
                    <a:lumMod val="75000"/>
                    <a:lumOff val="25000"/>
                  </a:schemeClr>
                </a:solidFill>
              </a:rPr>
              <a:t>Data Pipeline</a:t>
            </a:r>
            <a:endParaRPr lang="en-GB" b="1" dirty="0">
              <a:solidFill>
                <a:schemeClr val="tx2">
                  <a:lumMod val="75000"/>
                  <a:lumOff val="25000"/>
                </a:schemeClr>
              </a:solidFill>
            </a:endParaRPr>
          </a:p>
        </p:txBody>
      </p:sp>
      <p:sp>
        <p:nvSpPr>
          <p:cNvPr id="18" name="Content Placeholder 2">
            <a:extLst>
              <a:ext uri="{FF2B5EF4-FFF2-40B4-BE49-F238E27FC236}">
                <a16:creationId xmlns:a16="http://schemas.microsoft.com/office/drawing/2014/main" id="{D49BA1B4-DD79-92AE-B256-D2B129E8AA8F}"/>
              </a:ext>
            </a:extLst>
          </p:cNvPr>
          <p:cNvSpPr>
            <a:spLocks noGrp="1"/>
          </p:cNvSpPr>
          <p:nvPr>
            <p:ph idx="1"/>
          </p:nvPr>
        </p:nvSpPr>
        <p:spPr>
          <a:xfrm>
            <a:off x="838200" y="1825625"/>
            <a:ext cx="5493774" cy="4351338"/>
          </a:xfrm>
        </p:spPr>
        <p:txBody>
          <a:bodyPr>
            <a:normAutofit/>
          </a:bodyPr>
          <a:lstStyle/>
          <a:p>
            <a:pPr marL="0" indent="0">
              <a:buNone/>
            </a:pPr>
            <a:r>
              <a:rPr lang="en-US" dirty="0">
                <a:solidFill>
                  <a:schemeClr val="tx2">
                    <a:lumMod val="75000"/>
                    <a:lumOff val="25000"/>
                  </a:schemeClr>
                </a:solidFill>
              </a:rPr>
              <a:t>The </a:t>
            </a:r>
            <a:r>
              <a:rPr lang="en-US" dirty="0" err="1">
                <a:solidFill>
                  <a:schemeClr val="tx2">
                    <a:lumMod val="75000"/>
                    <a:lumOff val="25000"/>
                  </a:schemeClr>
                </a:solidFill>
              </a:rPr>
              <a:t>Fynesse</a:t>
            </a:r>
            <a:r>
              <a:rPr lang="en-US" dirty="0">
                <a:solidFill>
                  <a:schemeClr val="tx2">
                    <a:lumMod val="75000"/>
                    <a:lumOff val="25000"/>
                  </a:schemeClr>
                </a:solidFill>
              </a:rPr>
              <a:t> framework:</a:t>
            </a:r>
          </a:p>
          <a:p>
            <a:endParaRPr lang="en-US" dirty="0">
              <a:solidFill>
                <a:schemeClr val="tx2">
                  <a:lumMod val="75000"/>
                  <a:lumOff val="25000"/>
                </a:schemeClr>
              </a:solidFill>
            </a:endParaRPr>
          </a:p>
          <a:p>
            <a:r>
              <a:rPr lang="en-US" dirty="0">
                <a:solidFill>
                  <a:schemeClr val="tx2">
                    <a:lumMod val="75000"/>
                    <a:lumOff val="25000"/>
                  </a:schemeClr>
                </a:solidFill>
              </a:rPr>
              <a:t>Access</a:t>
            </a:r>
          </a:p>
          <a:p>
            <a:endParaRPr lang="en-US" dirty="0">
              <a:solidFill>
                <a:schemeClr val="tx2">
                  <a:lumMod val="75000"/>
                  <a:lumOff val="25000"/>
                </a:schemeClr>
              </a:solidFill>
            </a:endParaRPr>
          </a:p>
          <a:p>
            <a:r>
              <a:rPr lang="en-US" dirty="0">
                <a:solidFill>
                  <a:schemeClr val="tx2">
                    <a:lumMod val="75000"/>
                    <a:lumOff val="25000"/>
                  </a:schemeClr>
                </a:solidFill>
              </a:rPr>
              <a:t>Assess</a:t>
            </a:r>
          </a:p>
          <a:p>
            <a:endParaRPr lang="en-US" dirty="0">
              <a:solidFill>
                <a:schemeClr val="tx2">
                  <a:lumMod val="75000"/>
                  <a:lumOff val="25000"/>
                </a:schemeClr>
              </a:solidFill>
            </a:endParaRPr>
          </a:p>
          <a:p>
            <a:r>
              <a:rPr lang="en-US" dirty="0">
                <a:solidFill>
                  <a:schemeClr val="tx2">
                    <a:lumMod val="75000"/>
                    <a:lumOff val="25000"/>
                  </a:schemeClr>
                </a:solidFill>
              </a:rPr>
              <a:t>Address</a:t>
            </a:r>
          </a:p>
        </p:txBody>
      </p:sp>
      <p:sp>
        <p:nvSpPr>
          <p:cNvPr id="19" name="Content Placeholder 2">
            <a:extLst>
              <a:ext uri="{FF2B5EF4-FFF2-40B4-BE49-F238E27FC236}">
                <a16:creationId xmlns:a16="http://schemas.microsoft.com/office/drawing/2014/main" id="{B5E0E5ED-333E-BB13-87D2-189322A8EA5C}"/>
              </a:ext>
            </a:extLst>
          </p:cNvPr>
          <p:cNvSpPr txBox="1">
            <a:spLocks/>
          </p:cNvSpPr>
          <p:nvPr/>
        </p:nvSpPr>
        <p:spPr>
          <a:xfrm>
            <a:off x="6334449" y="1796129"/>
            <a:ext cx="5683027" cy="46616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2">
                    <a:lumMod val="75000"/>
                    <a:lumOff val="25000"/>
                  </a:schemeClr>
                </a:solidFill>
              </a:rPr>
              <a:t>Top-down: </a:t>
            </a:r>
            <a:r>
              <a:rPr lang="en-US" b="1" dirty="0">
                <a:solidFill>
                  <a:schemeClr val="tx2">
                    <a:lumMod val="75000"/>
                    <a:lumOff val="25000"/>
                  </a:schemeClr>
                </a:solidFill>
              </a:rPr>
              <a:t>downloading and uploading data chunks.</a:t>
            </a:r>
          </a:p>
          <a:p>
            <a:endParaRPr lang="en-US" b="1" dirty="0">
              <a:solidFill>
                <a:schemeClr val="tx2">
                  <a:lumMod val="75000"/>
                  <a:lumOff val="25000"/>
                </a:schemeClr>
              </a:solidFill>
            </a:endParaRPr>
          </a:p>
          <a:p>
            <a:r>
              <a:rPr lang="en-US" dirty="0">
                <a:solidFill>
                  <a:schemeClr val="tx2">
                    <a:lumMod val="75000"/>
                    <a:lumOff val="25000"/>
                  </a:schemeClr>
                </a:solidFill>
              </a:rPr>
              <a:t>Variant creation: </a:t>
            </a:r>
            <a:r>
              <a:rPr lang="en-US" b="1" dirty="0">
                <a:solidFill>
                  <a:schemeClr val="tx2">
                    <a:lumMod val="75000"/>
                    <a:lumOff val="25000"/>
                  </a:schemeClr>
                </a:solidFill>
              </a:rPr>
              <a:t>exploring different data sources and management strategies.</a:t>
            </a:r>
          </a:p>
          <a:p>
            <a:endParaRPr lang="en-US" b="1" dirty="0">
              <a:solidFill>
                <a:schemeClr val="tx2">
                  <a:lumMod val="75000"/>
                  <a:lumOff val="25000"/>
                </a:schemeClr>
              </a:solidFill>
            </a:endParaRPr>
          </a:p>
          <a:p>
            <a:r>
              <a:rPr lang="en-US" dirty="0">
                <a:solidFill>
                  <a:schemeClr val="tx2">
                    <a:lumMod val="75000"/>
                    <a:lumOff val="25000"/>
                  </a:schemeClr>
                </a:solidFill>
              </a:rPr>
              <a:t>Problem-solving cycle: </a:t>
            </a:r>
            <a:r>
              <a:rPr lang="en-US" b="1" dirty="0">
                <a:solidFill>
                  <a:schemeClr val="tx2">
                    <a:lumMod val="75000"/>
                    <a:lumOff val="25000"/>
                  </a:schemeClr>
                </a:solidFill>
              </a:rPr>
              <a:t>access, assess, and address loop.</a:t>
            </a:r>
            <a:endParaRPr lang="en-US" dirty="0">
              <a:solidFill>
                <a:schemeClr val="tx2">
                  <a:lumMod val="75000"/>
                  <a:lumOff val="25000"/>
                </a:schemeClr>
              </a:solidFill>
            </a:endParaRPr>
          </a:p>
        </p:txBody>
      </p:sp>
      <p:sp>
        <p:nvSpPr>
          <p:cNvPr id="20" name="Right Brace 19">
            <a:extLst>
              <a:ext uri="{FF2B5EF4-FFF2-40B4-BE49-F238E27FC236}">
                <a16:creationId xmlns:a16="http://schemas.microsoft.com/office/drawing/2014/main" id="{675338D3-2A4A-CF27-34DF-544C4CE103DD}"/>
              </a:ext>
            </a:extLst>
          </p:cNvPr>
          <p:cNvSpPr/>
          <p:nvPr/>
        </p:nvSpPr>
        <p:spPr>
          <a:xfrm>
            <a:off x="5948516" y="1728455"/>
            <a:ext cx="383458" cy="454567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1" name="Title 1">
            <a:extLst>
              <a:ext uri="{FF2B5EF4-FFF2-40B4-BE49-F238E27FC236}">
                <a16:creationId xmlns:a16="http://schemas.microsoft.com/office/drawing/2014/main" id="{44063A94-51DA-621E-87C5-7121B98615DE}"/>
              </a:ext>
            </a:extLst>
          </p:cNvPr>
          <p:cNvSpPr txBox="1">
            <a:spLocks/>
          </p:cNvSpPr>
          <p:nvPr/>
        </p:nvSpPr>
        <p:spPr>
          <a:xfrm>
            <a:off x="6523703" y="365125"/>
            <a:ext cx="549377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tx2">
                    <a:lumMod val="75000"/>
                    <a:lumOff val="25000"/>
                  </a:schemeClr>
                </a:solidFill>
              </a:rPr>
              <a:t>Process Model</a:t>
            </a:r>
            <a:endParaRPr lang="en-GB" b="1" dirty="0">
              <a:solidFill>
                <a:schemeClr val="tx2">
                  <a:lumMod val="75000"/>
                  <a:lumOff val="25000"/>
                </a:schemeClr>
              </a:solidFill>
            </a:endParaRPr>
          </a:p>
        </p:txBody>
      </p:sp>
    </p:spTree>
    <p:extLst>
      <p:ext uri="{BB962C8B-B14F-4D97-AF65-F5344CB8AC3E}">
        <p14:creationId xmlns:p14="http://schemas.microsoft.com/office/powerpoint/2010/main" val="3901281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58B94-FCC8-CF6E-AB29-9B7B29E0ADF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FD40BC2-399F-8E43-A959-157D5FE84D96}"/>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sp>
        <p:nvSpPr>
          <p:cNvPr id="9" name="Rectangle 8">
            <a:extLst>
              <a:ext uri="{FF2B5EF4-FFF2-40B4-BE49-F238E27FC236}">
                <a16:creationId xmlns:a16="http://schemas.microsoft.com/office/drawing/2014/main" id="{8F07D4BE-7D59-DC6C-D1F6-B109CF1EBCB3}"/>
              </a:ext>
            </a:extLst>
          </p:cNvPr>
          <p:cNvSpPr/>
          <p:nvPr/>
        </p:nvSpPr>
        <p:spPr>
          <a:xfrm>
            <a:off x="5422374" y="2926142"/>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24" name="Rectangle 23">
            <a:extLst>
              <a:ext uri="{FF2B5EF4-FFF2-40B4-BE49-F238E27FC236}">
                <a16:creationId xmlns:a16="http://schemas.microsoft.com/office/drawing/2014/main" id="{7AB4D5F8-794F-D7E2-4840-E94AD2321227}"/>
              </a:ext>
            </a:extLst>
          </p:cNvPr>
          <p:cNvSpPr/>
          <p:nvPr/>
        </p:nvSpPr>
        <p:spPr>
          <a:xfrm>
            <a:off x="3383502"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25" name="Rectangle 24">
            <a:extLst>
              <a:ext uri="{FF2B5EF4-FFF2-40B4-BE49-F238E27FC236}">
                <a16:creationId xmlns:a16="http://schemas.microsoft.com/office/drawing/2014/main" id="{8334C933-A5ED-BE82-3A18-B72FCA8C2DC5}"/>
              </a:ext>
            </a:extLst>
          </p:cNvPr>
          <p:cNvSpPr/>
          <p:nvPr/>
        </p:nvSpPr>
        <p:spPr>
          <a:xfrm>
            <a:off x="7461248"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spTree>
    <p:extLst>
      <p:ext uri="{BB962C8B-B14F-4D97-AF65-F5344CB8AC3E}">
        <p14:creationId xmlns:p14="http://schemas.microsoft.com/office/powerpoint/2010/main" val="7907663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53BE4-2787-57CD-6D61-C702A947C3F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58A55AE-4D55-7C34-587C-D30B98ADA3FE}"/>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sp>
        <p:nvSpPr>
          <p:cNvPr id="9" name="Rectangle 8">
            <a:extLst>
              <a:ext uri="{FF2B5EF4-FFF2-40B4-BE49-F238E27FC236}">
                <a16:creationId xmlns:a16="http://schemas.microsoft.com/office/drawing/2014/main" id="{F08AB332-1051-754D-90D4-956352FF9E7E}"/>
              </a:ext>
            </a:extLst>
          </p:cNvPr>
          <p:cNvSpPr/>
          <p:nvPr/>
        </p:nvSpPr>
        <p:spPr>
          <a:xfrm>
            <a:off x="5422374" y="2926142"/>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24" name="Rectangle 23">
            <a:extLst>
              <a:ext uri="{FF2B5EF4-FFF2-40B4-BE49-F238E27FC236}">
                <a16:creationId xmlns:a16="http://schemas.microsoft.com/office/drawing/2014/main" id="{E9BE2CB0-07E3-5089-FC38-F9E6EABD1044}"/>
              </a:ext>
            </a:extLst>
          </p:cNvPr>
          <p:cNvSpPr/>
          <p:nvPr/>
        </p:nvSpPr>
        <p:spPr>
          <a:xfrm>
            <a:off x="3383502"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25" name="Rectangle 24">
            <a:extLst>
              <a:ext uri="{FF2B5EF4-FFF2-40B4-BE49-F238E27FC236}">
                <a16:creationId xmlns:a16="http://schemas.microsoft.com/office/drawing/2014/main" id="{186C33EC-3760-577A-CDAC-0D831C0DE242}"/>
              </a:ext>
            </a:extLst>
          </p:cNvPr>
          <p:cNvSpPr/>
          <p:nvPr/>
        </p:nvSpPr>
        <p:spPr>
          <a:xfrm>
            <a:off x="7461248"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cxnSp>
        <p:nvCxnSpPr>
          <p:cNvPr id="11" name="Connector: Curved 10">
            <a:extLst>
              <a:ext uri="{FF2B5EF4-FFF2-40B4-BE49-F238E27FC236}">
                <a16:creationId xmlns:a16="http://schemas.microsoft.com/office/drawing/2014/main" id="{3C0469A6-CB9B-FFBD-EE26-101C3D8DB27A}"/>
              </a:ext>
            </a:extLst>
          </p:cNvPr>
          <p:cNvCxnSpPr>
            <a:stCxn id="24" idx="0"/>
            <a:endCxn id="9" idx="1"/>
          </p:cNvCxnSpPr>
          <p:nvPr/>
        </p:nvCxnSpPr>
        <p:spPr>
          <a:xfrm rot="5400000" flipH="1" flipV="1">
            <a:off x="4382065" y="2920434"/>
            <a:ext cx="715372" cy="1365246"/>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Connector: Curved 12">
            <a:extLst>
              <a:ext uri="{FF2B5EF4-FFF2-40B4-BE49-F238E27FC236}">
                <a16:creationId xmlns:a16="http://schemas.microsoft.com/office/drawing/2014/main" id="{A1A851B9-19D8-7CA5-F192-9E9AD723B805}"/>
              </a:ext>
            </a:extLst>
          </p:cNvPr>
          <p:cNvCxnSpPr>
            <a:stCxn id="9" idx="3"/>
            <a:endCxn id="25" idx="0"/>
          </p:cNvCxnSpPr>
          <p:nvPr/>
        </p:nvCxnSpPr>
        <p:spPr>
          <a:xfrm>
            <a:off x="6769626" y="3245371"/>
            <a:ext cx="1365248" cy="715372"/>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Connector: Curved 26">
            <a:extLst>
              <a:ext uri="{FF2B5EF4-FFF2-40B4-BE49-F238E27FC236}">
                <a16:creationId xmlns:a16="http://schemas.microsoft.com/office/drawing/2014/main" id="{3332403E-D94B-7F87-CF5C-1FCF2B96B4ED}"/>
              </a:ext>
            </a:extLst>
          </p:cNvPr>
          <p:cNvCxnSpPr>
            <a:stCxn id="25" idx="2"/>
            <a:endCxn id="24" idx="2"/>
          </p:cNvCxnSpPr>
          <p:nvPr/>
        </p:nvCxnSpPr>
        <p:spPr>
          <a:xfrm rot="5400000">
            <a:off x="6096001" y="2560327"/>
            <a:ext cx="12700" cy="4077746"/>
          </a:xfrm>
          <a:prstGeom prst="curvedConnector3">
            <a:avLst>
              <a:gd name="adj1" fmla="val 5021047"/>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12554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4CD3-484C-E6A0-E0E4-6AE2BFAD632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9996134-50E3-A4D6-7ACB-4DFF5EC91097}"/>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sp>
        <p:nvSpPr>
          <p:cNvPr id="9" name="Rectangle 8">
            <a:extLst>
              <a:ext uri="{FF2B5EF4-FFF2-40B4-BE49-F238E27FC236}">
                <a16:creationId xmlns:a16="http://schemas.microsoft.com/office/drawing/2014/main" id="{7FB7F2B0-C58F-B554-B87E-5CC0386AEABC}"/>
              </a:ext>
            </a:extLst>
          </p:cNvPr>
          <p:cNvSpPr/>
          <p:nvPr/>
        </p:nvSpPr>
        <p:spPr>
          <a:xfrm>
            <a:off x="5422374" y="2926142"/>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24" name="Rectangle 23">
            <a:extLst>
              <a:ext uri="{FF2B5EF4-FFF2-40B4-BE49-F238E27FC236}">
                <a16:creationId xmlns:a16="http://schemas.microsoft.com/office/drawing/2014/main" id="{5EDCDA31-E368-906A-4E9B-B51158EAB7C7}"/>
              </a:ext>
            </a:extLst>
          </p:cNvPr>
          <p:cNvSpPr/>
          <p:nvPr/>
        </p:nvSpPr>
        <p:spPr>
          <a:xfrm>
            <a:off x="3383502"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25" name="Rectangle 24">
            <a:extLst>
              <a:ext uri="{FF2B5EF4-FFF2-40B4-BE49-F238E27FC236}">
                <a16:creationId xmlns:a16="http://schemas.microsoft.com/office/drawing/2014/main" id="{4FB36719-726B-25DA-7E3B-08AF8E45F1D2}"/>
              </a:ext>
            </a:extLst>
          </p:cNvPr>
          <p:cNvSpPr/>
          <p:nvPr/>
        </p:nvSpPr>
        <p:spPr>
          <a:xfrm>
            <a:off x="7461248"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cxnSp>
        <p:nvCxnSpPr>
          <p:cNvPr id="11" name="Connector: Curved 10">
            <a:extLst>
              <a:ext uri="{FF2B5EF4-FFF2-40B4-BE49-F238E27FC236}">
                <a16:creationId xmlns:a16="http://schemas.microsoft.com/office/drawing/2014/main" id="{CCA7F634-E428-54AA-ACC3-E650AFB260F3}"/>
              </a:ext>
            </a:extLst>
          </p:cNvPr>
          <p:cNvCxnSpPr>
            <a:stCxn id="24" idx="0"/>
            <a:endCxn id="9" idx="1"/>
          </p:cNvCxnSpPr>
          <p:nvPr/>
        </p:nvCxnSpPr>
        <p:spPr>
          <a:xfrm rot="5400000" flipH="1" flipV="1">
            <a:off x="4382065" y="2920434"/>
            <a:ext cx="715372" cy="1365246"/>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Connector: Curved 12">
            <a:extLst>
              <a:ext uri="{FF2B5EF4-FFF2-40B4-BE49-F238E27FC236}">
                <a16:creationId xmlns:a16="http://schemas.microsoft.com/office/drawing/2014/main" id="{DEF44E05-3D94-7E23-6F03-0EFEF9ED8310}"/>
              </a:ext>
            </a:extLst>
          </p:cNvPr>
          <p:cNvCxnSpPr>
            <a:stCxn id="9" idx="3"/>
            <a:endCxn id="25" idx="0"/>
          </p:cNvCxnSpPr>
          <p:nvPr/>
        </p:nvCxnSpPr>
        <p:spPr>
          <a:xfrm>
            <a:off x="6769626" y="3245371"/>
            <a:ext cx="1365248" cy="715372"/>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Connector: Curved 26">
            <a:extLst>
              <a:ext uri="{FF2B5EF4-FFF2-40B4-BE49-F238E27FC236}">
                <a16:creationId xmlns:a16="http://schemas.microsoft.com/office/drawing/2014/main" id="{3E97110C-2591-841B-A9F3-A7F4F38994B2}"/>
              </a:ext>
            </a:extLst>
          </p:cNvPr>
          <p:cNvCxnSpPr>
            <a:stCxn id="25" idx="2"/>
            <a:endCxn id="24" idx="2"/>
          </p:cNvCxnSpPr>
          <p:nvPr/>
        </p:nvCxnSpPr>
        <p:spPr>
          <a:xfrm rot="5400000">
            <a:off x="6096001" y="2560327"/>
            <a:ext cx="12700" cy="4077746"/>
          </a:xfrm>
          <a:prstGeom prst="curvedConnector3">
            <a:avLst>
              <a:gd name="adj1" fmla="val 5021047"/>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53472DF6-446C-E779-2308-7C743D62DED0}"/>
              </a:ext>
            </a:extLst>
          </p:cNvPr>
          <p:cNvSpPr/>
          <p:nvPr/>
        </p:nvSpPr>
        <p:spPr>
          <a:xfrm>
            <a:off x="3239729" y="2571967"/>
            <a:ext cx="5712542"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AC92D2CD-958B-EE1F-D370-4A1D7D90A8F6}"/>
              </a:ext>
            </a:extLst>
          </p:cNvPr>
          <p:cNvSpPr txBox="1"/>
          <p:nvPr/>
        </p:nvSpPr>
        <p:spPr>
          <a:xfrm>
            <a:off x="7563347" y="2568095"/>
            <a:ext cx="1397947" cy="369332"/>
          </a:xfrm>
          <a:prstGeom prst="rect">
            <a:avLst/>
          </a:prstGeom>
          <a:noFill/>
        </p:spPr>
        <p:txBody>
          <a:bodyPr wrap="none" rtlCol="0">
            <a:spAutoFit/>
          </a:bodyPr>
          <a:lstStyle/>
          <a:p>
            <a:r>
              <a:rPr lang="en-US" b="1" dirty="0">
                <a:solidFill>
                  <a:srgbClr val="003E74"/>
                </a:solidFill>
              </a:rPr>
              <a:t>ADS Library</a:t>
            </a:r>
            <a:endParaRPr lang="en-GB" b="1" dirty="0">
              <a:solidFill>
                <a:srgbClr val="003E74"/>
              </a:solidFill>
            </a:endParaRPr>
          </a:p>
        </p:txBody>
      </p:sp>
    </p:spTree>
    <p:extLst>
      <p:ext uri="{BB962C8B-B14F-4D97-AF65-F5344CB8AC3E}">
        <p14:creationId xmlns:p14="http://schemas.microsoft.com/office/powerpoint/2010/main" val="27885705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567-A84A-EA0C-E8C8-4EDD3215C61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8B9D897-0F33-8171-0A99-3161ABC3E84C}"/>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sp>
        <p:nvSpPr>
          <p:cNvPr id="9" name="Rectangle 8">
            <a:extLst>
              <a:ext uri="{FF2B5EF4-FFF2-40B4-BE49-F238E27FC236}">
                <a16:creationId xmlns:a16="http://schemas.microsoft.com/office/drawing/2014/main" id="{17AB97DC-F3B3-12A1-FCD6-F1DA53842449}"/>
              </a:ext>
            </a:extLst>
          </p:cNvPr>
          <p:cNvSpPr/>
          <p:nvPr/>
        </p:nvSpPr>
        <p:spPr>
          <a:xfrm>
            <a:off x="5422374" y="2926142"/>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24" name="Rectangle 23">
            <a:extLst>
              <a:ext uri="{FF2B5EF4-FFF2-40B4-BE49-F238E27FC236}">
                <a16:creationId xmlns:a16="http://schemas.microsoft.com/office/drawing/2014/main" id="{AFFAC978-48E5-EE25-B843-F452EBC381A4}"/>
              </a:ext>
            </a:extLst>
          </p:cNvPr>
          <p:cNvSpPr/>
          <p:nvPr/>
        </p:nvSpPr>
        <p:spPr>
          <a:xfrm>
            <a:off x="3383502"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25" name="Rectangle 24">
            <a:extLst>
              <a:ext uri="{FF2B5EF4-FFF2-40B4-BE49-F238E27FC236}">
                <a16:creationId xmlns:a16="http://schemas.microsoft.com/office/drawing/2014/main" id="{B06D480E-7BD6-8510-80FE-EFE6FDE6C051}"/>
              </a:ext>
            </a:extLst>
          </p:cNvPr>
          <p:cNvSpPr/>
          <p:nvPr/>
        </p:nvSpPr>
        <p:spPr>
          <a:xfrm>
            <a:off x="7461248"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cxnSp>
        <p:nvCxnSpPr>
          <p:cNvPr id="11" name="Connector: Curved 10">
            <a:extLst>
              <a:ext uri="{FF2B5EF4-FFF2-40B4-BE49-F238E27FC236}">
                <a16:creationId xmlns:a16="http://schemas.microsoft.com/office/drawing/2014/main" id="{DFD34198-5415-9905-C041-5A87DF3C9366}"/>
              </a:ext>
            </a:extLst>
          </p:cNvPr>
          <p:cNvCxnSpPr>
            <a:stCxn id="24" idx="0"/>
            <a:endCxn id="9" idx="1"/>
          </p:cNvCxnSpPr>
          <p:nvPr/>
        </p:nvCxnSpPr>
        <p:spPr>
          <a:xfrm rot="5400000" flipH="1" flipV="1">
            <a:off x="4382065" y="2920434"/>
            <a:ext cx="715372" cy="1365246"/>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Connector: Curved 12">
            <a:extLst>
              <a:ext uri="{FF2B5EF4-FFF2-40B4-BE49-F238E27FC236}">
                <a16:creationId xmlns:a16="http://schemas.microsoft.com/office/drawing/2014/main" id="{99450B4E-A684-DACD-DCB0-8618A99D7FC2}"/>
              </a:ext>
            </a:extLst>
          </p:cNvPr>
          <p:cNvCxnSpPr>
            <a:stCxn id="9" idx="3"/>
            <a:endCxn id="25" idx="0"/>
          </p:cNvCxnSpPr>
          <p:nvPr/>
        </p:nvCxnSpPr>
        <p:spPr>
          <a:xfrm>
            <a:off x="6769626" y="3245371"/>
            <a:ext cx="1365248" cy="715372"/>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Connector: Curved 26">
            <a:extLst>
              <a:ext uri="{FF2B5EF4-FFF2-40B4-BE49-F238E27FC236}">
                <a16:creationId xmlns:a16="http://schemas.microsoft.com/office/drawing/2014/main" id="{09E8D884-CE9F-10BD-570E-C753657D7124}"/>
              </a:ext>
            </a:extLst>
          </p:cNvPr>
          <p:cNvCxnSpPr>
            <a:stCxn id="25" idx="2"/>
            <a:endCxn id="24" idx="2"/>
          </p:cNvCxnSpPr>
          <p:nvPr/>
        </p:nvCxnSpPr>
        <p:spPr>
          <a:xfrm rot="5400000">
            <a:off x="6096001" y="2560327"/>
            <a:ext cx="12700" cy="4077746"/>
          </a:xfrm>
          <a:prstGeom prst="curvedConnector3">
            <a:avLst>
              <a:gd name="adj1" fmla="val 5021047"/>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6469C9A2-9960-51B1-D07D-CCE8F0D2E54C}"/>
              </a:ext>
            </a:extLst>
          </p:cNvPr>
          <p:cNvSpPr/>
          <p:nvPr/>
        </p:nvSpPr>
        <p:spPr>
          <a:xfrm>
            <a:off x="3239729" y="2571967"/>
            <a:ext cx="5712542"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DC4FAA55-875B-76BC-180A-5B01C3131D5D}"/>
              </a:ext>
            </a:extLst>
          </p:cNvPr>
          <p:cNvSpPr txBox="1"/>
          <p:nvPr/>
        </p:nvSpPr>
        <p:spPr>
          <a:xfrm>
            <a:off x="7563347" y="2568095"/>
            <a:ext cx="1397947" cy="369332"/>
          </a:xfrm>
          <a:prstGeom prst="rect">
            <a:avLst/>
          </a:prstGeom>
          <a:noFill/>
        </p:spPr>
        <p:txBody>
          <a:bodyPr wrap="none" rtlCol="0">
            <a:spAutoFit/>
          </a:bodyPr>
          <a:lstStyle/>
          <a:p>
            <a:r>
              <a:rPr lang="en-US" b="1" dirty="0">
                <a:solidFill>
                  <a:srgbClr val="003E74"/>
                </a:solidFill>
              </a:rPr>
              <a:t>ADS Library</a:t>
            </a:r>
            <a:endParaRPr lang="en-GB" b="1" dirty="0">
              <a:solidFill>
                <a:srgbClr val="003E74"/>
              </a:solidFill>
            </a:endParaRPr>
          </a:p>
        </p:txBody>
      </p:sp>
      <p:pic>
        <p:nvPicPr>
          <p:cNvPr id="34" name="Picture 33">
            <a:extLst>
              <a:ext uri="{FF2B5EF4-FFF2-40B4-BE49-F238E27FC236}">
                <a16:creationId xmlns:a16="http://schemas.microsoft.com/office/drawing/2014/main" id="{0EE31E6A-74F0-D9F2-887B-59E557ABBC27}"/>
              </a:ext>
            </a:extLst>
          </p:cNvPr>
          <p:cNvPicPr>
            <a:picLocks noChangeAspect="1"/>
          </p:cNvPicPr>
          <p:nvPr/>
        </p:nvPicPr>
        <p:blipFill>
          <a:blip r:embed="rId2"/>
          <a:srcRect l="33563" t="24593" r="33847" b="24840"/>
          <a:stretch/>
        </p:blipFill>
        <p:spPr>
          <a:xfrm>
            <a:off x="628080" y="3352009"/>
            <a:ext cx="1614208" cy="1637610"/>
          </a:xfrm>
          <a:prstGeom prst="rect">
            <a:avLst/>
          </a:prstGeom>
        </p:spPr>
      </p:pic>
      <p:cxnSp>
        <p:nvCxnSpPr>
          <p:cNvPr id="36" name="Straight Arrow Connector 35">
            <a:extLst>
              <a:ext uri="{FF2B5EF4-FFF2-40B4-BE49-F238E27FC236}">
                <a16:creationId xmlns:a16="http://schemas.microsoft.com/office/drawing/2014/main" id="{FBDDECD9-1AC1-CB5D-201C-B3BCA5B05B34}"/>
              </a:ext>
            </a:extLst>
          </p:cNvPr>
          <p:cNvCxnSpPr>
            <a:stCxn id="30" idx="1"/>
            <a:endCxn id="34" idx="3"/>
          </p:cNvCxnSpPr>
          <p:nvPr/>
        </p:nvCxnSpPr>
        <p:spPr>
          <a:xfrm flipH="1">
            <a:off x="2242288" y="4170814"/>
            <a:ext cx="99744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6148" name="Picture 4" descr="As of 2021, which python version is Google Colab using? - AskPython">
            <a:extLst>
              <a:ext uri="{FF2B5EF4-FFF2-40B4-BE49-F238E27FC236}">
                <a16:creationId xmlns:a16="http://schemas.microsoft.com/office/drawing/2014/main" id="{BEB2985D-A81A-DAF3-391C-836D2FF9D4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9712" y="3700646"/>
            <a:ext cx="2143964" cy="940335"/>
          </a:xfrm>
          <a:prstGeom prst="rect">
            <a:avLst/>
          </a:prstGeom>
          <a:noFill/>
          <a:extLst>
            <a:ext uri="{909E8E84-426E-40DD-AFC4-6F175D3DCCD1}">
              <a14:hiddenFill xmlns:a14="http://schemas.microsoft.com/office/drawing/2010/main">
                <a:solidFill>
                  <a:srgbClr val="FFFFFF"/>
                </a:solidFill>
              </a14:hiddenFill>
            </a:ext>
          </a:extLst>
        </p:spPr>
      </p:pic>
      <p:cxnSp>
        <p:nvCxnSpPr>
          <p:cNvPr id="38" name="Straight Arrow Connector 37">
            <a:extLst>
              <a:ext uri="{FF2B5EF4-FFF2-40B4-BE49-F238E27FC236}">
                <a16:creationId xmlns:a16="http://schemas.microsoft.com/office/drawing/2014/main" id="{701456E5-65DC-F9E5-109C-39F0A7BCFE24}"/>
              </a:ext>
            </a:extLst>
          </p:cNvPr>
          <p:cNvCxnSpPr>
            <a:stCxn id="6148" idx="1"/>
            <a:endCxn id="30" idx="3"/>
          </p:cNvCxnSpPr>
          <p:nvPr/>
        </p:nvCxnSpPr>
        <p:spPr>
          <a:xfrm flipH="1">
            <a:off x="8952271" y="4170814"/>
            <a:ext cx="99744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98671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94242-6D75-12DA-B1F8-AD271101F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A2F68-A409-645F-4A5A-328006946325}"/>
              </a:ext>
            </a:extLst>
          </p:cNvPr>
          <p:cNvSpPr>
            <a:spLocks noGrp="1"/>
          </p:cNvSpPr>
          <p:nvPr>
            <p:ph type="title"/>
          </p:nvPr>
        </p:nvSpPr>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pic>
        <p:nvPicPr>
          <p:cNvPr id="3" name="Picture 2">
            <a:extLst>
              <a:ext uri="{FF2B5EF4-FFF2-40B4-BE49-F238E27FC236}">
                <a16:creationId xmlns:a16="http://schemas.microsoft.com/office/drawing/2014/main" id="{A47B2865-5892-4BFA-6542-8098AC55FB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414" y="2547788"/>
            <a:ext cx="11177171" cy="391201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C8565C96-6447-14B7-E0EB-BB6DE5DB18E8}"/>
              </a:ext>
            </a:extLst>
          </p:cNvPr>
          <p:cNvSpPr/>
          <p:nvPr/>
        </p:nvSpPr>
        <p:spPr>
          <a:xfrm>
            <a:off x="4689987" y="3352793"/>
            <a:ext cx="2684207" cy="233024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0" name="TextBox 19">
            <a:extLst>
              <a:ext uri="{FF2B5EF4-FFF2-40B4-BE49-F238E27FC236}">
                <a16:creationId xmlns:a16="http://schemas.microsoft.com/office/drawing/2014/main" id="{38293CC0-515A-276A-4690-ED56A1E61B39}"/>
              </a:ext>
            </a:extLst>
          </p:cNvPr>
          <p:cNvSpPr txBox="1"/>
          <p:nvPr/>
        </p:nvSpPr>
        <p:spPr>
          <a:xfrm>
            <a:off x="507411" y="1587283"/>
            <a:ext cx="6109957" cy="1200329"/>
          </a:xfrm>
          <a:prstGeom prst="rect">
            <a:avLst/>
          </a:prstGeom>
          <a:noFill/>
        </p:spPr>
        <p:txBody>
          <a:bodyPr wrap="square">
            <a:spAutoFit/>
          </a:bodyPr>
          <a:lstStyle/>
          <a:p>
            <a:r>
              <a:rPr lang="en-GB" sz="2400" b="1" dirty="0">
                <a:solidFill>
                  <a:srgbClr val="215F9A"/>
                </a:solidFill>
              </a:rPr>
              <a:t>- Data from UK citizens and infrastructure.</a:t>
            </a:r>
          </a:p>
          <a:p>
            <a:r>
              <a:rPr lang="en-GB" sz="2400" b="1" dirty="0">
                <a:solidFill>
                  <a:srgbClr val="215F9A"/>
                </a:solidFill>
              </a:rPr>
              <a:t>- gov.UK and institutions managing data.</a:t>
            </a:r>
          </a:p>
          <a:p>
            <a:r>
              <a:rPr lang="en-GB" sz="2400" b="1" dirty="0">
                <a:solidFill>
                  <a:srgbClr val="215F9A"/>
                </a:solidFill>
              </a:rPr>
              <a:t>- Open Street Maps (OSM).</a:t>
            </a:r>
            <a:endParaRPr lang="en-GB" sz="2400" dirty="0">
              <a:solidFill>
                <a:srgbClr val="215F9A"/>
              </a:solidFill>
            </a:endParaRPr>
          </a:p>
        </p:txBody>
      </p:sp>
      <p:sp>
        <p:nvSpPr>
          <p:cNvPr id="21" name="TextBox 20">
            <a:extLst>
              <a:ext uri="{FF2B5EF4-FFF2-40B4-BE49-F238E27FC236}">
                <a16:creationId xmlns:a16="http://schemas.microsoft.com/office/drawing/2014/main" id="{52EAB7B9-1D8C-40E1-050A-17112080993B}"/>
              </a:ext>
            </a:extLst>
          </p:cNvPr>
          <p:cNvSpPr txBox="1"/>
          <p:nvPr/>
        </p:nvSpPr>
        <p:spPr>
          <a:xfrm>
            <a:off x="9055509" y="6262042"/>
            <a:ext cx="2629076" cy="461665"/>
          </a:xfrm>
          <a:prstGeom prst="rect">
            <a:avLst/>
          </a:prstGeom>
          <a:noFill/>
        </p:spPr>
        <p:txBody>
          <a:bodyPr wrap="square">
            <a:spAutoFit/>
          </a:bodyPr>
          <a:lstStyle/>
          <a:p>
            <a:r>
              <a:rPr lang="en-US" sz="2400" b="1" dirty="0">
                <a:solidFill>
                  <a:srgbClr val="215F9A"/>
                </a:solidFill>
              </a:rPr>
              <a:t>Learning models</a:t>
            </a:r>
            <a:endParaRPr lang="en-GB" sz="2400" dirty="0">
              <a:solidFill>
                <a:srgbClr val="215F9A"/>
              </a:solidFill>
            </a:endParaRPr>
          </a:p>
        </p:txBody>
      </p:sp>
      <p:pic>
        <p:nvPicPr>
          <p:cNvPr id="4" name="Picture 3">
            <a:extLst>
              <a:ext uri="{FF2B5EF4-FFF2-40B4-BE49-F238E27FC236}">
                <a16:creationId xmlns:a16="http://schemas.microsoft.com/office/drawing/2014/main" id="{648C3F17-0F29-ED73-EDE6-1452B6821BA1}"/>
              </a:ext>
            </a:extLst>
          </p:cNvPr>
          <p:cNvPicPr>
            <a:picLocks noChangeAspect="1"/>
          </p:cNvPicPr>
          <p:nvPr/>
        </p:nvPicPr>
        <p:blipFill>
          <a:blip r:embed="rId3"/>
          <a:stretch>
            <a:fillRect/>
          </a:stretch>
        </p:blipFill>
        <p:spPr>
          <a:xfrm>
            <a:off x="4360618" y="3567557"/>
            <a:ext cx="3342943" cy="1872471"/>
          </a:xfrm>
          <a:prstGeom prst="rect">
            <a:avLst/>
          </a:prstGeom>
        </p:spPr>
      </p:pic>
    </p:spTree>
    <p:extLst>
      <p:ext uri="{BB962C8B-B14F-4D97-AF65-F5344CB8AC3E}">
        <p14:creationId xmlns:p14="http://schemas.microsoft.com/office/powerpoint/2010/main" val="3005260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74EAB-8626-1EA2-54C1-1E3EC6AFA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70BFE8-99D2-4EBA-4695-53CD56140653}"/>
              </a:ext>
            </a:extLst>
          </p:cNvPr>
          <p:cNvSpPr>
            <a:spLocks noGrp="1"/>
          </p:cNvSpPr>
          <p:nvPr>
            <p:ph type="title"/>
          </p:nvPr>
        </p:nvSpPr>
        <p:spPr/>
        <p:txBody>
          <a:bodyPr/>
          <a:lstStyle/>
          <a:p>
            <a:r>
              <a:rPr lang="en-US" b="1" dirty="0">
                <a:solidFill>
                  <a:schemeClr val="tx2">
                    <a:lumMod val="75000"/>
                    <a:lumOff val="25000"/>
                  </a:schemeClr>
                </a:solidFill>
              </a:rPr>
              <a:t>Summary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C34435E1-F54E-A1BF-039F-CCF9C86D2800}"/>
              </a:ext>
            </a:extLst>
          </p:cNvPr>
          <p:cNvSpPr>
            <a:spLocks noGrp="1"/>
          </p:cNvSpPr>
          <p:nvPr>
            <p:ph idx="1"/>
          </p:nvPr>
        </p:nvSpPr>
        <p:spPr/>
        <p:txBody>
          <a:bodyPr>
            <a:normAutofit/>
          </a:bodyPr>
          <a:lstStyle/>
          <a:p>
            <a:r>
              <a:rPr lang="en-US" dirty="0">
                <a:solidFill>
                  <a:schemeClr val="tx2">
                    <a:lumMod val="75000"/>
                    <a:lumOff val="25000"/>
                  </a:schemeClr>
                </a:solidFill>
              </a:rPr>
              <a:t>Context is important when addressing Data Science challenges.</a:t>
            </a:r>
          </a:p>
          <a:p>
            <a:endParaRPr lang="en-US" dirty="0">
              <a:solidFill>
                <a:schemeClr val="tx2">
                  <a:lumMod val="75000"/>
                  <a:lumOff val="25000"/>
                </a:schemeClr>
              </a:solidFill>
            </a:endParaRPr>
          </a:p>
          <a:p>
            <a:r>
              <a:rPr lang="en-US" dirty="0">
                <a:solidFill>
                  <a:schemeClr val="tx2">
                    <a:lumMod val="75000"/>
                    <a:lumOff val="25000"/>
                  </a:schemeClr>
                </a:solidFill>
              </a:rPr>
              <a:t>We must address these challenges because Data science projects impact people.</a:t>
            </a:r>
          </a:p>
          <a:p>
            <a:endParaRPr lang="en-US" dirty="0">
              <a:solidFill>
                <a:schemeClr val="tx2">
                  <a:lumMod val="75000"/>
                  <a:lumOff val="25000"/>
                </a:schemeClr>
              </a:solidFill>
            </a:endParaRPr>
          </a:p>
          <a:p>
            <a:r>
              <a:rPr lang="en-US" dirty="0">
                <a:solidFill>
                  <a:schemeClr val="tx2">
                    <a:lumMod val="75000"/>
                    <a:lumOff val="25000"/>
                  </a:schemeClr>
                </a:solidFill>
              </a:rPr>
              <a:t>The Systems Engineering approach provides principles to guide our work.</a:t>
            </a:r>
          </a:p>
          <a:p>
            <a:endParaRPr lang="en-US" dirty="0">
              <a:solidFill>
                <a:schemeClr val="tx2">
                  <a:lumMod val="75000"/>
                  <a:lumOff val="25000"/>
                </a:schemeClr>
              </a:solidFill>
            </a:endParaRPr>
          </a:p>
          <a:p>
            <a:r>
              <a:rPr lang="en-US" dirty="0">
                <a:solidFill>
                  <a:schemeClr val="tx2">
                    <a:lumMod val="75000"/>
                    <a:lumOff val="25000"/>
                  </a:schemeClr>
                </a:solidFill>
              </a:rPr>
              <a:t>We should include these principles in our Data Science projects.</a:t>
            </a:r>
          </a:p>
        </p:txBody>
      </p:sp>
    </p:spTree>
    <p:extLst>
      <p:ext uri="{BB962C8B-B14F-4D97-AF65-F5344CB8AC3E}">
        <p14:creationId xmlns:p14="http://schemas.microsoft.com/office/powerpoint/2010/main" val="11441029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F42A2-76BE-9BB9-2E7A-ECC7A4052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EC160-2EDD-F80B-EBFB-B008307A7997}"/>
              </a:ext>
            </a:extLst>
          </p:cNvPr>
          <p:cNvSpPr>
            <a:spLocks noGrp="1"/>
          </p:cNvSpPr>
          <p:nvPr>
            <p:ph type="ctrTitle"/>
          </p:nvPr>
        </p:nvSpPr>
        <p:spPr/>
        <p:txBody>
          <a:bodyPr/>
          <a:lstStyle/>
          <a:p>
            <a:r>
              <a:rPr lang="en-US" b="1" dirty="0">
                <a:solidFill>
                  <a:schemeClr val="tx2">
                    <a:lumMod val="75000"/>
                    <a:lumOff val="25000"/>
                  </a:schemeClr>
                </a:solidFill>
              </a:rPr>
              <a:t>Many thanks!</a:t>
            </a:r>
            <a:endParaRPr lang="en-GB" b="1" dirty="0">
              <a:solidFill>
                <a:schemeClr val="tx2">
                  <a:lumMod val="75000"/>
                  <a:lumOff val="25000"/>
                </a:schemeClr>
              </a:solidFill>
            </a:endParaRPr>
          </a:p>
        </p:txBody>
      </p:sp>
    </p:spTree>
    <p:extLst>
      <p:ext uri="{BB962C8B-B14F-4D97-AF65-F5344CB8AC3E}">
        <p14:creationId xmlns:p14="http://schemas.microsoft.com/office/powerpoint/2010/main" val="2486570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1809</Words>
  <Application>Microsoft Office PowerPoint</Application>
  <PresentationFormat>Widescreen</PresentationFormat>
  <Paragraphs>396</Paragraphs>
  <Slides>43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Aptos</vt:lpstr>
      <vt:lpstr>Aptos Display</vt:lpstr>
      <vt:lpstr>Arial</vt:lpstr>
      <vt:lpstr>Office Theme</vt:lpstr>
      <vt:lpstr>Engineering Data Science</vt:lpstr>
      <vt:lpstr>Previously…</vt:lpstr>
      <vt:lpstr>Previously…</vt:lpstr>
      <vt:lpstr>Previously…</vt:lpstr>
      <vt:lpstr>Previously…</vt:lpstr>
      <vt:lpstr>Why are these important?</vt:lpstr>
      <vt:lpstr>Why are these important?</vt:lpstr>
      <vt:lpstr>How do we build solutions now?</vt:lpstr>
      <vt:lpstr>How do we build solutions now?</vt:lpstr>
      <vt:lpstr>How do we build solutions now?</vt:lpstr>
      <vt:lpstr>How do we build solutions now?</vt:lpstr>
      <vt:lpstr>Real-world Deployments</vt:lpstr>
      <vt:lpstr>Real-world Deployments</vt:lpstr>
      <vt:lpstr>Real-world Deployments</vt:lpstr>
      <vt:lpstr>Real-world Deployments</vt:lpstr>
      <vt:lpstr>Real-world Deployments</vt:lpstr>
      <vt:lpstr>Real-world Deployments</vt:lpstr>
      <vt:lpstr>Context</vt:lpstr>
      <vt:lpstr>Technology Adoption</vt:lpstr>
      <vt:lpstr>Technology Adoption</vt:lpstr>
      <vt:lpstr>Technology Adoption</vt:lpstr>
      <vt:lpstr>Technology Adoption</vt:lpstr>
      <vt:lpstr>How do we engineer software systems?</vt:lpstr>
      <vt:lpstr>How do we engineer software systems?</vt:lpstr>
      <vt:lpstr>How do we engineer software systems?</vt:lpstr>
      <vt:lpstr>How do we engineer software systems?</vt:lpstr>
      <vt:lpstr>Systems Engineering Principles in Practice</vt:lpstr>
      <vt:lpstr>Systems Engineering Principles in Practice</vt:lpstr>
      <vt:lpstr>Systems Engineering Principles in Practice</vt:lpstr>
      <vt:lpstr>Systems Engineering Principles in Practice</vt:lpstr>
      <vt:lpstr>Systems Engineering Principles in Practice</vt:lpstr>
      <vt:lpstr>Engineering Data Science</vt:lpstr>
      <vt:lpstr>Data Problem</vt:lpstr>
      <vt:lpstr>Data Problem</vt:lpstr>
      <vt:lpstr>Data Pipeline</vt:lpstr>
      <vt:lpstr>Data Pipeline</vt:lpstr>
      <vt:lpstr>Engineering Data Science</vt:lpstr>
      <vt:lpstr>Engineering Data Science</vt:lpstr>
      <vt:lpstr>Engineering Data Science</vt:lpstr>
      <vt:lpstr>Engineering Data Science</vt:lpstr>
      <vt:lpstr>Engineering Data Science</vt:lpstr>
      <vt:lpstr>Summary</vt:lpstr>
      <vt:lpstr>Many 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Cabrera-Jojoa</dc:creator>
  <cp:lastModifiedBy>Christian Cabrera-Jojoa</cp:lastModifiedBy>
  <cp:revision>12</cp:revision>
  <dcterms:created xsi:type="dcterms:W3CDTF">2024-10-27T14:45:37Z</dcterms:created>
  <dcterms:modified xsi:type="dcterms:W3CDTF">2025-04-06T23:21:45Z</dcterms:modified>
</cp:coreProperties>
</file>