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309" r:id="rId4"/>
    <p:sldId id="307" r:id="rId5"/>
    <p:sldId id="310" r:id="rId6"/>
    <p:sldId id="438" r:id="rId7"/>
    <p:sldId id="436" r:id="rId8"/>
    <p:sldId id="437" r:id="rId9"/>
    <p:sldId id="439" r:id="rId10"/>
    <p:sldId id="440" r:id="rId11"/>
    <p:sldId id="442" r:id="rId12"/>
    <p:sldId id="441" r:id="rId13"/>
    <p:sldId id="443" r:id="rId14"/>
    <p:sldId id="444" r:id="rId15"/>
    <p:sldId id="482" r:id="rId16"/>
    <p:sldId id="483" r:id="rId17"/>
    <p:sldId id="484" r:id="rId18"/>
    <p:sldId id="448" r:id="rId19"/>
    <p:sldId id="450" r:id="rId20"/>
    <p:sldId id="449" r:id="rId21"/>
    <p:sldId id="451" r:id="rId22"/>
    <p:sldId id="452" r:id="rId23"/>
    <p:sldId id="456" r:id="rId24"/>
    <p:sldId id="457" r:id="rId25"/>
    <p:sldId id="455" r:id="rId26"/>
    <p:sldId id="458" r:id="rId27"/>
    <p:sldId id="459" r:id="rId28"/>
    <p:sldId id="461" r:id="rId29"/>
    <p:sldId id="462" r:id="rId30"/>
    <p:sldId id="478" r:id="rId31"/>
    <p:sldId id="479" r:id="rId32"/>
    <p:sldId id="480" r:id="rId33"/>
    <p:sldId id="481" r:id="rId34"/>
    <p:sldId id="467" r:id="rId35"/>
    <p:sldId id="468" r:id="rId36"/>
    <p:sldId id="469" r:id="rId37"/>
    <p:sldId id="470" r:id="rId38"/>
    <p:sldId id="471" r:id="rId39"/>
    <p:sldId id="472" r:id="rId40"/>
    <p:sldId id="473" r:id="rId41"/>
    <p:sldId id="475" r:id="rId42"/>
    <p:sldId id="476" r:id="rId43"/>
    <p:sldId id="477" r:id="rId44"/>
    <p:sldId id="303" r:id="rId45"/>
    <p:sldId id="305" r:id="rId46"/>
    <p:sldId id="30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3" autoAdjust="0"/>
    <p:restoredTop sz="78170" autoAdjust="0"/>
  </p:normalViewPr>
  <p:slideViewPr>
    <p:cSldViewPr snapToGrid="0">
      <p:cViewPr varScale="1">
        <p:scale>
          <a:sx n="64" d="100"/>
          <a:sy n="64" d="100"/>
        </p:scale>
        <p:origin x="14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60BA2-1DFE-4286-AB71-68BFEBE24C91}" type="datetimeFigureOut">
              <a:rPr lang="en-GB" smtClean="0"/>
              <a:t>27/05/2025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3359B-EED2-4AF7-B237-505FDBE4FBE9}" type="slidenum">
              <a:rPr lang="en-GB" smtClean="0"/>
              <a:t>‹#›</a:t>
            </a:fld>
            <a:endParaRPr lang="en-GB"/>
          </a:p>
        </p:txBody>
      </p:sp>
    </p:spTree>
    <p:extLst>
      <p:ext uri="{BB962C8B-B14F-4D97-AF65-F5344CB8AC3E}">
        <p14:creationId xmlns:p14="http://schemas.microsoft.com/office/powerpoint/2010/main" val="2573756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dkut.ac.ke/"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fourth lecture of our course and this time we will focus on the concept of Data-Oriented Architecture what we call DOAs.</a:t>
            </a:r>
          </a:p>
          <a:p>
            <a:endParaRPr lang="en-US" dirty="0"/>
          </a:p>
          <a:p>
            <a:r>
              <a:rPr lang="en-US" dirty="0"/>
              <a:t>We will see how the requirements of our systems or data science pipelines are changing and how this type of architecture can help to address them.</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1</a:t>
            </a:fld>
            <a:endParaRPr lang="en-GB"/>
          </a:p>
        </p:txBody>
      </p:sp>
    </p:spTree>
    <p:extLst>
      <p:ext uri="{BB962C8B-B14F-4D97-AF65-F5344CB8AC3E}">
        <p14:creationId xmlns:p14="http://schemas.microsoft.com/office/powerpoint/2010/main" val="383357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going deeper into DOAs, we should remember that in the last lecture, we talked about how the systems engineering approach can help us to safely integrate AI technologies in the software we write…</a:t>
            </a:r>
          </a:p>
        </p:txBody>
      </p:sp>
      <p:sp>
        <p:nvSpPr>
          <p:cNvPr id="4" name="Slide Number Placeholder 3"/>
          <p:cNvSpPr>
            <a:spLocks noGrp="1"/>
          </p:cNvSpPr>
          <p:nvPr>
            <p:ph type="sldNum" sz="quarter" idx="5"/>
          </p:nvPr>
        </p:nvSpPr>
        <p:spPr/>
        <p:txBody>
          <a:bodyPr/>
          <a:lstStyle/>
          <a:p>
            <a:fld id="{5243359B-EED2-4AF7-B237-505FDBE4FBE9}" type="slidenum">
              <a:rPr lang="en-GB" smtClean="0"/>
              <a:t>2</a:t>
            </a:fld>
            <a:endParaRPr lang="en-GB"/>
          </a:p>
        </p:txBody>
      </p:sp>
    </p:spTree>
    <p:extLst>
      <p:ext uri="{BB962C8B-B14F-4D97-AF65-F5344CB8AC3E}">
        <p14:creationId xmlns:p14="http://schemas.microsoft.com/office/powerpoint/2010/main" val="3479193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AFA3-9DD3-22BD-EB13-1198004EB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F2274-240E-346A-613C-628D83F9F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7399E-9329-FA97-BEC6-32C40AE74B99}"/>
              </a:ext>
            </a:extLst>
          </p:cNvPr>
          <p:cNvSpPr>
            <a:spLocks noGrp="1"/>
          </p:cNvSpPr>
          <p:nvPr>
            <p:ph type="body" idx="1"/>
          </p:nvPr>
        </p:nvSpPr>
        <p:spPr/>
        <p:txBody>
          <a:bodyPr/>
          <a:lstStyle/>
          <a:p>
            <a:r>
              <a:rPr lang="en-US" dirty="0"/>
              <a:t>By following the systems thinking and process model principles we </a:t>
            </a:r>
            <a:r>
              <a:rPr lang="en-US" dirty="0" err="1"/>
              <a:t>prioritise</a:t>
            </a:r>
            <a:r>
              <a:rPr lang="en-US" dirty="0"/>
              <a:t> the problems and the context where our systems will work…</a:t>
            </a:r>
          </a:p>
        </p:txBody>
      </p:sp>
      <p:sp>
        <p:nvSpPr>
          <p:cNvPr id="4" name="Slide Number Placeholder 3">
            <a:extLst>
              <a:ext uri="{FF2B5EF4-FFF2-40B4-BE49-F238E27FC236}">
                <a16:creationId xmlns:a16="http://schemas.microsoft.com/office/drawing/2014/main" id="{19F72E48-ACD7-155E-6A97-AB4B816C91F6}"/>
              </a:ext>
            </a:extLst>
          </p:cNvPr>
          <p:cNvSpPr>
            <a:spLocks noGrp="1"/>
          </p:cNvSpPr>
          <p:nvPr>
            <p:ph type="sldNum" sz="quarter" idx="5"/>
          </p:nvPr>
        </p:nvSpPr>
        <p:spPr/>
        <p:txBody>
          <a:bodyPr/>
          <a:lstStyle/>
          <a:p>
            <a:fld id="{5243359B-EED2-4AF7-B237-505FDBE4FBE9}" type="slidenum">
              <a:rPr lang="en-GB" smtClean="0"/>
              <a:t>3</a:t>
            </a:fld>
            <a:endParaRPr lang="en-GB"/>
          </a:p>
        </p:txBody>
      </p:sp>
    </p:spTree>
    <p:extLst>
      <p:ext uri="{BB962C8B-B14F-4D97-AF65-F5344CB8AC3E}">
        <p14:creationId xmlns:p14="http://schemas.microsoft.com/office/powerpoint/2010/main" val="3672496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that socio-technical systems define the purpose of our software and by considering this purpose we select how to integrate the different technologies into our software…</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4</a:t>
            </a:fld>
            <a:endParaRPr lang="en-GB"/>
          </a:p>
        </p:txBody>
      </p:sp>
    </p:spTree>
    <p:extLst>
      <p:ext uri="{BB962C8B-B14F-4D97-AF65-F5344CB8AC3E}">
        <p14:creationId xmlns:p14="http://schemas.microsoft.com/office/powerpoint/2010/main" val="1488550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talked about how systems are designed according to requirements because users’ needs are the ones that define the components of a system and the way they interact. This organization of systems components is known as the architecture of the system. So, if every system satisfies different requirements, they have different architectures…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5</a:t>
            </a:fld>
            <a:endParaRPr lang="en-GB"/>
          </a:p>
        </p:txBody>
      </p:sp>
    </p:spTree>
    <p:extLst>
      <p:ext uri="{BB962C8B-B14F-4D97-AF65-F5344CB8AC3E}">
        <p14:creationId xmlns:p14="http://schemas.microsoft.com/office/powerpoint/2010/main" val="2103170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 architecture that supports Amazon is different from the architecture behind </a:t>
            </a:r>
            <a:r>
              <a:rPr lang="en-US" dirty="0" err="1"/>
              <a:t>Netfilx</a:t>
            </a:r>
            <a:r>
              <a:rPr lang="en-US" dirty="0"/>
              <a:t> because the services these platforms provide are different… they have different requirements, different goals, different components and different technologies…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6</a:t>
            </a:fld>
            <a:endParaRPr lang="en-GB"/>
          </a:p>
        </p:txBody>
      </p:sp>
    </p:spTree>
    <p:extLst>
      <p:ext uri="{BB962C8B-B14F-4D97-AF65-F5344CB8AC3E}">
        <p14:creationId xmlns:p14="http://schemas.microsoft.com/office/powerpoint/2010/main" val="1509326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D9C5-78C4-C75E-216F-D76B19033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CC0F5-3E67-B20C-76FE-38E3D2D50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E07E6-1071-7EE1-683C-26B7CDD451CF}"/>
              </a:ext>
            </a:extLst>
          </p:cNvPr>
          <p:cNvSpPr>
            <a:spLocks noGrp="1"/>
          </p:cNvSpPr>
          <p:nvPr>
            <p:ph type="body" idx="1"/>
          </p:nvPr>
        </p:nvSpPr>
        <p:spPr/>
        <p:txBody>
          <a:bodyPr/>
          <a:lstStyle/>
          <a:p>
            <a:r>
              <a:rPr lang="en-US" dirty="0"/>
              <a:t>So as every system is different from each other the systems’ design decisions we made also change from system to system…. The question then is how can we create solutions or approaches that can be applied between systems…</a:t>
            </a:r>
          </a:p>
        </p:txBody>
      </p:sp>
      <p:sp>
        <p:nvSpPr>
          <p:cNvPr id="4" name="Slide Number Placeholder 3">
            <a:extLst>
              <a:ext uri="{FF2B5EF4-FFF2-40B4-BE49-F238E27FC236}">
                <a16:creationId xmlns:a16="http://schemas.microsoft.com/office/drawing/2014/main" id="{EAC0AE60-7F6B-1E79-D08C-321A47F78378}"/>
              </a:ext>
            </a:extLst>
          </p:cNvPr>
          <p:cNvSpPr>
            <a:spLocks noGrp="1"/>
          </p:cNvSpPr>
          <p:nvPr>
            <p:ph type="sldNum" sz="quarter" idx="5"/>
          </p:nvPr>
        </p:nvSpPr>
        <p:spPr/>
        <p:txBody>
          <a:bodyPr/>
          <a:lstStyle/>
          <a:p>
            <a:fld id="{5243359B-EED2-4AF7-B237-505FDBE4FBE9}" type="slidenum">
              <a:rPr lang="en-GB" smtClean="0"/>
              <a:t>7</a:t>
            </a:fld>
            <a:endParaRPr lang="en-GB"/>
          </a:p>
        </p:txBody>
      </p:sp>
    </p:spTree>
    <p:extLst>
      <p:ext uri="{BB962C8B-B14F-4D97-AF65-F5344CB8AC3E}">
        <p14:creationId xmlns:p14="http://schemas.microsoft.com/office/powerpoint/2010/main" val="424010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07F7-41FD-38AC-632D-9A3EEDC32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62B5C-0B5C-937C-4DEB-6D2EE3FA4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5639F-E46F-21A9-8975-C91BC9FD9366}"/>
              </a:ext>
            </a:extLst>
          </p:cNvPr>
          <p:cNvSpPr>
            <a:spLocks noGrp="1"/>
          </p:cNvSpPr>
          <p:nvPr>
            <p:ph type="body" idx="1"/>
          </p:nvPr>
        </p:nvSpPr>
        <p:spPr/>
        <p:txBody>
          <a:bodyPr/>
          <a:lstStyle/>
          <a:p>
            <a:r>
              <a:rPr lang="en-US" dirty="0"/>
              <a:t>The answer is that we can identify common requirements between software systems. These are also known as quality attributes that we want to find in our software…</a:t>
            </a:r>
          </a:p>
        </p:txBody>
      </p:sp>
      <p:sp>
        <p:nvSpPr>
          <p:cNvPr id="4" name="Slide Number Placeholder 3">
            <a:extLst>
              <a:ext uri="{FF2B5EF4-FFF2-40B4-BE49-F238E27FC236}">
                <a16:creationId xmlns:a16="http://schemas.microsoft.com/office/drawing/2014/main" id="{7312EEEE-476F-C120-7718-3E4B3C02B487}"/>
              </a:ext>
            </a:extLst>
          </p:cNvPr>
          <p:cNvSpPr>
            <a:spLocks noGrp="1"/>
          </p:cNvSpPr>
          <p:nvPr>
            <p:ph type="sldNum" sz="quarter" idx="5"/>
          </p:nvPr>
        </p:nvSpPr>
        <p:spPr/>
        <p:txBody>
          <a:bodyPr/>
          <a:lstStyle/>
          <a:p>
            <a:fld id="{5243359B-EED2-4AF7-B237-505FDBE4FBE9}" type="slidenum">
              <a:rPr lang="en-GB" smtClean="0"/>
              <a:t>8</a:t>
            </a:fld>
            <a:endParaRPr lang="en-GB"/>
          </a:p>
        </p:txBody>
      </p:sp>
    </p:spTree>
    <p:extLst>
      <p:ext uri="{BB962C8B-B14F-4D97-AF65-F5344CB8AC3E}">
        <p14:creationId xmlns:p14="http://schemas.microsoft.com/office/powerpoint/2010/main" val="1744902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E7558-4435-2FEC-130F-EB095E1BB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36C53-7B8C-C71E-246F-269AB723F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CF213-F4EB-1AB0-B074-2DA9D266B620}"/>
              </a:ext>
            </a:extLst>
          </p:cNvPr>
          <p:cNvSpPr>
            <a:spLocks noGrp="1"/>
          </p:cNvSpPr>
          <p:nvPr>
            <p:ph type="body" idx="1"/>
          </p:nvPr>
        </p:nvSpPr>
        <p:spPr/>
        <p:txBody>
          <a:bodyPr/>
          <a:lstStyle/>
          <a:p>
            <a:r>
              <a:rPr lang="en-US" dirty="0"/>
              <a:t>Based on these quality attributes we can define design patterns that we can use to build systems architectures. Design patterns are ways to address repetitive problems. The idea is that if we solved one problem once then we can apply the same kind of solution to solve a similar problem the second time.</a:t>
            </a:r>
          </a:p>
        </p:txBody>
      </p:sp>
      <p:sp>
        <p:nvSpPr>
          <p:cNvPr id="4" name="Slide Number Placeholder 3">
            <a:extLst>
              <a:ext uri="{FF2B5EF4-FFF2-40B4-BE49-F238E27FC236}">
                <a16:creationId xmlns:a16="http://schemas.microsoft.com/office/drawing/2014/main" id="{C0F13954-35D7-366C-6E3D-71FBED61BDA9}"/>
              </a:ext>
            </a:extLst>
          </p:cNvPr>
          <p:cNvSpPr>
            <a:spLocks noGrp="1"/>
          </p:cNvSpPr>
          <p:nvPr>
            <p:ph type="sldNum" sz="quarter" idx="5"/>
          </p:nvPr>
        </p:nvSpPr>
        <p:spPr/>
        <p:txBody>
          <a:bodyPr/>
          <a:lstStyle/>
          <a:p>
            <a:fld id="{5243359B-EED2-4AF7-B237-505FDBE4FBE9}" type="slidenum">
              <a:rPr lang="en-GB" smtClean="0"/>
              <a:t>9</a:t>
            </a:fld>
            <a:endParaRPr lang="en-GB"/>
          </a:p>
        </p:txBody>
      </p:sp>
    </p:spTree>
    <p:extLst>
      <p:ext uri="{BB962C8B-B14F-4D97-AF65-F5344CB8AC3E}">
        <p14:creationId xmlns:p14="http://schemas.microsoft.com/office/powerpoint/2010/main" val="3719611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EF48-5BC3-10B8-70D4-C32010247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6EB22-CC7E-97BB-ABC3-95CAC0983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5A59A-FE47-6639-6864-8E876644F1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6FDA3A-B583-4BE9-97A6-FBDE6C1542FA}"/>
              </a:ext>
            </a:extLst>
          </p:cNvPr>
          <p:cNvSpPr>
            <a:spLocks noGrp="1"/>
          </p:cNvSpPr>
          <p:nvPr>
            <p:ph type="sldNum" sz="quarter" idx="5"/>
          </p:nvPr>
        </p:nvSpPr>
        <p:spPr/>
        <p:txBody>
          <a:bodyPr/>
          <a:lstStyle/>
          <a:p>
            <a:fld id="{5243359B-EED2-4AF7-B237-505FDBE4FBE9}" type="slidenum">
              <a:rPr lang="en-GB" smtClean="0"/>
              <a:t>10</a:t>
            </a:fld>
            <a:endParaRPr lang="en-GB"/>
          </a:p>
        </p:txBody>
      </p:sp>
    </p:spTree>
    <p:extLst>
      <p:ext uri="{BB962C8B-B14F-4D97-AF65-F5344CB8AC3E}">
        <p14:creationId xmlns:p14="http://schemas.microsoft.com/office/powerpoint/2010/main" val="1324530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9010A-E777-CFEC-AF5B-B2C63914B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ADDB0-DCA9-A852-7A8E-33C389500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9809B-BAF9-6A9F-C44F-DEDD1E6944A3}"/>
              </a:ext>
            </a:extLst>
          </p:cNvPr>
          <p:cNvSpPr>
            <a:spLocks noGrp="1"/>
          </p:cNvSpPr>
          <p:nvPr>
            <p:ph type="body" idx="1"/>
          </p:nvPr>
        </p:nvSpPr>
        <p:spPr/>
        <p:txBody>
          <a:bodyPr/>
          <a:lstStyle/>
          <a:p>
            <a:r>
              <a:rPr lang="en-US" dirty="0"/>
              <a:t>The most popular paradigm right now is Service-oriented computing or architectures… The idea behind this paradigm is to encapsulate the capabilities of different components in the system as services…</a:t>
            </a:r>
          </a:p>
          <a:p>
            <a:endParaRPr lang="en-US" dirty="0"/>
          </a:p>
          <a:p>
            <a:r>
              <a:rPr lang="en-US" dirty="0"/>
              <a:t>A service is an atomic functionality of the system that is exposed using APIs that can be consumed by different actors… They can be deployed as microservices using tools like Docker or Kubernetes, or as web services, as we just saw in one of the previous talks…</a:t>
            </a:r>
          </a:p>
          <a:p>
            <a:endParaRPr lang="en-US" dirty="0"/>
          </a:p>
          <a:p>
            <a:r>
              <a:rPr lang="en-US" dirty="0"/>
              <a:t>Once all the services of a system are available, the functionalities of the system are achieved by executing graphs of services like the one in the figure…</a:t>
            </a:r>
            <a:endParaRPr lang="en-GB" dirty="0"/>
          </a:p>
          <a:p>
            <a:endParaRPr lang="en-US" dirty="0"/>
          </a:p>
          <a:p>
            <a:endParaRPr lang="en-US" dirty="0"/>
          </a:p>
        </p:txBody>
      </p:sp>
      <p:sp>
        <p:nvSpPr>
          <p:cNvPr id="4" name="Slide Number Placeholder 3">
            <a:extLst>
              <a:ext uri="{FF2B5EF4-FFF2-40B4-BE49-F238E27FC236}">
                <a16:creationId xmlns:a16="http://schemas.microsoft.com/office/drawing/2014/main" id="{6C0757C9-9F79-05FE-2055-6230C120AA00}"/>
              </a:ext>
            </a:extLst>
          </p:cNvPr>
          <p:cNvSpPr>
            <a:spLocks noGrp="1"/>
          </p:cNvSpPr>
          <p:nvPr>
            <p:ph type="sldNum" sz="quarter" idx="5"/>
          </p:nvPr>
        </p:nvSpPr>
        <p:spPr/>
        <p:txBody>
          <a:bodyPr/>
          <a:lstStyle/>
          <a:p>
            <a:fld id="{5243359B-EED2-4AF7-B237-505FDBE4FBE9}" type="slidenum">
              <a:rPr lang="en-GB" smtClean="0"/>
              <a:t>11</a:t>
            </a:fld>
            <a:endParaRPr lang="en-GB"/>
          </a:p>
        </p:txBody>
      </p:sp>
    </p:spTree>
    <p:extLst>
      <p:ext uri="{BB962C8B-B14F-4D97-AF65-F5344CB8AC3E}">
        <p14:creationId xmlns:p14="http://schemas.microsoft.com/office/powerpoint/2010/main" val="3142700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45B39-657B-99EA-90CA-DC71F562D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6ED59-E141-A2FA-2C8F-BC9F361DE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242D0-57C0-271C-0D99-6C625F2F4D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40A58B-950A-F169-8C93-A859A90615D4}"/>
              </a:ext>
            </a:extLst>
          </p:cNvPr>
          <p:cNvSpPr>
            <a:spLocks noGrp="1"/>
          </p:cNvSpPr>
          <p:nvPr>
            <p:ph type="sldNum" sz="quarter" idx="5"/>
          </p:nvPr>
        </p:nvSpPr>
        <p:spPr/>
        <p:txBody>
          <a:bodyPr/>
          <a:lstStyle/>
          <a:p>
            <a:fld id="{5243359B-EED2-4AF7-B237-505FDBE4FBE9}" type="slidenum">
              <a:rPr lang="en-GB" smtClean="0"/>
              <a:t>12</a:t>
            </a:fld>
            <a:endParaRPr lang="en-GB"/>
          </a:p>
        </p:txBody>
      </p:sp>
    </p:spTree>
    <p:extLst>
      <p:ext uri="{BB962C8B-B14F-4D97-AF65-F5344CB8AC3E}">
        <p14:creationId xmlns:p14="http://schemas.microsoft.com/office/powerpoint/2010/main" val="3051987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0CDAC-297C-E96C-D443-7B3521561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036EA-4F43-C3F9-4ACD-0E10C2F57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3C041-D258-3909-B9F1-D53D5FD562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07F897-4E9A-E62B-5B0C-398215506DDB}"/>
              </a:ext>
            </a:extLst>
          </p:cNvPr>
          <p:cNvSpPr>
            <a:spLocks noGrp="1"/>
          </p:cNvSpPr>
          <p:nvPr>
            <p:ph type="sldNum" sz="quarter" idx="5"/>
          </p:nvPr>
        </p:nvSpPr>
        <p:spPr/>
        <p:txBody>
          <a:bodyPr/>
          <a:lstStyle/>
          <a:p>
            <a:fld id="{5243359B-EED2-4AF7-B237-505FDBE4FBE9}" type="slidenum">
              <a:rPr lang="en-GB" smtClean="0"/>
              <a:t>13</a:t>
            </a:fld>
            <a:endParaRPr lang="en-GB"/>
          </a:p>
        </p:txBody>
      </p:sp>
    </p:spTree>
    <p:extLst>
      <p:ext uri="{BB962C8B-B14F-4D97-AF65-F5344CB8AC3E}">
        <p14:creationId xmlns:p14="http://schemas.microsoft.com/office/powerpoint/2010/main" val="343136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515A2-AE14-303E-2522-FB3B09EBE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EEE6E-C5BF-2742-07D5-32B12B590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DB3E7-2BE1-FFA8-2412-A7CB893AF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AD6EC-77BF-F248-A195-C67FB37D26F8}"/>
              </a:ext>
            </a:extLst>
          </p:cNvPr>
          <p:cNvSpPr>
            <a:spLocks noGrp="1"/>
          </p:cNvSpPr>
          <p:nvPr>
            <p:ph type="sldNum" sz="quarter" idx="5"/>
          </p:nvPr>
        </p:nvSpPr>
        <p:spPr/>
        <p:txBody>
          <a:bodyPr/>
          <a:lstStyle/>
          <a:p>
            <a:fld id="{5243359B-EED2-4AF7-B237-505FDBE4FBE9}" type="slidenum">
              <a:rPr lang="en-GB" smtClean="0"/>
              <a:t>14</a:t>
            </a:fld>
            <a:endParaRPr lang="en-GB"/>
          </a:p>
        </p:txBody>
      </p:sp>
    </p:spTree>
    <p:extLst>
      <p:ext uri="{BB962C8B-B14F-4D97-AF65-F5344CB8AC3E}">
        <p14:creationId xmlns:p14="http://schemas.microsoft.com/office/powerpoint/2010/main" val="2733328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BF07-C65D-FF77-B561-4B035227C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04284-E7AF-FA10-AB8B-9F67EC6B2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34C1C-6110-D505-0A98-37179C138C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CEE079-FCEE-41F8-CAA1-44C33A809CF1}"/>
              </a:ext>
            </a:extLst>
          </p:cNvPr>
          <p:cNvSpPr>
            <a:spLocks noGrp="1"/>
          </p:cNvSpPr>
          <p:nvPr>
            <p:ph type="sldNum" sz="quarter" idx="5"/>
          </p:nvPr>
        </p:nvSpPr>
        <p:spPr/>
        <p:txBody>
          <a:bodyPr/>
          <a:lstStyle/>
          <a:p>
            <a:fld id="{5243359B-EED2-4AF7-B237-505FDBE4FBE9}" type="slidenum">
              <a:rPr lang="en-GB" smtClean="0"/>
              <a:t>15</a:t>
            </a:fld>
            <a:endParaRPr lang="en-GB"/>
          </a:p>
        </p:txBody>
      </p:sp>
    </p:spTree>
    <p:extLst>
      <p:ext uri="{BB962C8B-B14F-4D97-AF65-F5344CB8AC3E}">
        <p14:creationId xmlns:p14="http://schemas.microsoft.com/office/powerpoint/2010/main" val="1325511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29C13-AF27-28D7-A125-10524F1DF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9585B-4693-1EC8-BF7D-F95398892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1E52E-D81F-00E5-1332-C5E24C640F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16EE24-23D8-3B1A-2BC1-6546137E781B}"/>
              </a:ext>
            </a:extLst>
          </p:cNvPr>
          <p:cNvSpPr>
            <a:spLocks noGrp="1"/>
          </p:cNvSpPr>
          <p:nvPr>
            <p:ph type="sldNum" sz="quarter" idx="5"/>
          </p:nvPr>
        </p:nvSpPr>
        <p:spPr/>
        <p:txBody>
          <a:bodyPr/>
          <a:lstStyle/>
          <a:p>
            <a:fld id="{5243359B-EED2-4AF7-B237-505FDBE4FBE9}" type="slidenum">
              <a:rPr lang="en-GB" smtClean="0"/>
              <a:t>16</a:t>
            </a:fld>
            <a:endParaRPr lang="en-GB"/>
          </a:p>
        </p:txBody>
      </p:sp>
    </p:spTree>
    <p:extLst>
      <p:ext uri="{BB962C8B-B14F-4D97-AF65-F5344CB8AC3E}">
        <p14:creationId xmlns:p14="http://schemas.microsoft.com/office/powerpoint/2010/main" val="2554546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69016-403B-3C28-5FC0-65A46B036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C2F16-5150-8CEA-A398-14AABADD5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2782E-000D-C844-216F-4016F0FEA1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C8C36-4E98-9561-797A-191CBD0B7662}"/>
              </a:ext>
            </a:extLst>
          </p:cNvPr>
          <p:cNvSpPr>
            <a:spLocks noGrp="1"/>
          </p:cNvSpPr>
          <p:nvPr>
            <p:ph type="sldNum" sz="quarter" idx="5"/>
          </p:nvPr>
        </p:nvSpPr>
        <p:spPr/>
        <p:txBody>
          <a:bodyPr/>
          <a:lstStyle/>
          <a:p>
            <a:fld id="{5243359B-EED2-4AF7-B237-505FDBE4FBE9}" type="slidenum">
              <a:rPr lang="en-GB" smtClean="0"/>
              <a:t>17</a:t>
            </a:fld>
            <a:endParaRPr lang="en-GB"/>
          </a:p>
        </p:txBody>
      </p:sp>
    </p:spTree>
    <p:extLst>
      <p:ext uri="{BB962C8B-B14F-4D97-AF65-F5344CB8AC3E}">
        <p14:creationId xmlns:p14="http://schemas.microsoft.com/office/powerpoint/2010/main" val="2533518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F5B5-5EFC-B0F5-10CB-8D9B17C5E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8CB26-7DA8-3A5C-C778-EBEE63B50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870D2-175F-864A-EA24-29F50C113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A35302-7F3F-F600-DE19-4AB380C8E10A}"/>
              </a:ext>
            </a:extLst>
          </p:cNvPr>
          <p:cNvSpPr>
            <a:spLocks noGrp="1"/>
          </p:cNvSpPr>
          <p:nvPr>
            <p:ph type="sldNum" sz="quarter" idx="5"/>
          </p:nvPr>
        </p:nvSpPr>
        <p:spPr/>
        <p:txBody>
          <a:bodyPr/>
          <a:lstStyle/>
          <a:p>
            <a:fld id="{5243359B-EED2-4AF7-B237-505FDBE4FBE9}" type="slidenum">
              <a:rPr lang="en-GB" smtClean="0"/>
              <a:t>18</a:t>
            </a:fld>
            <a:endParaRPr lang="en-GB"/>
          </a:p>
        </p:txBody>
      </p:sp>
    </p:spTree>
    <p:extLst>
      <p:ext uri="{BB962C8B-B14F-4D97-AF65-F5344CB8AC3E}">
        <p14:creationId xmlns:p14="http://schemas.microsoft.com/office/powerpoint/2010/main" val="2571697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ED7EA-5536-ED41-37BA-2E99115AF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BAA39-9DC1-E777-4576-E55DF03CB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F2849-11F4-8582-0C0A-785D018BBF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301B44-FA50-E100-DACF-CB3D5F976522}"/>
              </a:ext>
            </a:extLst>
          </p:cNvPr>
          <p:cNvSpPr>
            <a:spLocks noGrp="1"/>
          </p:cNvSpPr>
          <p:nvPr>
            <p:ph type="sldNum" sz="quarter" idx="5"/>
          </p:nvPr>
        </p:nvSpPr>
        <p:spPr/>
        <p:txBody>
          <a:bodyPr/>
          <a:lstStyle/>
          <a:p>
            <a:fld id="{5243359B-EED2-4AF7-B237-505FDBE4FBE9}" type="slidenum">
              <a:rPr lang="en-GB" smtClean="0"/>
              <a:t>19</a:t>
            </a:fld>
            <a:endParaRPr lang="en-GB"/>
          </a:p>
        </p:txBody>
      </p:sp>
    </p:spTree>
    <p:extLst>
      <p:ext uri="{BB962C8B-B14F-4D97-AF65-F5344CB8AC3E}">
        <p14:creationId xmlns:p14="http://schemas.microsoft.com/office/powerpoint/2010/main" val="2144177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546AD-DF5E-B257-B90F-6797E3BE6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CBFE7-F68D-1F78-A1D0-F78FF6733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FCAF9-E3FA-AE03-E8E8-8F0A255F15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C2977-5973-86AF-D37C-A2924CCC66CE}"/>
              </a:ext>
            </a:extLst>
          </p:cNvPr>
          <p:cNvSpPr>
            <a:spLocks noGrp="1"/>
          </p:cNvSpPr>
          <p:nvPr>
            <p:ph type="sldNum" sz="quarter" idx="5"/>
          </p:nvPr>
        </p:nvSpPr>
        <p:spPr/>
        <p:txBody>
          <a:bodyPr/>
          <a:lstStyle/>
          <a:p>
            <a:fld id="{5243359B-EED2-4AF7-B237-505FDBE4FBE9}" type="slidenum">
              <a:rPr lang="en-GB" smtClean="0"/>
              <a:t>20</a:t>
            </a:fld>
            <a:endParaRPr lang="en-GB"/>
          </a:p>
        </p:txBody>
      </p:sp>
    </p:spTree>
    <p:extLst>
      <p:ext uri="{BB962C8B-B14F-4D97-AF65-F5344CB8AC3E}">
        <p14:creationId xmlns:p14="http://schemas.microsoft.com/office/powerpoint/2010/main" val="2808568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6F5B4-144A-5B4E-D5E8-A16F65BAE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9CEC3-431C-5B80-EA7C-CA48957F2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378A7-A758-1BC4-FF90-DFE07E43A3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94284F-83A9-4E2E-3CF4-5B0E850C5A74}"/>
              </a:ext>
            </a:extLst>
          </p:cNvPr>
          <p:cNvSpPr>
            <a:spLocks noGrp="1"/>
          </p:cNvSpPr>
          <p:nvPr>
            <p:ph type="sldNum" sz="quarter" idx="5"/>
          </p:nvPr>
        </p:nvSpPr>
        <p:spPr/>
        <p:txBody>
          <a:bodyPr/>
          <a:lstStyle/>
          <a:p>
            <a:fld id="{5243359B-EED2-4AF7-B237-505FDBE4FBE9}" type="slidenum">
              <a:rPr lang="en-GB" smtClean="0"/>
              <a:t>21</a:t>
            </a:fld>
            <a:endParaRPr lang="en-GB"/>
          </a:p>
        </p:txBody>
      </p:sp>
    </p:spTree>
    <p:extLst>
      <p:ext uri="{BB962C8B-B14F-4D97-AF65-F5344CB8AC3E}">
        <p14:creationId xmlns:p14="http://schemas.microsoft.com/office/powerpoint/2010/main" val="2436049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F48BC-CC23-C35F-BCEB-8E73A6C58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EE753-15B5-EF0D-D0D2-B2C1BE7A5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D700B-8048-3EDD-9F73-DC4CC47055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AC288B-FEA7-69B0-CB94-E3D25FD1BA99}"/>
              </a:ext>
            </a:extLst>
          </p:cNvPr>
          <p:cNvSpPr>
            <a:spLocks noGrp="1"/>
          </p:cNvSpPr>
          <p:nvPr>
            <p:ph type="sldNum" sz="quarter" idx="5"/>
          </p:nvPr>
        </p:nvSpPr>
        <p:spPr/>
        <p:txBody>
          <a:bodyPr/>
          <a:lstStyle/>
          <a:p>
            <a:fld id="{5243359B-EED2-4AF7-B237-505FDBE4FBE9}" type="slidenum">
              <a:rPr lang="en-GB" smtClean="0"/>
              <a:t>22</a:t>
            </a:fld>
            <a:endParaRPr lang="en-GB"/>
          </a:p>
        </p:txBody>
      </p:sp>
    </p:spTree>
    <p:extLst>
      <p:ext uri="{BB962C8B-B14F-4D97-AF65-F5344CB8AC3E}">
        <p14:creationId xmlns:p14="http://schemas.microsoft.com/office/powerpoint/2010/main" val="1282445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1DCB8-B384-A70D-DA0E-9BD43753F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D7F67-6BF4-E39C-7025-EDF80405E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E496C-C860-6AB4-B942-9E2A13C03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F8B544-D5FA-9E86-F556-8C1F3E607C1D}"/>
              </a:ext>
            </a:extLst>
          </p:cNvPr>
          <p:cNvSpPr>
            <a:spLocks noGrp="1"/>
          </p:cNvSpPr>
          <p:nvPr>
            <p:ph type="sldNum" sz="quarter" idx="5"/>
          </p:nvPr>
        </p:nvSpPr>
        <p:spPr/>
        <p:txBody>
          <a:bodyPr/>
          <a:lstStyle/>
          <a:p>
            <a:fld id="{5243359B-EED2-4AF7-B237-505FDBE4FBE9}" type="slidenum">
              <a:rPr lang="en-GB" smtClean="0"/>
              <a:t>23</a:t>
            </a:fld>
            <a:endParaRPr lang="en-GB"/>
          </a:p>
        </p:txBody>
      </p:sp>
    </p:spTree>
    <p:extLst>
      <p:ext uri="{BB962C8B-B14F-4D97-AF65-F5344CB8AC3E}">
        <p14:creationId xmlns:p14="http://schemas.microsoft.com/office/powerpoint/2010/main" val="694454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CBBEB-03BB-2938-EEDE-2FBDB5327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913E9-02D6-841F-98AC-F275C8E70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CE490-0E9B-AAFC-908C-942DC24E8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CA0115-7139-497A-E856-1DC89224AE01}"/>
              </a:ext>
            </a:extLst>
          </p:cNvPr>
          <p:cNvSpPr>
            <a:spLocks noGrp="1"/>
          </p:cNvSpPr>
          <p:nvPr>
            <p:ph type="sldNum" sz="quarter" idx="5"/>
          </p:nvPr>
        </p:nvSpPr>
        <p:spPr/>
        <p:txBody>
          <a:bodyPr/>
          <a:lstStyle/>
          <a:p>
            <a:fld id="{5243359B-EED2-4AF7-B237-505FDBE4FBE9}" type="slidenum">
              <a:rPr lang="en-GB" smtClean="0"/>
              <a:t>24</a:t>
            </a:fld>
            <a:endParaRPr lang="en-GB"/>
          </a:p>
        </p:txBody>
      </p:sp>
    </p:spTree>
    <p:extLst>
      <p:ext uri="{BB962C8B-B14F-4D97-AF65-F5344CB8AC3E}">
        <p14:creationId xmlns:p14="http://schemas.microsoft.com/office/powerpoint/2010/main" val="1682406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5B43-9C8C-5F84-DCEB-0B236128D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63692-337C-6798-22D4-76CFDB0DA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5B015-4A52-925A-94CE-AEE76244D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A70309-98A5-59BE-C7FE-1DA5600C7A89}"/>
              </a:ext>
            </a:extLst>
          </p:cNvPr>
          <p:cNvSpPr>
            <a:spLocks noGrp="1"/>
          </p:cNvSpPr>
          <p:nvPr>
            <p:ph type="sldNum" sz="quarter" idx="5"/>
          </p:nvPr>
        </p:nvSpPr>
        <p:spPr/>
        <p:txBody>
          <a:bodyPr/>
          <a:lstStyle/>
          <a:p>
            <a:fld id="{5243359B-EED2-4AF7-B237-505FDBE4FBE9}" type="slidenum">
              <a:rPr lang="en-GB" smtClean="0"/>
              <a:t>25</a:t>
            </a:fld>
            <a:endParaRPr lang="en-GB"/>
          </a:p>
        </p:txBody>
      </p:sp>
    </p:spTree>
    <p:extLst>
      <p:ext uri="{BB962C8B-B14F-4D97-AF65-F5344CB8AC3E}">
        <p14:creationId xmlns:p14="http://schemas.microsoft.com/office/powerpoint/2010/main" val="47760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0AC6E-BD91-B3B9-AB4F-B95CDAA4F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332A8-8FFC-6B41-AF2C-1541820AA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8F86B-9D4E-20B4-10DB-40632729D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6758D5-083E-F3FE-A88C-C11EA9C90794}"/>
              </a:ext>
            </a:extLst>
          </p:cNvPr>
          <p:cNvSpPr>
            <a:spLocks noGrp="1"/>
          </p:cNvSpPr>
          <p:nvPr>
            <p:ph type="sldNum" sz="quarter" idx="5"/>
          </p:nvPr>
        </p:nvSpPr>
        <p:spPr/>
        <p:txBody>
          <a:bodyPr/>
          <a:lstStyle/>
          <a:p>
            <a:fld id="{5243359B-EED2-4AF7-B237-505FDBE4FBE9}" type="slidenum">
              <a:rPr lang="en-GB" smtClean="0"/>
              <a:t>26</a:t>
            </a:fld>
            <a:endParaRPr lang="en-GB"/>
          </a:p>
        </p:txBody>
      </p:sp>
    </p:spTree>
    <p:extLst>
      <p:ext uri="{BB962C8B-B14F-4D97-AF65-F5344CB8AC3E}">
        <p14:creationId xmlns:p14="http://schemas.microsoft.com/office/powerpoint/2010/main" val="2136917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6DBE-9B38-A075-6C20-71AD6C88B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6BD33-2214-2F73-8161-62F98DEA9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7185D-AA44-86B5-92DC-203637CB34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51B5BF-0863-D04E-6443-17E3E90CCA26}"/>
              </a:ext>
            </a:extLst>
          </p:cNvPr>
          <p:cNvSpPr>
            <a:spLocks noGrp="1"/>
          </p:cNvSpPr>
          <p:nvPr>
            <p:ph type="sldNum" sz="quarter" idx="5"/>
          </p:nvPr>
        </p:nvSpPr>
        <p:spPr/>
        <p:txBody>
          <a:bodyPr/>
          <a:lstStyle/>
          <a:p>
            <a:fld id="{5243359B-EED2-4AF7-B237-505FDBE4FBE9}" type="slidenum">
              <a:rPr lang="en-GB" smtClean="0"/>
              <a:t>27</a:t>
            </a:fld>
            <a:endParaRPr lang="en-GB"/>
          </a:p>
        </p:txBody>
      </p:sp>
    </p:spTree>
    <p:extLst>
      <p:ext uri="{BB962C8B-B14F-4D97-AF65-F5344CB8AC3E}">
        <p14:creationId xmlns:p14="http://schemas.microsoft.com/office/powerpoint/2010/main" val="1942099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A246-ED6D-BA92-79E4-FAB9BD30F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0273B-0F93-5C08-C5A1-A157E475C4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EAD01-958C-575C-D089-533CB21F317E}"/>
              </a:ext>
            </a:extLst>
          </p:cNvPr>
          <p:cNvSpPr>
            <a:spLocks noGrp="1"/>
          </p:cNvSpPr>
          <p:nvPr>
            <p:ph type="body" idx="1"/>
          </p:nvPr>
        </p:nvSpPr>
        <p:spPr/>
        <p:txBody>
          <a:bodyPr/>
          <a:lstStyle/>
          <a:p>
            <a:r>
              <a:rPr lang="en-US" dirty="0"/>
              <a:t>So, let’s have a look at a deployed project to see these principles in practice…</a:t>
            </a:r>
          </a:p>
          <a:p>
            <a:endParaRPr lang="en-US" dirty="0"/>
          </a:p>
          <a:p>
            <a:r>
              <a:rPr lang="en-US" dirty="0"/>
              <a:t>As I said these principles are not new, so we can find them in existing projects…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is the case of the water level monitoring project developed </a:t>
            </a:r>
            <a:r>
              <a:rPr lang="en-US" b="0" i="0" u="none" strike="noStrike" dirty="0" err="1">
                <a:effectLst/>
                <a:latin typeface="Arial" panose="020B0604020202020204" pitchFamily="34" charset="0"/>
                <a:hlinkClick r:id="rId3"/>
              </a:rPr>
              <a:t>Dedan</a:t>
            </a:r>
            <a:r>
              <a:rPr lang="en-US" b="0" i="0" u="none" strike="noStrike" dirty="0">
                <a:effectLst/>
                <a:latin typeface="Arial" panose="020B0604020202020204" pitchFamily="34" charset="0"/>
                <a:hlinkClick r:id="rId3"/>
              </a:rPr>
              <a:t> Kimathi University of Technology (DEKUT)</a:t>
            </a:r>
            <a:r>
              <a:rPr lang="en-US" dirty="0"/>
              <a:t>… We have the chance to know about this project at a Data Science Africa summer school a couple of years ago and then we worked closer with the scientists and engineers behind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This project is a very nice example of a data pipeline addressing an important social problem. It is about detecting anomalies in the water level of the </a:t>
            </a:r>
            <a:r>
              <a:rPr lang="en-US" dirty="0" err="1"/>
              <a:t>eguasoñiro</a:t>
            </a:r>
            <a:r>
              <a:rPr lang="en-US" dirty="0"/>
              <a:t> River in Kenia, which impacts people’s life in the region</a:t>
            </a:r>
            <a:endParaRPr lang="en-GB" dirty="0"/>
          </a:p>
        </p:txBody>
      </p:sp>
      <p:sp>
        <p:nvSpPr>
          <p:cNvPr id="4" name="Slide Number Placeholder 3">
            <a:extLst>
              <a:ext uri="{FF2B5EF4-FFF2-40B4-BE49-F238E27FC236}">
                <a16:creationId xmlns:a16="http://schemas.microsoft.com/office/drawing/2014/main" id="{6BD118DA-FD92-CB7C-A190-C21A3AAF19F4}"/>
              </a:ext>
            </a:extLst>
          </p:cNvPr>
          <p:cNvSpPr>
            <a:spLocks noGrp="1"/>
          </p:cNvSpPr>
          <p:nvPr>
            <p:ph type="sldNum" sz="quarter" idx="5"/>
          </p:nvPr>
        </p:nvSpPr>
        <p:spPr/>
        <p:txBody>
          <a:bodyPr/>
          <a:lstStyle/>
          <a:p>
            <a:fld id="{5243359B-EED2-4AF7-B237-505FDBE4FBE9}" type="slidenum">
              <a:rPr lang="en-GB" smtClean="0"/>
              <a:t>28</a:t>
            </a:fld>
            <a:endParaRPr lang="en-GB"/>
          </a:p>
        </p:txBody>
      </p:sp>
    </p:spTree>
    <p:extLst>
      <p:ext uri="{BB962C8B-B14F-4D97-AF65-F5344CB8AC3E}">
        <p14:creationId xmlns:p14="http://schemas.microsoft.com/office/powerpoint/2010/main" val="2973662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888C-395F-1C02-D9FD-534F460D2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A4B97-CD3F-23A4-AFDE-EBFE92CBB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4F045-8C26-EDC6-BDAA-56B1D77BC0ED}"/>
              </a:ext>
            </a:extLst>
          </p:cNvPr>
          <p:cNvSpPr>
            <a:spLocks noGrp="1"/>
          </p:cNvSpPr>
          <p:nvPr>
            <p:ph type="body" idx="1"/>
          </p:nvPr>
        </p:nvSpPr>
        <p:spPr/>
        <p:txBody>
          <a:bodyPr/>
          <a:lstStyle/>
          <a:p>
            <a:r>
              <a:rPr lang="en-US" dirty="0"/>
              <a:t>A clearer version of the diagram is here…</a:t>
            </a:r>
          </a:p>
          <a:p>
            <a:endParaRPr lang="en-US" dirty="0"/>
          </a:p>
          <a:p>
            <a:r>
              <a:rPr lang="en-US" dirty="0"/>
              <a:t>So, the system has a data collection component that is deployed in the river using a </a:t>
            </a:r>
            <a:r>
              <a:rPr lang="en-US" dirty="0" err="1"/>
              <a:t>mDot</a:t>
            </a:r>
            <a:r>
              <a:rPr lang="en-US" dirty="0"/>
              <a:t> sensor node…</a:t>
            </a:r>
          </a:p>
          <a:p>
            <a:endParaRPr lang="en-US" dirty="0"/>
          </a:p>
          <a:p>
            <a:r>
              <a:rPr lang="en-US" dirty="0"/>
              <a:t>This component collects data about the water level and pushes it to an IoT gateway that is close to the river…</a:t>
            </a:r>
          </a:p>
          <a:p>
            <a:endParaRPr lang="en-US" dirty="0"/>
          </a:p>
          <a:p>
            <a:r>
              <a:rPr lang="en-US" dirty="0"/>
              <a:t>The IoT gateway then publishes the data to a MQTT Broker hosted by a web server…</a:t>
            </a:r>
          </a:p>
          <a:p>
            <a:endParaRPr lang="en-US" dirty="0"/>
          </a:p>
          <a:p>
            <a:r>
              <a:rPr lang="en-US" dirty="0"/>
              <a:t>The system has a listener component subscribed to the MQTT broker that gets the data transmitted by the gateway from the sensors…</a:t>
            </a:r>
          </a:p>
          <a:p>
            <a:endParaRPr lang="en-US" dirty="0"/>
          </a:p>
          <a:p>
            <a:r>
              <a:rPr lang="en-US" dirty="0"/>
              <a:t>The listener writes the data in the system’s database…</a:t>
            </a:r>
          </a:p>
          <a:p>
            <a:endParaRPr lang="en-US" dirty="0"/>
          </a:p>
          <a:p>
            <a:r>
              <a:rPr lang="en-US" dirty="0"/>
              <a:t>An anomaly detection component reads that data and applies different ML models to identify anomalies…</a:t>
            </a:r>
          </a:p>
          <a:p>
            <a:endParaRPr lang="en-US" dirty="0"/>
          </a:p>
          <a:p>
            <a:r>
              <a:rPr lang="en-US" dirty="0"/>
              <a:t>The output of the anomaly detection component is then presented to end users using a visualization component…</a:t>
            </a:r>
            <a:endParaRPr lang="en-GB" dirty="0"/>
          </a:p>
          <a:p>
            <a:endParaRPr lang="en-GB" dirty="0"/>
          </a:p>
        </p:txBody>
      </p:sp>
      <p:sp>
        <p:nvSpPr>
          <p:cNvPr id="4" name="Slide Number Placeholder 3">
            <a:extLst>
              <a:ext uri="{FF2B5EF4-FFF2-40B4-BE49-F238E27FC236}">
                <a16:creationId xmlns:a16="http://schemas.microsoft.com/office/drawing/2014/main" id="{2876A219-0973-EC05-340B-841320E97F39}"/>
              </a:ext>
            </a:extLst>
          </p:cNvPr>
          <p:cNvSpPr>
            <a:spLocks noGrp="1"/>
          </p:cNvSpPr>
          <p:nvPr>
            <p:ph type="sldNum" sz="quarter" idx="5"/>
          </p:nvPr>
        </p:nvSpPr>
        <p:spPr/>
        <p:txBody>
          <a:bodyPr/>
          <a:lstStyle/>
          <a:p>
            <a:fld id="{5243359B-EED2-4AF7-B237-505FDBE4FBE9}" type="slidenum">
              <a:rPr lang="en-GB" smtClean="0"/>
              <a:t>29</a:t>
            </a:fld>
            <a:endParaRPr lang="en-GB"/>
          </a:p>
        </p:txBody>
      </p:sp>
    </p:spTree>
    <p:extLst>
      <p:ext uri="{BB962C8B-B14F-4D97-AF65-F5344CB8AC3E}">
        <p14:creationId xmlns:p14="http://schemas.microsoft.com/office/powerpoint/2010/main" val="36340429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D4C6-A011-81D3-FEAB-4E0C4C8DA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9730F-5A05-1597-BF72-AD6BC85A1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CDC13-3AC6-2D7A-579D-62CA4FA8A120}"/>
              </a:ext>
            </a:extLst>
          </p:cNvPr>
          <p:cNvSpPr>
            <a:spLocks noGrp="1"/>
          </p:cNvSpPr>
          <p:nvPr>
            <p:ph type="body" idx="1"/>
          </p:nvPr>
        </p:nvSpPr>
        <p:spPr/>
        <p:txBody>
          <a:bodyPr/>
          <a:lstStyle/>
          <a:p>
            <a:r>
              <a:rPr lang="en-US" dirty="0"/>
              <a:t>We can see that some of the system components already use a shared data model to communicate between them…</a:t>
            </a:r>
          </a:p>
          <a:p>
            <a:endParaRPr lang="en-US" dirty="0"/>
          </a:p>
          <a:p>
            <a:r>
              <a:rPr lang="en-US" dirty="0"/>
              <a:t>So, this system is already following the “Data First” principle of Data oriented architectures…</a:t>
            </a:r>
          </a:p>
          <a:p>
            <a:endParaRPr lang="en-US" dirty="0"/>
          </a:p>
          <a:p>
            <a:r>
              <a:rPr lang="en-US" dirty="0"/>
              <a:t>The listener and the anomaly detection components communicate with each other using the data medium which is a NoSQL database in this case…</a:t>
            </a:r>
          </a:p>
          <a:p>
            <a:endParaRPr lang="en-US" dirty="0"/>
          </a:p>
          <a:p>
            <a:r>
              <a:rPr lang="en-US" dirty="0"/>
              <a:t>This design decision was made because the architecture is event-driven… so when a new sensor reading happens, the components of the system react to the event…</a:t>
            </a:r>
          </a:p>
          <a:p>
            <a:endParaRPr lang="en-US" dirty="0"/>
          </a:p>
        </p:txBody>
      </p:sp>
      <p:sp>
        <p:nvSpPr>
          <p:cNvPr id="4" name="Slide Number Placeholder 3">
            <a:extLst>
              <a:ext uri="{FF2B5EF4-FFF2-40B4-BE49-F238E27FC236}">
                <a16:creationId xmlns:a16="http://schemas.microsoft.com/office/drawing/2014/main" id="{2C394DFE-EA0E-F025-ED33-CFB73267D3A3}"/>
              </a:ext>
            </a:extLst>
          </p:cNvPr>
          <p:cNvSpPr>
            <a:spLocks noGrp="1"/>
          </p:cNvSpPr>
          <p:nvPr>
            <p:ph type="sldNum" sz="quarter" idx="5"/>
          </p:nvPr>
        </p:nvSpPr>
        <p:spPr/>
        <p:txBody>
          <a:bodyPr/>
          <a:lstStyle/>
          <a:p>
            <a:fld id="{5243359B-EED2-4AF7-B237-505FDBE4FBE9}" type="slidenum">
              <a:rPr lang="en-GB" smtClean="0"/>
              <a:t>30</a:t>
            </a:fld>
            <a:endParaRPr lang="en-GB"/>
          </a:p>
        </p:txBody>
      </p:sp>
    </p:spTree>
    <p:extLst>
      <p:ext uri="{BB962C8B-B14F-4D97-AF65-F5344CB8AC3E}">
        <p14:creationId xmlns:p14="http://schemas.microsoft.com/office/powerpoint/2010/main" val="16494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90BF-4D63-DE4B-9979-A97496E56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7BE55-0298-41D1-E8CB-C73706442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20C8C-5176-F98E-1760-74C8FCCFF50E}"/>
              </a:ext>
            </a:extLst>
          </p:cNvPr>
          <p:cNvSpPr>
            <a:spLocks noGrp="1"/>
          </p:cNvSpPr>
          <p:nvPr>
            <p:ph type="body" idx="1"/>
          </p:nvPr>
        </p:nvSpPr>
        <p:spPr/>
        <p:txBody>
          <a:bodyPr/>
          <a:lstStyle/>
          <a:p>
            <a:r>
              <a:rPr lang="en-US" dirty="0"/>
              <a:t>The system is open to some extent because new sensor nodes and even gateways can be attached using the MQTT broker and the publish/subscribe communication model…</a:t>
            </a:r>
          </a:p>
          <a:p>
            <a:endParaRPr lang="en-US" dirty="0"/>
          </a:p>
          <a:p>
            <a:r>
              <a:rPr lang="en-GB" dirty="0"/>
              <a:t>This communication model enables an automatic inclusion of new sensors or data sources…</a:t>
            </a:r>
          </a:p>
        </p:txBody>
      </p:sp>
      <p:sp>
        <p:nvSpPr>
          <p:cNvPr id="4" name="Slide Number Placeholder 3">
            <a:extLst>
              <a:ext uri="{FF2B5EF4-FFF2-40B4-BE49-F238E27FC236}">
                <a16:creationId xmlns:a16="http://schemas.microsoft.com/office/drawing/2014/main" id="{B9A2F5E9-74EC-4C9F-3955-DC351AF8D5CD}"/>
              </a:ext>
            </a:extLst>
          </p:cNvPr>
          <p:cNvSpPr>
            <a:spLocks noGrp="1"/>
          </p:cNvSpPr>
          <p:nvPr>
            <p:ph type="sldNum" sz="quarter" idx="5"/>
          </p:nvPr>
        </p:nvSpPr>
        <p:spPr/>
        <p:txBody>
          <a:bodyPr/>
          <a:lstStyle/>
          <a:p>
            <a:fld id="{5243359B-EED2-4AF7-B237-505FDBE4FBE9}" type="slidenum">
              <a:rPr lang="en-GB" smtClean="0"/>
              <a:t>31</a:t>
            </a:fld>
            <a:endParaRPr lang="en-GB"/>
          </a:p>
        </p:txBody>
      </p:sp>
    </p:spTree>
    <p:extLst>
      <p:ext uri="{BB962C8B-B14F-4D97-AF65-F5344CB8AC3E}">
        <p14:creationId xmlns:p14="http://schemas.microsoft.com/office/powerpoint/2010/main" val="34509005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B0AF9-DC12-559F-07AE-D418EE82B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758B2-49BB-23C7-D3B9-953D856CC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51D0C-6EF9-F516-E7E1-5C1D2C913EBC}"/>
              </a:ext>
            </a:extLst>
          </p:cNvPr>
          <p:cNvSpPr>
            <a:spLocks noGrp="1"/>
          </p:cNvSpPr>
          <p:nvPr>
            <p:ph type="body" idx="1"/>
          </p:nvPr>
        </p:nvSpPr>
        <p:spPr/>
        <p:txBody>
          <a:bodyPr/>
          <a:lstStyle/>
          <a:p>
            <a:r>
              <a:rPr lang="en-US" dirty="0"/>
              <a:t>However, this system still has some problems regarding the resources it uses as its main processing components are deployed in the cloud…</a:t>
            </a:r>
          </a:p>
          <a:p>
            <a:endParaRPr lang="en-US" dirty="0"/>
          </a:p>
          <a:p>
            <a:r>
              <a:rPr lang="en-US" dirty="0"/>
              <a:t>As sensors read more data, more storage and computing are needed but cloud resources are expensive…</a:t>
            </a:r>
          </a:p>
        </p:txBody>
      </p:sp>
      <p:sp>
        <p:nvSpPr>
          <p:cNvPr id="4" name="Slide Number Placeholder 3">
            <a:extLst>
              <a:ext uri="{FF2B5EF4-FFF2-40B4-BE49-F238E27FC236}">
                <a16:creationId xmlns:a16="http://schemas.microsoft.com/office/drawing/2014/main" id="{F2CB3415-F77C-595C-8C0D-0EA19A8973C7}"/>
              </a:ext>
            </a:extLst>
          </p:cNvPr>
          <p:cNvSpPr>
            <a:spLocks noGrp="1"/>
          </p:cNvSpPr>
          <p:nvPr>
            <p:ph type="sldNum" sz="quarter" idx="5"/>
          </p:nvPr>
        </p:nvSpPr>
        <p:spPr/>
        <p:txBody>
          <a:bodyPr/>
          <a:lstStyle/>
          <a:p>
            <a:fld id="{5243359B-EED2-4AF7-B237-505FDBE4FBE9}" type="slidenum">
              <a:rPr lang="en-GB" smtClean="0"/>
              <a:t>32</a:t>
            </a:fld>
            <a:endParaRPr lang="en-GB"/>
          </a:p>
        </p:txBody>
      </p:sp>
    </p:spTree>
    <p:extLst>
      <p:ext uri="{BB962C8B-B14F-4D97-AF65-F5344CB8AC3E}">
        <p14:creationId xmlns:p14="http://schemas.microsoft.com/office/powerpoint/2010/main" val="411412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092B-6072-7560-31B4-23D3F6E19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E474F-98D6-DB3F-7607-B5AB9FD86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A1EF3-3788-AA9F-E233-9058481C73E7}"/>
              </a:ext>
            </a:extLst>
          </p:cNvPr>
          <p:cNvSpPr>
            <a:spLocks noGrp="1"/>
          </p:cNvSpPr>
          <p:nvPr>
            <p:ph type="body" idx="1"/>
          </p:nvPr>
        </p:nvSpPr>
        <p:spPr/>
        <p:txBody>
          <a:bodyPr/>
          <a:lstStyle/>
          <a:p>
            <a:r>
              <a:rPr lang="en-US" dirty="0"/>
              <a:t>The “decentralization” principle can help to address the resources problem…</a:t>
            </a:r>
          </a:p>
          <a:p>
            <a:endParaRPr lang="en-GB" dirty="0"/>
          </a:p>
          <a:p>
            <a:r>
              <a:rPr lang="en-GB" dirty="0"/>
              <a:t>There are two options that we can follow…</a:t>
            </a:r>
          </a:p>
        </p:txBody>
      </p:sp>
      <p:sp>
        <p:nvSpPr>
          <p:cNvPr id="4" name="Slide Number Placeholder 3">
            <a:extLst>
              <a:ext uri="{FF2B5EF4-FFF2-40B4-BE49-F238E27FC236}">
                <a16:creationId xmlns:a16="http://schemas.microsoft.com/office/drawing/2014/main" id="{29BA602D-F33E-EDA0-B3F7-10E09DFD27D9}"/>
              </a:ext>
            </a:extLst>
          </p:cNvPr>
          <p:cNvSpPr>
            <a:spLocks noGrp="1"/>
          </p:cNvSpPr>
          <p:nvPr>
            <p:ph type="sldNum" sz="quarter" idx="5"/>
          </p:nvPr>
        </p:nvSpPr>
        <p:spPr/>
        <p:txBody>
          <a:bodyPr/>
          <a:lstStyle/>
          <a:p>
            <a:fld id="{5243359B-EED2-4AF7-B237-505FDBE4FBE9}" type="slidenum">
              <a:rPr lang="en-GB" smtClean="0"/>
              <a:t>33</a:t>
            </a:fld>
            <a:endParaRPr lang="en-GB"/>
          </a:p>
        </p:txBody>
      </p:sp>
    </p:spTree>
    <p:extLst>
      <p:ext uri="{BB962C8B-B14F-4D97-AF65-F5344CB8AC3E}">
        <p14:creationId xmlns:p14="http://schemas.microsoft.com/office/powerpoint/2010/main" val="958902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04D9E-BA7A-FAA0-326E-1D56E7C2F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872D5-F0AF-99FF-1510-DF7468582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C8F8B-B613-478A-D279-9007F02C487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400519-AE05-0809-6E86-2D956818FDEB}"/>
              </a:ext>
            </a:extLst>
          </p:cNvPr>
          <p:cNvSpPr>
            <a:spLocks noGrp="1"/>
          </p:cNvSpPr>
          <p:nvPr>
            <p:ph type="sldNum" sz="quarter" idx="5"/>
          </p:nvPr>
        </p:nvSpPr>
        <p:spPr/>
        <p:txBody>
          <a:bodyPr/>
          <a:lstStyle/>
          <a:p>
            <a:fld id="{5243359B-EED2-4AF7-B237-505FDBE4FBE9}" type="slidenum">
              <a:rPr lang="en-GB" smtClean="0"/>
              <a:t>34</a:t>
            </a:fld>
            <a:endParaRPr lang="en-GB"/>
          </a:p>
        </p:txBody>
      </p:sp>
    </p:spTree>
    <p:extLst>
      <p:ext uri="{BB962C8B-B14F-4D97-AF65-F5344CB8AC3E}">
        <p14:creationId xmlns:p14="http://schemas.microsoft.com/office/powerpoint/2010/main" val="3353897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9BA4D-1D06-FEC0-DEEC-2EC10F516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819CC-2ADE-3FC3-2808-931436D68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87864-E697-4059-03E5-8E7E2F88415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805E1C7-35A6-8D43-F4C8-B06EDF1A539B}"/>
              </a:ext>
            </a:extLst>
          </p:cNvPr>
          <p:cNvSpPr>
            <a:spLocks noGrp="1"/>
          </p:cNvSpPr>
          <p:nvPr>
            <p:ph type="sldNum" sz="quarter" idx="5"/>
          </p:nvPr>
        </p:nvSpPr>
        <p:spPr/>
        <p:txBody>
          <a:bodyPr/>
          <a:lstStyle/>
          <a:p>
            <a:fld id="{5243359B-EED2-4AF7-B237-505FDBE4FBE9}" type="slidenum">
              <a:rPr lang="en-GB" smtClean="0"/>
              <a:t>35</a:t>
            </a:fld>
            <a:endParaRPr lang="en-GB"/>
          </a:p>
        </p:txBody>
      </p:sp>
    </p:spTree>
    <p:extLst>
      <p:ext uri="{BB962C8B-B14F-4D97-AF65-F5344CB8AC3E}">
        <p14:creationId xmlns:p14="http://schemas.microsoft.com/office/powerpoint/2010/main" val="646098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25F4D-9229-DAF1-E1F5-E6B44E595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D3A30-3EA7-3EAC-591E-F13742382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4A9F5-D01D-D827-4A7C-05D54A52559D}"/>
              </a:ext>
            </a:extLst>
          </p:cNvPr>
          <p:cNvSpPr>
            <a:spLocks noGrp="1"/>
          </p:cNvSpPr>
          <p:nvPr>
            <p:ph type="body" idx="1"/>
          </p:nvPr>
        </p:nvSpPr>
        <p:spPr/>
        <p:txBody>
          <a:bodyPr/>
          <a:lstStyle/>
          <a:p>
            <a:r>
              <a:rPr lang="en-US" dirty="0"/>
              <a:t>Insurance Claims models a workflow that processes insurance claims. Claims undergo a series of classification routines which affect the choice of the final payout process. </a:t>
            </a:r>
          </a:p>
          <a:p>
            <a:endParaRPr lang="en-US" dirty="0"/>
          </a:p>
          <a:p>
            <a:r>
              <a:rPr lang="en-US" dirty="0"/>
              <a:t>In the baseline, all the classification follows the logic defined by the developer</a:t>
            </a:r>
          </a:p>
          <a:p>
            <a:endParaRPr lang="en-US" dirty="0"/>
          </a:p>
          <a:p>
            <a:r>
              <a:rPr lang="en-US" dirty="0"/>
              <a:t>In the ML-based, the classification is done by a data-driven component that needs to be trained…</a:t>
            </a:r>
          </a:p>
          <a:p>
            <a:endParaRPr lang="en-US" dirty="0"/>
          </a:p>
          <a:p>
            <a:r>
              <a:rPr lang="en-US" dirty="0"/>
              <a:t>In this application, we use ML to replace all internal logic with one classification model.</a:t>
            </a:r>
          </a:p>
          <a:p>
            <a:endParaRPr lang="en-US" dirty="0"/>
          </a:p>
          <a:p>
            <a:r>
              <a:rPr lang="en-US" dirty="0"/>
              <a:t>The FBP version of each application is built with two major building blocks: data streams and stateless processing nodes. A processing node takes one or more streams as an input, performs some operations on them, and then puts the result into </a:t>
            </a:r>
            <a:r>
              <a:rPr lang="en-US" dirty="0" err="1"/>
              <a:t>outputor</a:t>
            </a:r>
            <a:r>
              <a:rPr lang="en-US" dirty="0"/>
              <a:t> internal data streams. Such nodes do not carry internal state, </a:t>
            </a:r>
            <a:r>
              <a:rPr lang="en-US" dirty="0" err="1"/>
              <a:t>anddo</a:t>
            </a:r>
            <a:r>
              <a:rPr lang="en-US" dirty="0"/>
              <a:t> not make external calls to outside services or databases.</a:t>
            </a:r>
            <a:endParaRPr lang="en-GB" dirty="0"/>
          </a:p>
        </p:txBody>
      </p:sp>
      <p:sp>
        <p:nvSpPr>
          <p:cNvPr id="4" name="Slide Number Placeholder 3">
            <a:extLst>
              <a:ext uri="{FF2B5EF4-FFF2-40B4-BE49-F238E27FC236}">
                <a16:creationId xmlns:a16="http://schemas.microsoft.com/office/drawing/2014/main" id="{9C4AEDAD-9D98-3540-3FF6-26B6EA50CE20}"/>
              </a:ext>
            </a:extLst>
          </p:cNvPr>
          <p:cNvSpPr>
            <a:spLocks noGrp="1"/>
          </p:cNvSpPr>
          <p:nvPr>
            <p:ph type="sldNum" sz="quarter" idx="5"/>
          </p:nvPr>
        </p:nvSpPr>
        <p:spPr/>
        <p:txBody>
          <a:bodyPr/>
          <a:lstStyle/>
          <a:p>
            <a:fld id="{5243359B-EED2-4AF7-B237-505FDBE4FBE9}" type="slidenum">
              <a:rPr lang="en-GB" smtClean="0"/>
              <a:t>36</a:t>
            </a:fld>
            <a:endParaRPr lang="en-GB"/>
          </a:p>
        </p:txBody>
      </p:sp>
    </p:spTree>
    <p:extLst>
      <p:ext uri="{BB962C8B-B14F-4D97-AF65-F5344CB8AC3E}">
        <p14:creationId xmlns:p14="http://schemas.microsoft.com/office/powerpoint/2010/main" val="3620562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9710B-80B0-BB27-AB92-6E293FFA8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64843-759C-B1E6-15A3-3609AC97D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42FC1-F2F3-0B55-B0F3-5434D8F4223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B4A3D73-4426-DF51-3651-FD57BE4E4E0E}"/>
              </a:ext>
            </a:extLst>
          </p:cNvPr>
          <p:cNvSpPr>
            <a:spLocks noGrp="1"/>
          </p:cNvSpPr>
          <p:nvPr>
            <p:ph type="sldNum" sz="quarter" idx="5"/>
          </p:nvPr>
        </p:nvSpPr>
        <p:spPr/>
        <p:txBody>
          <a:bodyPr/>
          <a:lstStyle/>
          <a:p>
            <a:fld id="{5243359B-EED2-4AF7-B237-505FDBE4FBE9}" type="slidenum">
              <a:rPr lang="en-GB" smtClean="0"/>
              <a:t>37</a:t>
            </a:fld>
            <a:endParaRPr lang="en-GB"/>
          </a:p>
        </p:txBody>
      </p:sp>
    </p:spTree>
    <p:extLst>
      <p:ext uri="{BB962C8B-B14F-4D97-AF65-F5344CB8AC3E}">
        <p14:creationId xmlns:p14="http://schemas.microsoft.com/office/powerpoint/2010/main" val="19801834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68F77-B879-1D80-77B1-87BDFEF71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DE5D8-419D-796C-7046-FF6A025A1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692A6-8F26-D878-ED2C-9C530CEEEA7F}"/>
              </a:ext>
            </a:extLst>
          </p:cNvPr>
          <p:cNvSpPr>
            <a:spLocks noGrp="1"/>
          </p:cNvSpPr>
          <p:nvPr>
            <p:ph type="body" idx="1"/>
          </p:nvPr>
        </p:nvSpPr>
        <p:spPr/>
        <p:txBody>
          <a:bodyPr/>
          <a:lstStyle/>
          <a:p>
            <a:r>
              <a:rPr lang="en-US" dirty="0"/>
              <a:t>Cognitive Complexity measures the complexity of the control flow of code. We use it to assess how easy it is to understand the application code from the human perspective. This initial result also shows that by focusing on data we can overcome intellectual debt as we can understand better our software…</a:t>
            </a:r>
            <a:endParaRPr lang="en-GB" dirty="0"/>
          </a:p>
        </p:txBody>
      </p:sp>
      <p:sp>
        <p:nvSpPr>
          <p:cNvPr id="4" name="Slide Number Placeholder 3">
            <a:extLst>
              <a:ext uri="{FF2B5EF4-FFF2-40B4-BE49-F238E27FC236}">
                <a16:creationId xmlns:a16="http://schemas.microsoft.com/office/drawing/2014/main" id="{FCC86D9C-C051-B7C7-88B1-1848B2B48163}"/>
              </a:ext>
            </a:extLst>
          </p:cNvPr>
          <p:cNvSpPr>
            <a:spLocks noGrp="1"/>
          </p:cNvSpPr>
          <p:nvPr>
            <p:ph type="sldNum" sz="quarter" idx="5"/>
          </p:nvPr>
        </p:nvSpPr>
        <p:spPr/>
        <p:txBody>
          <a:bodyPr/>
          <a:lstStyle/>
          <a:p>
            <a:fld id="{5243359B-EED2-4AF7-B237-505FDBE4FBE9}" type="slidenum">
              <a:rPr lang="en-GB" smtClean="0"/>
              <a:t>38</a:t>
            </a:fld>
            <a:endParaRPr lang="en-GB"/>
          </a:p>
        </p:txBody>
      </p:sp>
    </p:spTree>
    <p:extLst>
      <p:ext uri="{BB962C8B-B14F-4D97-AF65-F5344CB8AC3E}">
        <p14:creationId xmlns:p14="http://schemas.microsoft.com/office/powerpoint/2010/main" val="651084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13FF-17FD-E91D-F3D0-4216246CB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7C564-5085-173F-ECD6-EEAE2648D2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1AE99-761B-CC32-5C79-D449501D0D38}"/>
              </a:ext>
            </a:extLst>
          </p:cNvPr>
          <p:cNvSpPr>
            <a:spLocks noGrp="1"/>
          </p:cNvSpPr>
          <p:nvPr>
            <p:ph type="body" idx="1"/>
          </p:nvPr>
        </p:nvSpPr>
        <p:spPr/>
        <p:txBody>
          <a:bodyPr/>
          <a:lstStyle/>
          <a:p>
            <a:r>
              <a:rPr lang="en-US" dirty="0"/>
              <a:t>The Maintainability Index measures how easy is to maintain our software. In this case, we are showing the absolute difference between the different stages of our applications. We can see here that the DOA-based solutions have a worse maintainability index when data collection components are added to the baseline. We found that while SOAs are well supported and there are different tools that facilitate the task, flow based programming requires a more complex implementation to gather and format the data…</a:t>
            </a:r>
            <a:endParaRPr lang="en-GB" dirty="0"/>
          </a:p>
        </p:txBody>
      </p:sp>
      <p:sp>
        <p:nvSpPr>
          <p:cNvPr id="4" name="Slide Number Placeholder 3">
            <a:extLst>
              <a:ext uri="{FF2B5EF4-FFF2-40B4-BE49-F238E27FC236}">
                <a16:creationId xmlns:a16="http://schemas.microsoft.com/office/drawing/2014/main" id="{CE7FEA52-F1A0-BA26-EF09-F7BB76B524E9}"/>
              </a:ext>
            </a:extLst>
          </p:cNvPr>
          <p:cNvSpPr>
            <a:spLocks noGrp="1"/>
          </p:cNvSpPr>
          <p:nvPr>
            <p:ph type="sldNum" sz="quarter" idx="5"/>
          </p:nvPr>
        </p:nvSpPr>
        <p:spPr/>
        <p:txBody>
          <a:bodyPr/>
          <a:lstStyle/>
          <a:p>
            <a:fld id="{5243359B-EED2-4AF7-B237-505FDBE4FBE9}" type="slidenum">
              <a:rPr lang="en-GB" smtClean="0"/>
              <a:t>39</a:t>
            </a:fld>
            <a:endParaRPr lang="en-GB"/>
          </a:p>
        </p:txBody>
      </p:sp>
    </p:spTree>
    <p:extLst>
      <p:ext uri="{BB962C8B-B14F-4D97-AF65-F5344CB8AC3E}">
        <p14:creationId xmlns:p14="http://schemas.microsoft.com/office/powerpoint/2010/main" val="1513948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B673-E7E2-25CC-A67A-15D472CCB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5A071-18D0-B909-E5C0-EC722036D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7FE48-6A62-2B5A-4EF0-D808443C644D}"/>
              </a:ext>
            </a:extLst>
          </p:cNvPr>
          <p:cNvSpPr>
            <a:spLocks noGrp="1"/>
          </p:cNvSpPr>
          <p:nvPr>
            <p:ph type="body" idx="1"/>
          </p:nvPr>
        </p:nvSpPr>
        <p:spPr/>
        <p:txBody>
          <a:bodyPr/>
          <a:lstStyle/>
          <a:p>
            <a:r>
              <a:rPr lang="en-US" dirty="0"/>
              <a:t>Andrei Paleyes, a colleague in our lab, went further with this work and experimented with how these data-oriented implementations can facilitate causality analysis…</a:t>
            </a:r>
            <a:endParaRPr lang="en-GB" dirty="0"/>
          </a:p>
        </p:txBody>
      </p:sp>
      <p:sp>
        <p:nvSpPr>
          <p:cNvPr id="4" name="Slide Number Placeholder 3">
            <a:extLst>
              <a:ext uri="{FF2B5EF4-FFF2-40B4-BE49-F238E27FC236}">
                <a16:creationId xmlns:a16="http://schemas.microsoft.com/office/drawing/2014/main" id="{18563A78-85B5-500F-4590-7AB9A7F8E40C}"/>
              </a:ext>
            </a:extLst>
          </p:cNvPr>
          <p:cNvSpPr>
            <a:spLocks noGrp="1"/>
          </p:cNvSpPr>
          <p:nvPr>
            <p:ph type="sldNum" sz="quarter" idx="5"/>
          </p:nvPr>
        </p:nvSpPr>
        <p:spPr/>
        <p:txBody>
          <a:bodyPr/>
          <a:lstStyle/>
          <a:p>
            <a:fld id="{5243359B-EED2-4AF7-B237-505FDBE4FBE9}" type="slidenum">
              <a:rPr lang="en-GB" smtClean="0"/>
              <a:t>40</a:t>
            </a:fld>
            <a:endParaRPr lang="en-GB"/>
          </a:p>
        </p:txBody>
      </p:sp>
    </p:spTree>
    <p:extLst>
      <p:ext uri="{BB962C8B-B14F-4D97-AF65-F5344CB8AC3E}">
        <p14:creationId xmlns:p14="http://schemas.microsoft.com/office/powerpoint/2010/main" val="17707081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AC6FE-D64A-E550-E9ED-65A3DDDF1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F92CC-8C31-12D9-F4FA-E9C4BD493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1D59E-C86D-A014-CC7D-ECB62A9A30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40DA9C8-A68C-A57E-BA10-8F3DDA68F0F6}"/>
              </a:ext>
            </a:extLst>
          </p:cNvPr>
          <p:cNvSpPr>
            <a:spLocks noGrp="1"/>
          </p:cNvSpPr>
          <p:nvPr>
            <p:ph type="sldNum" sz="quarter" idx="5"/>
          </p:nvPr>
        </p:nvSpPr>
        <p:spPr/>
        <p:txBody>
          <a:bodyPr/>
          <a:lstStyle/>
          <a:p>
            <a:fld id="{5243359B-EED2-4AF7-B237-505FDBE4FBE9}" type="slidenum">
              <a:rPr lang="en-GB" smtClean="0"/>
              <a:t>41</a:t>
            </a:fld>
            <a:endParaRPr lang="en-GB"/>
          </a:p>
        </p:txBody>
      </p:sp>
    </p:spTree>
    <p:extLst>
      <p:ext uri="{BB962C8B-B14F-4D97-AF65-F5344CB8AC3E}">
        <p14:creationId xmlns:p14="http://schemas.microsoft.com/office/powerpoint/2010/main" val="33202550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F3CC-0832-CF54-667A-BF6264351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D4F1E-030F-6132-1E2A-8C2AF28B8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1CD2-D52F-2E58-45B8-E7B1210D00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8E83F1-2D07-9160-F140-49CB251B52CA}"/>
              </a:ext>
            </a:extLst>
          </p:cNvPr>
          <p:cNvSpPr>
            <a:spLocks noGrp="1"/>
          </p:cNvSpPr>
          <p:nvPr>
            <p:ph type="sldNum" sz="quarter" idx="5"/>
          </p:nvPr>
        </p:nvSpPr>
        <p:spPr/>
        <p:txBody>
          <a:bodyPr/>
          <a:lstStyle/>
          <a:p>
            <a:fld id="{5243359B-EED2-4AF7-B237-505FDBE4FBE9}" type="slidenum">
              <a:rPr lang="en-GB" smtClean="0"/>
              <a:t>42</a:t>
            </a:fld>
            <a:endParaRPr lang="en-GB"/>
          </a:p>
        </p:txBody>
      </p:sp>
    </p:spTree>
    <p:extLst>
      <p:ext uri="{BB962C8B-B14F-4D97-AF65-F5344CB8AC3E}">
        <p14:creationId xmlns:p14="http://schemas.microsoft.com/office/powerpoint/2010/main" val="32424376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E5BC-2125-0969-684F-5BEEB020A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B10B8-084B-41A4-6414-8E9694EFE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45EFA-9845-F2FE-8E69-36590191AE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EA1F520-8A71-4CA0-D15A-0FD6109E2C4B}"/>
              </a:ext>
            </a:extLst>
          </p:cNvPr>
          <p:cNvSpPr>
            <a:spLocks noGrp="1"/>
          </p:cNvSpPr>
          <p:nvPr>
            <p:ph type="sldNum" sz="quarter" idx="5"/>
          </p:nvPr>
        </p:nvSpPr>
        <p:spPr/>
        <p:txBody>
          <a:bodyPr/>
          <a:lstStyle/>
          <a:p>
            <a:fld id="{5243359B-EED2-4AF7-B237-505FDBE4FBE9}" type="slidenum">
              <a:rPr lang="en-GB" smtClean="0"/>
              <a:t>43</a:t>
            </a:fld>
            <a:endParaRPr lang="en-GB"/>
          </a:p>
        </p:txBody>
      </p:sp>
    </p:spTree>
    <p:extLst>
      <p:ext uri="{BB962C8B-B14F-4D97-AF65-F5344CB8AC3E}">
        <p14:creationId xmlns:p14="http://schemas.microsoft.com/office/powerpoint/2010/main" val="3286587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44</a:t>
            </a:fld>
            <a:endParaRPr lang="en-GB"/>
          </a:p>
        </p:txBody>
      </p:sp>
    </p:spTree>
    <p:extLst>
      <p:ext uri="{BB962C8B-B14F-4D97-AF65-F5344CB8AC3E}">
        <p14:creationId xmlns:p14="http://schemas.microsoft.com/office/powerpoint/2010/main" val="19009983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DC569-2C7D-57D3-6C9A-8419B2EDC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51FBF-5C83-2920-F2B8-8340548A0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73433-0393-32A5-5BD1-E472F8E69A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DAC37FA-1F82-AF96-D89C-9B21A5A37038}"/>
              </a:ext>
            </a:extLst>
          </p:cNvPr>
          <p:cNvSpPr>
            <a:spLocks noGrp="1"/>
          </p:cNvSpPr>
          <p:nvPr>
            <p:ph type="sldNum" sz="quarter" idx="5"/>
          </p:nvPr>
        </p:nvSpPr>
        <p:spPr/>
        <p:txBody>
          <a:bodyPr/>
          <a:lstStyle/>
          <a:p>
            <a:fld id="{5243359B-EED2-4AF7-B237-505FDBE4FBE9}" type="slidenum">
              <a:rPr lang="en-GB" smtClean="0"/>
              <a:t>45</a:t>
            </a:fld>
            <a:endParaRPr lang="en-GB"/>
          </a:p>
        </p:txBody>
      </p:sp>
    </p:spTree>
    <p:extLst>
      <p:ext uri="{BB962C8B-B14F-4D97-AF65-F5344CB8AC3E}">
        <p14:creationId xmlns:p14="http://schemas.microsoft.com/office/powerpoint/2010/main" val="42672245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0FDD-222E-96F7-BD50-84379D79A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EFA26-54F0-DD67-4C2C-7B6A982D1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CCEEE-57FD-8624-F3E2-31714C2219B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AAC1D9-1B78-EA0B-1516-54ECA0FEE741}"/>
              </a:ext>
            </a:extLst>
          </p:cNvPr>
          <p:cNvSpPr>
            <a:spLocks noGrp="1"/>
          </p:cNvSpPr>
          <p:nvPr>
            <p:ph type="sldNum" sz="quarter" idx="5"/>
          </p:nvPr>
        </p:nvSpPr>
        <p:spPr/>
        <p:txBody>
          <a:bodyPr/>
          <a:lstStyle/>
          <a:p>
            <a:fld id="{5243359B-EED2-4AF7-B237-505FDBE4FBE9}" type="slidenum">
              <a:rPr lang="en-GB" smtClean="0"/>
              <a:t>46</a:t>
            </a:fld>
            <a:endParaRPr lang="en-GB"/>
          </a:p>
        </p:txBody>
      </p:sp>
    </p:spTree>
    <p:extLst>
      <p:ext uri="{BB962C8B-B14F-4D97-AF65-F5344CB8AC3E}">
        <p14:creationId xmlns:p14="http://schemas.microsoft.com/office/powerpoint/2010/main" val="1147234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7501-6BC2-1625-5C51-2C2632BD2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7BEEA53-07D7-BB8A-223F-9A2959851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28D9E0-C2D3-1380-5CC5-5C5198640B87}"/>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5" name="Footer Placeholder 4">
            <a:extLst>
              <a:ext uri="{FF2B5EF4-FFF2-40B4-BE49-F238E27FC236}">
                <a16:creationId xmlns:a16="http://schemas.microsoft.com/office/drawing/2014/main" id="{53DABDB0-E673-A214-DBE3-C5FC162DF4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07684D-7B4B-F378-CF0B-CEA3C1C4ECE9}"/>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5093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F2210-4BA4-BF8C-D502-FB918EA452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158EB7-E949-CF0E-22C3-747A6D591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4BC48C-DAE9-8793-EA4D-5D5DD6992D61}"/>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5" name="Footer Placeholder 4">
            <a:extLst>
              <a:ext uri="{FF2B5EF4-FFF2-40B4-BE49-F238E27FC236}">
                <a16:creationId xmlns:a16="http://schemas.microsoft.com/office/drawing/2014/main" id="{124FF542-8B2D-C6FB-AE7D-82261FD321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713D68-A3D4-47E3-0DEA-050DF0F2708F}"/>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118593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6DBC4-EBF3-E645-1634-CC64AEDA20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971933-3A8D-20DB-9620-0244B4C908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0E703E-C5DC-2C0B-185E-6D8D26F60741}"/>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5" name="Footer Placeholder 4">
            <a:extLst>
              <a:ext uri="{FF2B5EF4-FFF2-40B4-BE49-F238E27FC236}">
                <a16:creationId xmlns:a16="http://schemas.microsoft.com/office/drawing/2014/main" id="{9B2E456C-EBC9-509A-A330-3813F3A7DA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74F18B-B3C3-45C8-3C01-3A638502F69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062478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974A-7BC7-676A-5773-436892AD826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E03826-2FC0-775A-0E68-400FE74914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4C2F0A5-1152-4740-E53E-4437F39CFE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1857E29-36C7-E561-4FE8-C4B1B878C1C0}"/>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6" name="Footer Placeholder 5">
            <a:extLst>
              <a:ext uri="{FF2B5EF4-FFF2-40B4-BE49-F238E27FC236}">
                <a16:creationId xmlns:a16="http://schemas.microsoft.com/office/drawing/2014/main" id="{765C0DA6-5444-22F1-D790-410F1E27D5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6258C6-317A-A26B-712D-10D37EE67A05}"/>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3102511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E451-7756-F929-186E-C35DD976352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697F87-DF03-1A79-1DF6-D661EC44F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7CD402-4A5D-7461-8FF6-FE8D55FC3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0629F03-224A-6F2A-689C-806A16ECB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E08A2A-4710-9C24-71A1-E49A84A8D1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F555386-CBCC-F9C8-A6AB-EC59F0ABD9E1}"/>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8" name="Footer Placeholder 7">
            <a:extLst>
              <a:ext uri="{FF2B5EF4-FFF2-40B4-BE49-F238E27FC236}">
                <a16:creationId xmlns:a16="http://schemas.microsoft.com/office/drawing/2014/main" id="{C6726FE6-B042-FE70-FD22-3DE5E832C1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9CEC65-3B66-4346-7D11-8DF5085C53D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53634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EAEA-4D6A-A714-362C-D59996FF6B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D64E5D9-676F-B146-B925-5076558A1FE5}"/>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4" name="Footer Placeholder 3">
            <a:extLst>
              <a:ext uri="{FF2B5EF4-FFF2-40B4-BE49-F238E27FC236}">
                <a16:creationId xmlns:a16="http://schemas.microsoft.com/office/drawing/2014/main" id="{0E4788FB-38F4-570E-0E87-853BAF7C59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455EB0D-C572-CF8D-00FB-C10F9D529F93}"/>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03568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A7849-CBC4-2C6E-1B44-801A25E05698}"/>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3" name="Footer Placeholder 2">
            <a:extLst>
              <a:ext uri="{FF2B5EF4-FFF2-40B4-BE49-F238E27FC236}">
                <a16:creationId xmlns:a16="http://schemas.microsoft.com/office/drawing/2014/main" id="{FD3B8B5F-DCB8-18DD-C37A-4876C01EB2D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A656F4-8E87-7810-A3AF-837C37CED7C2}"/>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916402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D23F-492D-A5AC-5421-9F27308B9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B362480-03D6-CB07-1489-65753E323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320E8BD-0B19-FA92-4888-A66A0B0FA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B4B70-9C2C-CF27-2FD3-9F1E357AF200}"/>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6" name="Footer Placeholder 5">
            <a:extLst>
              <a:ext uri="{FF2B5EF4-FFF2-40B4-BE49-F238E27FC236}">
                <a16:creationId xmlns:a16="http://schemas.microsoft.com/office/drawing/2014/main" id="{29168FBE-3A8F-32A5-A3FA-7D1C29EA3C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6BA9EE-60CB-E7B0-4D3C-BE43DB56C248}"/>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894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8C45-65FE-E68B-3E4B-36AA3B7EF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97DAF4D-BB24-712D-C91C-9F541AF8E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8D5E0A-67BB-0024-0D47-AC3B6CD6F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D8F689-851B-182F-D5BD-2611E7672F2F}"/>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6" name="Footer Placeholder 5">
            <a:extLst>
              <a:ext uri="{FF2B5EF4-FFF2-40B4-BE49-F238E27FC236}">
                <a16:creationId xmlns:a16="http://schemas.microsoft.com/office/drawing/2014/main" id="{9383B2C0-AA5B-1929-37FB-9B281E824C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FBBCCD-CA15-B187-1193-528F2715CB06}"/>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9792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B921-E9C6-73B8-49D6-BC5BEDCB7F7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3BB7638-4A63-EEEA-8EF0-03A964B3FC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FAEBB8-8EF8-2CA5-D004-CB109015311C}"/>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5" name="Footer Placeholder 4">
            <a:extLst>
              <a:ext uri="{FF2B5EF4-FFF2-40B4-BE49-F238E27FC236}">
                <a16:creationId xmlns:a16="http://schemas.microsoft.com/office/drawing/2014/main" id="{4D5F0BEB-6D2E-8EF6-15F9-2350BCFF1B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CB753A-9B63-2106-ADB6-112D6D52C440}"/>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855032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2A4A2-CE1C-CA00-75EF-4CB41878EA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F346AD-C5F1-0652-E305-FA9580D00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C653D5-A3D7-202A-6D18-A6D7B006AD20}"/>
              </a:ext>
            </a:extLst>
          </p:cNvPr>
          <p:cNvSpPr>
            <a:spLocks noGrp="1"/>
          </p:cNvSpPr>
          <p:nvPr>
            <p:ph type="dt" sz="half" idx="10"/>
          </p:nvPr>
        </p:nvSpPr>
        <p:spPr/>
        <p:txBody>
          <a:bodyPr/>
          <a:lstStyle/>
          <a:p>
            <a:fld id="{1A77EDC3-57CA-43CF-8E2C-C9B9AF002A04}" type="datetimeFigureOut">
              <a:rPr lang="en-GB" smtClean="0"/>
              <a:t>27/05/2025</a:t>
            </a:fld>
            <a:endParaRPr lang="en-GB"/>
          </a:p>
        </p:txBody>
      </p:sp>
      <p:sp>
        <p:nvSpPr>
          <p:cNvPr id="5" name="Footer Placeholder 4">
            <a:extLst>
              <a:ext uri="{FF2B5EF4-FFF2-40B4-BE49-F238E27FC236}">
                <a16:creationId xmlns:a16="http://schemas.microsoft.com/office/drawing/2014/main" id="{332D7947-DF01-1082-8D00-69694DAE7B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A8138C-BEC8-311C-ADF1-3F5A31CF2E67}"/>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300086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539B0F-642A-AA56-02D5-9B147F476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F6DCC0-9861-0BB4-AC23-7A15E4C9DA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D20403-0720-79E9-A10A-533AB6EF59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7EDC3-57CA-43CF-8E2C-C9B9AF002A04}" type="datetimeFigureOut">
              <a:rPr lang="en-GB" smtClean="0"/>
              <a:t>27/05/2025</a:t>
            </a:fld>
            <a:endParaRPr lang="en-GB"/>
          </a:p>
        </p:txBody>
      </p:sp>
      <p:sp>
        <p:nvSpPr>
          <p:cNvPr id="5" name="Footer Placeholder 4">
            <a:extLst>
              <a:ext uri="{FF2B5EF4-FFF2-40B4-BE49-F238E27FC236}">
                <a16:creationId xmlns:a16="http://schemas.microsoft.com/office/drawing/2014/main" id="{2C59108B-09A2-616D-3711-8DAE54E38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A9EB81E-970C-91EB-C410-47FDA38A60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7B345-6656-4028-8250-3F23625ECC42}" type="slidenum">
              <a:rPr lang="en-GB" smtClean="0"/>
              <a:t>‹#›</a:t>
            </a:fld>
            <a:endParaRPr lang="en-GB"/>
          </a:p>
        </p:txBody>
      </p:sp>
    </p:spTree>
    <p:extLst>
      <p:ext uri="{BB962C8B-B14F-4D97-AF65-F5344CB8AC3E}">
        <p14:creationId xmlns:p14="http://schemas.microsoft.com/office/powerpoint/2010/main" val="24829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divante.com/blog/10-companies-that-implemented-the-microservice-architecture-and-paved-the-way-for-other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ev.to/suspir0n/soc-separation-of-concerns-5ak7"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en.wikipedia.org/wiki/Ewaso_Ng%27iro"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CF900-9233-E68E-B62D-8DA5771750F6}"/>
              </a:ext>
            </a:extLst>
          </p:cNvPr>
          <p:cNvSpPr>
            <a:spLocks noGrp="1"/>
          </p:cNvSpPr>
          <p:nvPr>
            <p:ph type="ctr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3" name="Subtitle 2">
            <a:extLst>
              <a:ext uri="{FF2B5EF4-FFF2-40B4-BE49-F238E27FC236}">
                <a16:creationId xmlns:a16="http://schemas.microsoft.com/office/drawing/2014/main" id="{5B1FAD04-CF52-3BE6-97D9-5676271ED79F}"/>
              </a:ext>
            </a:extLst>
          </p:cNvPr>
          <p:cNvSpPr>
            <a:spLocks noGrp="1"/>
          </p:cNvSpPr>
          <p:nvPr>
            <p:ph type="subTitle" idx="1"/>
          </p:nvPr>
        </p:nvSpPr>
        <p:spPr/>
        <p:txBody>
          <a:bodyPr/>
          <a:lstStyle/>
          <a:p>
            <a:r>
              <a:rPr lang="en-US" dirty="0">
                <a:solidFill>
                  <a:schemeClr val="tx2">
                    <a:lumMod val="75000"/>
                    <a:lumOff val="25000"/>
                  </a:schemeClr>
                </a:solidFill>
              </a:rPr>
              <a:t>Christian Cabrera</a:t>
            </a:r>
          </a:p>
          <a:p>
            <a:r>
              <a:rPr lang="en-US" dirty="0">
                <a:solidFill>
                  <a:schemeClr val="tx2">
                    <a:lumMod val="75000"/>
                    <a:lumOff val="25000"/>
                  </a:schemeClr>
                </a:solidFill>
              </a:rPr>
              <a:t>University of Cambridge</a:t>
            </a:r>
          </a:p>
          <a:p>
            <a:r>
              <a:rPr lang="en-US" dirty="0">
                <a:solidFill>
                  <a:schemeClr val="tx2">
                    <a:lumMod val="75000"/>
                    <a:lumOff val="25000"/>
                  </a:schemeClr>
                </a:solidFill>
              </a:rPr>
              <a:t>08/11/2024</a:t>
            </a:r>
            <a:endParaRPr lang="en-GB" dirty="0">
              <a:solidFill>
                <a:schemeClr val="tx2">
                  <a:lumMod val="75000"/>
                  <a:lumOff val="25000"/>
                </a:schemeClr>
              </a:solidFill>
            </a:endParaRPr>
          </a:p>
        </p:txBody>
      </p:sp>
    </p:spTree>
    <p:extLst>
      <p:ext uri="{BB962C8B-B14F-4D97-AF65-F5344CB8AC3E}">
        <p14:creationId xmlns:p14="http://schemas.microsoft.com/office/powerpoint/2010/main" val="85132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32D2-07A6-B233-91A3-AC081AA4F1E5}"/>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81C38AC-A920-28DE-2253-282367D80DE2}"/>
              </a:ext>
            </a:extLst>
          </p:cNvPr>
          <p:cNvSpPr>
            <a:spLocks noGrp="1"/>
          </p:cNvSpPr>
          <p:nvPr>
            <p:ph idx="1"/>
          </p:nvPr>
        </p:nvSpPr>
        <p:spPr/>
        <p:txBody>
          <a:bodyPr>
            <a:normAutofit/>
          </a:bodyPr>
          <a:lstStyle/>
          <a:p>
            <a:r>
              <a:rPr lang="en-US" sz="3200" dirty="0">
                <a:solidFill>
                  <a:schemeClr val="tx2">
                    <a:lumMod val="75000"/>
                    <a:lumOff val="25000"/>
                  </a:schemeClr>
                </a:solidFill>
              </a:rPr>
              <a:t>The Systems Engineering Approach</a:t>
            </a:r>
          </a:p>
          <a:p>
            <a:pPr marL="0" indent="0">
              <a:buNone/>
            </a:pPr>
            <a:endParaRPr lang="en-US" sz="3200" dirty="0">
              <a:solidFill>
                <a:schemeClr val="tx2">
                  <a:lumMod val="75000"/>
                  <a:lumOff val="25000"/>
                </a:schemeClr>
              </a:solidFill>
            </a:endParaRPr>
          </a:p>
        </p:txBody>
      </p:sp>
      <p:pic>
        <p:nvPicPr>
          <p:cNvPr id="4" name="Picture 2">
            <a:extLst>
              <a:ext uri="{FF2B5EF4-FFF2-40B4-BE49-F238E27FC236}">
                <a16:creationId xmlns:a16="http://schemas.microsoft.com/office/drawing/2014/main" id="{10A2CE9F-8B8C-9D4A-B1FB-78D9FDC95E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092" t="20327" r="39092" b="19604"/>
          <a:stretch/>
        </p:blipFill>
        <p:spPr bwMode="auto">
          <a:xfrm>
            <a:off x="1219201" y="2673858"/>
            <a:ext cx="3366829" cy="3244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3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E3EE-A488-2985-2287-84EF285EE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72911-900D-A30B-0164-845AE8BEB5CD}"/>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E12473D4-417D-E5FC-5CBD-855C4F068158}"/>
              </a:ext>
            </a:extLst>
          </p:cNvPr>
          <p:cNvSpPr>
            <a:spLocks noGrp="1"/>
          </p:cNvSpPr>
          <p:nvPr>
            <p:ph idx="1"/>
          </p:nvPr>
        </p:nvSpPr>
        <p:spPr/>
        <p:txBody>
          <a:bodyPr>
            <a:normAutofit/>
          </a:bodyPr>
          <a:lstStyle/>
          <a:p>
            <a:r>
              <a:rPr lang="en-US" sz="3200" dirty="0">
                <a:solidFill>
                  <a:schemeClr val="tx2">
                    <a:lumMod val="75000"/>
                    <a:lumOff val="25000"/>
                  </a:schemeClr>
                </a:solidFill>
              </a:rPr>
              <a:t>The Systems Engineering Approach</a:t>
            </a:r>
          </a:p>
          <a:p>
            <a:pPr marL="0" indent="0">
              <a:buNone/>
            </a:pPr>
            <a:endParaRPr lang="en-US" sz="3200" dirty="0">
              <a:solidFill>
                <a:schemeClr val="tx2">
                  <a:lumMod val="75000"/>
                  <a:lumOff val="25000"/>
                </a:schemeClr>
              </a:solidFill>
            </a:endParaRPr>
          </a:p>
        </p:txBody>
      </p:sp>
      <p:pic>
        <p:nvPicPr>
          <p:cNvPr id="4" name="Picture 2">
            <a:extLst>
              <a:ext uri="{FF2B5EF4-FFF2-40B4-BE49-F238E27FC236}">
                <a16:creationId xmlns:a16="http://schemas.microsoft.com/office/drawing/2014/main" id="{EF8D7839-79A4-D305-375C-93BE2BA67F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092" t="20327" r="39092" b="19604"/>
          <a:stretch/>
        </p:blipFill>
        <p:spPr bwMode="auto">
          <a:xfrm>
            <a:off x="1219201" y="2673858"/>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59DAB6A-1C5F-DD4B-0BA0-46CF9DB7B598}"/>
              </a:ext>
            </a:extLst>
          </p:cNvPr>
          <p:cNvSpPr txBox="1">
            <a:spLocks/>
          </p:cNvSpPr>
          <p:nvPr/>
        </p:nvSpPr>
        <p:spPr>
          <a:xfrm>
            <a:off x="5152104" y="1825625"/>
            <a:ext cx="6201696"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dirty="0">
              <a:solidFill>
                <a:schemeClr val="tx2">
                  <a:lumMod val="75000"/>
                  <a:lumOff val="25000"/>
                </a:schemeClr>
              </a:solidFill>
            </a:endParaRPr>
          </a:p>
          <a:p>
            <a:pPr marL="0" indent="0">
              <a:buFont typeface="Arial" panose="020B0604020202020204" pitchFamily="34" charset="0"/>
              <a:buNone/>
            </a:pPr>
            <a:endParaRPr lang="en-US" b="1" dirty="0">
              <a:solidFill>
                <a:schemeClr val="tx2">
                  <a:lumMod val="75000"/>
                  <a:lumOff val="25000"/>
                </a:schemeClr>
              </a:solidFill>
            </a:endParaRPr>
          </a:p>
          <a:p>
            <a:r>
              <a:rPr lang="en-US" b="1" dirty="0">
                <a:solidFill>
                  <a:schemeClr val="tx2">
                    <a:lumMod val="75000"/>
                    <a:lumOff val="25000"/>
                  </a:schemeClr>
                </a:solidFill>
              </a:rPr>
              <a:t>Systems Thinking:</a:t>
            </a:r>
            <a:r>
              <a:rPr lang="en-US" dirty="0">
                <a:solidFill>
                  <a:schemeClr val="tx2">
                    <a:lumMod val="75000"/>
                    <a:lumOff val="25000"/>
                  </a:schemeClr>
                </a:solidFill>
              </a:rPr>
              <a:t> System Views, Agility System, and System Dynamics.</a:t>
            </a:r>
          </a:p>
          <a:p>
            <a:pPr lvl="1"/>
            <a:endParaRPr lang="en-US" dirty="0">
              <a:solidFill>
                <a:schemeClr val="tx2">
                  <a:lumMod val="75000"/>
                  <a:lumOff val="25000"/>
                </a:schemeClr>
              </a:solidFill>
            </a:endParaRPr>
          </a:p>
          <a:p>
            <a:endParaRPr lang="en-US" dirty="0">
              <a:solidFill>
                <a:schemeClr val="tx2">
                  <a:lumMod val="75000"/>
                  <a:lumOff val="25000"/>
                </a:schemeClr>
              </a:solidFill>
            </a:endParaRPr>
          </a:p>
          <a:p>
            <a:r>
              <a:rPr lang="en-US" b="1" dirty="0">
                <a:solidFill>
                  <a:schemeClr val="tx2">
                    <a:lumMod val="75000"/>
                    <a:lumOff val="25000"/>
                  </a:schemeClr>
                </a:solidFill>
              </a:rPr>
              <a:t>Process Model</a:t>
            </a:r>
            <a:r>
              <a:rPr lang="en-US" dirty="0">
                <a:solidFill>
                  <a:schemeClr val="tx2">
                    <a:lumMod val="75000"/>
                    <a:lumOff val="25000"/>
                  </a:schemeClr>
                </a:solidFill>
              </a:rPr>
              <a:t>: Top-Down Analysis, Variant Creation and Problem-Solving Cycle.</a:t>
            </a: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Tree>
    <p:extLst>
      <p:ext uri="{BB962C8B-B14F-4D97-AF65-F5344CB8AC3E}">
        <p14:creationId xmlns:p14="http://schemas.microsoft.com/office/powerpoint/2010/main" val="131250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6A3D-5A82-814D-0344-307718C22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F2F33-E1BE-9EC1-5B7C-BC82E41CE92A}"/>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485CCFEA-F18E-46DA-DE1A-C567697AF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14" y="2547788"/>
            <a:ext cx="11177171" cy="39120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67FE579-BF9B-7787-E53B-293071ED9682}"/>
              </a:ext>
            </a:extLst>
          </p:cNvPr>
          <p:cNvSpPr/>
          <p:nvPr/>
        </p:nvSpPr>
        <p:spPr>
          <a:xfrm>
            <a:off x="4689987" y="3352793"/>
            <a:ext cx="2684207" cy="23302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4" name="Picture 3">
            <a:extLst>
              <a:ext uri="{FF2B5EF4-FFF2-40B4-BE49-F238E27FC236}">
                <a16:creationId xmlns:a16="http://schemas.microsoft.com/office/drawing/2014/main" id="{76BF1D17-EC79-FE24-023B-AC23E0BCBC9F}"/>
              </a:ext>
            </a:extLst>
          </p:cNvPr>
          <p:cNvPicPr>
            <a:picLocks noChangeAspect="1"/>
          </p:cNvPicPr>
          <p:nvPr/>
        </p:nvPicPr>
        <p:blipFill>
          <a:blip r:embed="rId4"/>
          <a:stretch>
            <a:fillRect/>
          </a:stretch>
        </p:blipFill>
        <p:spPr>
          <a:xfrm>
            <a:off x="4360618" y="3567557"/>
            <a:ext cx="3342943" cy="1872471"/>
          </a:xfrm>
          <a:prstGeom prst="rect">
            <a:avLst/>
          </a:prstGeom>
        </p:spPr>
      </p:pic>
      <p:sp>
        <p:nvSpPr>
          <p:cNvPr id="5" name="Content Placeholder 2">
            <a:extLst>
              <a:ext uri="{FF2B5EF4-FFF2-40B4-BE49-F238E27FC236}">
                <a16:creationId xmlns:a16="http://schemas.microsoft.com/office/drawing/2014/main" id="{039CA2AF-D203-64E3-FDBC-DBF80AFB9135}"/>
              </a:ext>
            </a:extLst>
          </p:cNvPr>
          <p:cNvSpPr>
            <a:spLocks noGrp="1"/>
          </p:cNvSpPr>
          <p:nvPr>
            <p:ph idx="1"/>
          </p:nvPr>
        </p:nvSpPr>
        <p:spPr>
          <a:xfrm>
            <a:off x="838200" y="1825625"/>
            <a:ext cx="10515600" cy="4351338"/>
          </a:xfrm>
        </p:spPr>
        <p:txBody>
          <a:bodyPr>
            <a:normAutofit/>
          </a:bodyPr>
          <a:lstStyle/>
          <a:p>
            <a:r>
              <a:rPr lang="en-US" sz="3200" dirty="0">
                <a:solidFill>
                  <a:schemeClr val="tx2">
                    <a:lumMod val="75000"/>
                    <a:lumOff val="25000"/>
                  </a:schemeClr>
                </a:solidFill>
              </a:rPr>
              <a:t>The Systems Engineering Approach</a:t>
            </a:r>
          </a:p>
          <a:p>
            <a:pPr marL="0" indent="0">
              <a:buNone/>
            </a:pPr>
            <a:endParaRPr lang="en-US" sz="3200" dirty="0">
              <a:solidFill>
                <a:schemeClr val="tx2">
                  <a:lumMod val="75000"/>
                  <a:lumOff val="25000"/>
                </a:schemeClr>
              </a:solidFill>
            </a:endParaRPr>
          </a:p>
        </p:txBody>
      </p:sp>
    </p:spTree>
    <p:extLst>
      <p:ext uri="{BB962C8B-B14F-4D97-AF65-F5344CB8AC3E}">
        <p14:creationId xmlns:p14="http://schemas.microsoft.com/office/powerpoint/2010/main" val="1952460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85507-1EB9-3005-D035-B68BE86F2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28181-5A65-0993-8136-3BC0D4642B0A}"/>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pic>
        <p:nvPicPr>
          <p:cNvPr id="6" name="Picture 5">
            <a:extLst>
              <a:ext uri="{FF2B5EF4-FFF2-40B4-BE49-F238E27FC236}">
                <a16:creationId xmlns:a16="http://schemas.microsoft.com/office/drawing/2014/main" id="{63083966-0DB3-AF60-935C-F35F6806D6C0}"/>
              </a:ext>
            </a:extLst>
          </p:cNvPr>
          <p:cNvPicPr>
            <a:picLocks noChangeAspect="1"/>
          </p:cNvPicPr>
          <p:nvPr/>
        </p:nvPicPr>
        <p:blipFill>
          <a:blip r:embed="rId3"/>
          <a:stretch>
            <a:fillRect/>
          </a:stretch>
        </p:blipFill>
        <p:spPr>
          <a:xfrm>
            <a:off x="578698" y="2108113"/>
            <a:ext cx="11034604" cy="3787361"/>
          </a:xfrm>
          <a:prstGeom prst="rect">
            <a:avLst/>
          </a:prstGeom>
        </p:spPr>
      </p:pic>
    </p:spTree>
    <p:extLst>
      <p:ext uri="{BB962C8B-B14F-4D97-AF65-F5344CB8AC3E}">
        <p14:creationId xmlns:p14="http://schemas.microsoft.com/office/powerpoint/2010/main" val="297492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BB44-D26E-9362-2D35-35523E848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33157-CDFF-88EA-CCD0-B720BBBBECCA}"/>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TextBox 2">
            <a:extLst>
              <a:ext uri="{FF2B5EF4-FFF2-40B4-BE49-F238E27FC236}">
                <a16:creationId xmlns:a16="http://schemas.microsoft.com/office/drawing/2014/main" id="{6D7F9356-1E48-93B3-0809-6B29B4215BE6}"/>
              </a:ext>
            </a:extLst>
          </p:cNvPr>
          <p:cNvSpPr txBox="1"/>
          <p:nvPr/>
        </p:nvSpPr>
        <p:spPr>
          <a:xfrm>
            <a:off x="1793571" y="6444747"/>
            <a:ext cx="9107040" cy="276999"/>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3"/>
              </a:rPr>
              <a:t>https://www.divante.com/blog/10-companies-that-implemented-the-microservice-architecture-and-paved-the-way-for-others</a:t>
            </a:r>
            <a:r>
              <a:rPr lang="en-GB" sz="1200" dirty="0">
                <a:solidFill>
                  <a:srgbClr val="003E74"/>
                </a:solidFill>
              </a:rPr>
              <a:t> </a:t>
            </a:r>
            <a:endParaRPr lang="en-GB" sz="1200" dirty="0"/>
          </a:p>
        </p:txBody>
      </p:sp>
      <p:pic>
        <p:nvPicPr>
          <p:cNvPr id="4" name="Picture 4">
            <a:extLst>
              <a:ext uri="{FF2B5EF4-FFF2-40B4-BE49-F238E27FC236}">
                <a16:creationId xmlns:a16="http://schemas.microsoft.com/office/drawing/2014/main" id="{3C9CFA22-7B7F-BEB7-4397-D64ECF8598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59" t="12036" r="11888" b="11590"/>
          <a:stretch/>
        </p:blipFill>
        <p:spPr bwMode="auto">
          <a:xfrm>
            <a:off x="1793571" y="1528354"/>
            <a:ext cx="9268610" cy="4916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35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DD10-30AF-56A4-E00D-E436BAC64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3813F-55C7-65DE-254A-912614409B29}"/>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B58854D1-DFB6-A18C-9FA5-CA2E96F3F61D}"/>
              </a:ext>
            </a:extLst>
          </p:cNvPr>
          <p:cNvSpPr>
            <a:spLocks noGrp="1"/>
          </p:cNvSpPr>
          <p:nvPr>
            <p:ph idx="1"/>
          </p:nvPr>
        </p:nvSpPr>
        <p:spPr/>
        <p:txBody>
          <a:bodyPr>
            <a:normAutofit/>
          </a:bodyPr>
          <a:lstStyle/>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Systems’ design decisions change from system to system…</a:t>
            </a:r>
          </a:p>
          <a:p>
            <a:pPr marL="0" indent="0">
              <a:buNone/>
            </a:pPr>
            <a:endParaRPr lang="en-US" sz="3000" dirty="0">
              <a:solidFill>
                <a:schemeClr val="tx2">
                  <a:lumMod val="75000"/>
                  <a:lumOff val="25000"/>
                </a:schemeClr>
              </a:solidFill>
            </a:endParaRPr>
          </a:p>
          <a:p>
            <a:pPr marL="0" indent="0">
              <a:buNone/>
            </a:pPr>
            <a:endParaRPr lang="en-US" sz="3000" dirty="0">
              <a:solidFill>
                <a:schemeClr val="tx2">
                  <a:lumMod val="75000"/>
                  <a:lumOff val="25000"/>
                </a:schemeClr>
              </a:solidFill>
            </a:endParaRPr>
          </a:p>
        </p:txBody>
      </p:sp>
    </p:spTree>
    <p:extLst>
      <p:ext uri="{BB962C8B-B14F-4D97-AF65-F5344CB8AC3E}">
        <p14:creationId xmlns:p14="http://schemas.microsoft.com/office/powerpoint/2010/main" val="3270216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F0977-9606-63D1-C3C6-4C3042459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12453-9919-F730-2714-0E0526AD514D}"/>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2926E512-8CB6-FFE7-0E8F-D20E7733CBCD}"/>
              </a:ext>
            </a:extLst>
          </p:cNvPr>
          <p:cNvSpPr>
            <a:spLocks noGrp="1"/>
          </p:cNvSpPr>
          <p:nvPr>
            <p:ph idx="1"/>
          </p:nvPr>
        </p:nvSpPr>
        <p:spPr/>
        <p:txBody>
          <a:bodyPr>
            <a:normAutofit/>
          </a:bodyPr>
          <a:lstStyle/>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Systems’ design decisions change from system to system…</a:t>
            </a:r>
          </a:p>
          <a:p>
            <a:endParaRPr lang="en-US" sz="3000" dirty="0">
              <a:solidFill>
                <a:schemeClr val="tx2">
                  <a:lumMod val="75000"/>
                  <a:lumOff val="25000"/>
                </a:schemeClr>
              </a:solidFill>
            </a:endParaRPr>
          </a:p>
          <a:p>
            <a:pPr marL="0" indent="0" algn="ctr">
              <a:buNone/>
            </a:pPr>
            <a:r>
              <a:rPr lang="en-US" sz="3000" b="1" dirty="0">
                <a:solidFill>
                  <a:schemeClr val="tx2">
                    <a:lumMod val="75000"/>
                    <a:lumOff val="25000"/>
                  </a:schemeClr>
                </a:solidFill>
              </a:rPr>
              <a:t>But we can identify common requirements between software systems.</a:t>
            </a:r>
          </a:p>
          <a:p>
            <a:endParaRPr lang="en-US" sz="3000" dirty="0">
              <a:solidFill>
                <a:schemeClr val="tx2">
                  <a:lumMod val="75000"/>
                  <a:lumOff val="25000"/>
                </a:schemeClr>
              </a:solidFill>
            </a:endParaRPr>
          </a:p>
          <a:p>
            <a:pPr marL="0" indent="0">
              <a:buNone/>
            </a:pPr>
            <a:endParaRPr lang="en-US" sz="3000" dirty="0">
              <a:solidFill>
                <a:schemeClr val="tx2">
                  <a:lumMod val="75000"/>
                  <a:lumOff val="25000"/>
                </a:schemeClr>
              </a:solidFill>
            </a:endParaRPr>
          </a:p>
        </p:txBody>
      </p:sp>
    </p:spTree>
    <p:extLst>
      <p:ext uri="{BB962C8B-B14F-4D97-AF65-F5344CB8AC3E}">
        <p14:creationId xmlns:p14="http://schemas.microsoft.com/office/powerpoint/2010/main" val="330283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B415-5CBA-9DAC-47A9-B0A8AB964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4ECD2-B7EA-3907-8F6A-94872C27FFC0}"/>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51F43BFF-6E11-E23C-69E8-BAE0E1AA09EA}"/>
              </a:ext>
            </a:extLst>
          </p:cNvPr>
          <p:cNvSpPr>
            <a:spLocks noGrp="1"/>
          </p:cNvSpPr>
          <p:nvPr>
            <p:ph idx="1"/>
          </p:nvPr>
        </p:nvSpPr>
        <p:spPr/>
        <p:txBody>
          <a:bodyPr>
            <a:normAutofit/>
          </a:bodyPr>
          <a:lstStyle/>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Systems’ design decisions change from system to system…</a:t>
            </a:r>
          </a:p>
          <a:p>
            <a:endParaRPr lang="en-US" sz="3000" dirty="0">
              <a:solidFill>
                <a:schemeClr val="tx2">
                  <a:lumMod val="75000"/>
                  <a:lumOff val="25000"/>
                </a:schemeClr>
              </a:solidFill>
            </a:endParaRPr>
          </a:p>
          <a:p>
            <a:pPr marL="0" indent="0" algn="ctr">
              <a:buNone/>
            </a:pPr>
            <a:r>
              <a:rPr lang="en-US" sz="3000" b="1" dirty="0">
                <a:solidFill>
                  <a:schemeClr val="tx2">
                    <a:lumMod val="75000"/>
                    <a:lumOff val="25000"/>
                  </a:schemeClr>
                </a:solidFill>
              </a:rPr>
              <a:t>But we can identify common requirements between software systems.</a:t>
            </a:r>
          </a:p>
          <a:p>
            <a:pPr marL="0" indent="0" algn="ctr">
              <a:buNone/>
            </a:pPr>
            <a:endParaRPr lang="en-US" sz="3000" b="1" dirty="0">
              <a:solidFill>
                <a:schemeClr val="tx2">
                  <a:lumMod val="75000"/>
                  <a:lumOff val="25000"/>
                </a:schemeClr>
              </a:solidFill>
            </a:endParaRPr>
          </a:p>
          <a:p>
            <a:pPr marL="0" indent="0" algn="ctr">
              <a:buNone/>
            </a:pPr>
            <a:r>
              <a:rPr lang="en-US" sz="3000" b="1" dirty="0">
                <a:solidFill>
                  <a:schemeClr val="tx2">
                    <a:lumMod val="75000"/>
                    <a:lumOff val="25000"/>
                  </a:schemeClr>
                </a:solidFill>
              </a:rPr>
              <a:t>Based on these commonalities we can define design patterns and systems architectures.</a:t>
            </a:r>
          </a:p>
          <a:p>
            <a:endParaRPr lang="en-US" sz="3000" dirty="0">
              <a:solidFill>
                <a:schemeClr val="tx2">
                  <a:lumMod val="75000"/>
                  <a:lumOff val="25000"/>
                </a:schemeClr>
              </a:solidFill>
            </a:endParaRPr>
          </a:p>
          <a:p>
            <a:pPr marL="0" indent="0">
              <a:buNone/>
            </a:pPr>
            <a:endParaRPr lang="en-US" sz="3000" dirty="0">
              <a:solidFill>
                <a:schemeClr val="tx2">
                  <a:lumMod val="75000"/>
                  <a:lumOff val="25000"/>
                </a:schemeClr>
              </a:solidFill>
            </a:endParaRPr>
          </a:p>
        </p:txBody>
      </p:sp>
    </p:spTree>
    <p:extLst>
      <p:ext uri="{BB962C8B-B14F-4D97-AF65-F5344CB8AC3E}">
        <p14:creationId xmlns:p14="http://schemas.microsoft.com/office/powerpoint/2010/main" val="650764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9BF7C-0DB6-94E2-C3C8-95AB0A3E4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CCC44-5AE6-5329-11DE-BED0538CF9BA}"/>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DA3B9E4F-2E7A-391D-B5EC-32734286E0F9}"/>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Separation of concerns</a:t>
            </a:r>
          </a:p>
          <a:p>
            <a:pPr algn="just"/>
            <a:r>
              <a:rPr lang="en-US" dirty="0">
                <a:solidFill>
                  <a:schemeClr val="tx2">
                    <a:lumMod val="75000"/>
                    <a:lumOff val="25000"/>
                  </a:schemeClr>
                </a:solidFill>
              </a:rPr>
              <a:t>High availability</a:t>
            </a:r>
          </a:p>
          <a:p>
            <a:pPr algn="just"/>
            <a:r>
              <a:rPr lang="en-US" dirty="0">
                <a:solidFill>
                  <a:schemeClr val="tx2">
                    <a:lumMod val="75000"/>
                    <a:lumOff val="25000"/>
                  </a:schemeClr>
                </a:solidFill>
              </a:rPr>
              <a:t>Scalability</a:t>
            </a:r>
          </a:p>
          <a:p>
            <a:pPr algn="just"/>
            <a:r>
              <a:rPr lang="en-US" dirty="0">
                <a:solidFill>
                  <a:schemeClr val="tx2">
                    <a:lumMod val="75000"/>
                    <a:lumOff val="25000"/>
                  </a:schemeClr>
                </a:solidFill>
              </a:rPr>
              <a:t>Low Latency</a:t>
            </a:r>
          </a:p>
        </p:txBody>
      </p:sp>
    </p:spTree>
    <p:extLst>
      <p:ext uri="{BB962C8B-B14F-4D97-AF65-F5344CB8AC3E}">
        <p14:creationId xmlns:p14="http://schemas.microsoft.com/office/powerpoint/2010/main" val="153594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77479-DBC1-B47B-D539-D8FA248E6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BEBF5-CA9D-EB87-9D7F-3EC07327F472}"/>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5AC8AB06-9658-FE10-170A-73B568342233}"/>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Separation of concerns</a:t>
            </a:r>
          </a:p>
          <a:p>
            <a:pPr algn="just"/>
            <a:r>
              <a:rPr lang="en-US" dirty="0">
                <a:solidFill>
                  <a:schemeClr val="tx2">
                    <a:lumMod val="75000"/>
                    <a:lumOff val="25000"/>
                  </a:schemeClr>
                </a:solidFill>
              </a:rPr>
              <a:t>High availability</a:t>
            </a:r>
          </a:p>
          <a:p>
            <a:pPr algn="just"/>
            <a:r>
              <a:rPr lang="en-US" dirty="0">
                <a:solidFill>
                  <a:schemeClr val="tx2">
                    <a:lumMod val="75000"/>
                    <a:lumOff val="25000"/>
                  </a:schemeClr>
                </a:solidFill>
              </a:rPr>
              <a:t>Scalability</a:t>
            </a:r>
          </a:p>
          <a:p>
            <a:pPr algn="just"/>
            <a:r>
              <a:rPr lang="en-US" dirty="0">
                <a:solidFill>
                  <a:schemeClr val="tx2">
                    <a:lumMod val="75000"/>
                    <a:lumOff val="25000"/>
                  </a:schemeClr>
                </a:solidFill>
              </a:rPr>
              <a:t>Low Latency</a:t>
            </a:r>
          </a:p>
        </p:txBody>
      </p:sp>
      <p:sp>
        <p:nvSpPr>
          <p:cNvPr id="4" name="Content Placeholder 2">
            <a:extLst>
              <a:ext uri="{FF2B5EF4-FFF2-40B4-BE49-F238E27FC236}">
                <a16:creationId xmlns:a16="http://schemas.microsoft.com/office/drawing/2014/main" id="{76558A84-CD72-E963-2C8F-7E9E687CCC26}"/>
              </a:ext>
            </a:extLst>
          </p:cNvPr>
          <p:cNvSpPr txBox="1">
            <a:spLocks/>
          </p:cNvSpPr>
          <p:nvPr/>
        </p:nvSpPr>
        <p:spPr bwMode="auto">
          <a:xfrm>
            <a:off x="6096000"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pic>
        <p:nvPicPr>
          <p:cNvPr id="5" name="Picture 4">
            <a:extLst>
              <a:ext uri="{FF2B5EF4-FFF2-40B4-BE49-F238E27FC236}">
                <a16:creationId xmlns:a16="http://schemas.microsoft.com/office/drawing/2014/main" id="{85D49EAB-2E5F-42C4-42BA-D9CA67C08B50}"/>
              </a:ext>
            </a:extLst>
          </p:cNvPr>
          <p:cNvPicPr>
            <a:picLocks noChangeAspect="1"/>
          </p:cNvPicPr>
          <p:nvPr/>
        </p:nvPicPr>
        <p:blipFill>
          <a:blip r:embed="rId3"/>
          <a:stretch>
            <a:fillRect/>
          </a:stretch>
        </p:blipFill>
        <p:spPr>
          <a:xfrm>
            <a:off x="5677923" y="3548063"/>
            <a:ext cx="6514078" cy="1936749"/>
          </a:xfrm>
          <a:prstGeom prst="rect">
            <a:avLst/>
          </a:prstGeom>
        </p:spPr>
      </p:pic>
    </p:spTree>
    <p:extLst>
      <p:ext uri="{BB962C8B-B14F-4D97-AF65-F5344CB8AC3E}">
        <p14:creationId xmlns:p14="http://schemas.microsoft.com/office/powerpoint/2010/main" val="3238225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B87D-32BE-4F70-AA49-8EE84BA25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C8ECB-06F1-7A04-43B4-D9C4C70E659E}"/>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E18D6632-90CF-CB22-4628-95248CDB4822}"/>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b="1" dirty="0">
                <a:solidFill>
                  <a:schemeClr val="tx2">
                    <a:lumMod val="75000"/>
                    <a:lumOff val="25000"/>
                  </a:schemeClr>
                </a:solidFill>
              </a:rPr>
              <a:t>Separation of concerns</a:t>
            </a:r>
          </a:p>
          <a:p>
            <a:pPr algn="just"/>
            <a:r>
              <a:rPr lang="en-US" dirty="0">
                <a:solidFill>
                  <a:schemeClr val="tx2">
                    <a:lumMod val="75000"/>
                    <a:lumOff val="25000"/>
                  </a:schemeClr>
                </a:solidFill>
              </a:rPr>
              <a:t>High availability</a:t>
            </a:r>
          </a:p>
          <a:p>
            <a:pPr algn="just"/>
            <a:r>
              <a:rPr lang="en-US" dirty="0">
                <a:solidFill>
                  <a:schemeClr val="tx2">
                    <a:lumMod val="75000"/>
                    <a:lumOff val="25000"/>
                  </a:schemeClr>
                </a:solidFill>
              </a:rPr>
              <a:t>Scalability</a:t>
            </a:r>
          </a:p>
          <a:p>
            <a:pPr algn="just"/>
            <a:r>
              <a:rPr lang="en-US" dirty="0">
                <a:solidFill>
                  <a:schemeClr val="tx2">
                    <a:lumMod val="75000"/>
                    <a:lumOff val="25000"/>
                  </a:schemeClr>
                </a:solidFill>
              </a:rPr>
              <a:t>Low Latency</a:t>
            </a:r>
          </a:p>
        </p:txBody>
      </p:sp>
      <p:sp>
        <p:nvSpPr>
          <p:cNvPr id="7" name="Content Placeholder 2">
            <a:extLst>
              <a:ext uri="{FF2B5EF4-FFF2-40B4-BE49-F238E27FC236}">
                <a16:creationId xmlns:a16="http://schemas.microsoft.com/office/drawing/2014/main" id="{419D35A7-E23D-9874-0523-F7E2615CCB8B}"/>
              </a:ext>
            </a:extLst>
          </p:cNvPr>
          <p:cNvSpPr txBox="1">
            <a:spLocks/>
          </p:cNvSpPr>
          <p:nvPr/>
        </p:nvSpPr>
        <p:spPr bwMode="auto">
          <a:xfrm>
            <a:off x="6096000"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pic>
        <p:nvPicPr>
          <p:cNvPr id="8" name="Picture 2">
            <a:extLst>
              <a:ext uri="{FF2B5EF4-FFF2-40B4-BE49-F238E27FC236}">
                <a16:creationId xmlns:a16="http://schemas.microsoft.com/office/drawing/2014/main" id="{0020428E-5C64-7D59-DB3A-68B285B2F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978859"/>
            <a:ext cx="5936309" cy="33623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C74CBD5-0492-D531-3FBB-48ABAADCAC46}"/>
              </a:ext>
            </a:extLst>
          </p:cNvPr>
          <p:cNvSpPr txBox="1"/>
          <p:nvPr/>
        </p:nvSpPr>
        <p:spPr>
          <a:xfrm>
            <a:off x="6310131" y="6215876"/>
            <a:ext cx="5303844" cy="276999"/>
          </a:xfrm>
          <a:prstGeom prst="rect">
            <a:avLst/>
          </a:prstGeom>
          <a:noFill/>
        </p:spPr>
        <p:txBody>
          <a:bodyPr wrap="square" rtlCol="0">
            <a:spAutoFit/>
          </a:bodyPr>
          <a:lstStyle/>
          <a:p>
            <a:r>
              <a:rPr lang="en-GB" sz="1200" dirty="0">
                <a:solidFill>
                  <a:srgbClr val="003E74"/>
                </a:solidFill>
              </a:rPr>
              <a:t>Source: </a:t>
            </a:r>
            <a:r>
              <a:rPr lang="en-GB" sz="1200" dirty="0">
                <a:hlinkClick r:id="rId4"/>
              </a:rPr>
              <a:t>https://dev.to/suspir0n/soc-separation-of-concerns-5ak7</a:t>
            </a:r>
            <a:endParaRPr lang="en-GB" sz="1200" dirty="0"/>
          </a:p>
        </p:txBody>
      </p:sp>
    </p:spTree>
    <p:extLst>
      <p:ext uri="{BB962C8B-B14F-4D97-AF65-F5344CB8AC3E}">
        <p14:creationId xmlns:p14="http://schemas.microsoft.com/office/powerpoint/2010/main" val="1631657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A429-129A-8622-0B7B-4878B8919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AF0C8-0489-B108-DC62-6764A8446C96}"/>
              </a:ext>
            </a:extLst>
          </p:cNvPr>
          <p:cNvSpPr>
            <a:spLocks noGrp="1"/>
          </p:cNvSpPr>
          <p:nvPr>
            <p:ph type="title"/>
          </p:nvPr>
        </p:nvSpPr>
        <p:spPr/>
        <p:txBody>
          <a:bodyPr/>
          <a:lstStyle/>
          <a:p>
            <a:r>
              <a:rPr lang="en-US" b="1" dirty="0">
                <a:solidFill>
                  <a:schemeClr val="tx2">
                    <a:lumMod val="75000"/>
                    <a:lumOff val="25000"/>
                  </a:schemeClr>
                </a:solidFill>
              </a:rPr>
              <a:t>Systems Design</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16E217CA-A13D-D19B-7822-2960C074183B}"/>
              </a:ext>
            </a:extLst>
          </p:cNvPr>
          <p:cNvSpPr>
            <a:spLocks noGrp="1"/>
          </p:cNvSpPr>
          <p:nvPr>
            <p:ph idx="1"/>
          </p:nvPr>
        </p:nvSpPr>
        <p:spPr>
          <a:xfrm>
            <a:off x="838200" y="1825625"/>
            <a:ext cx="5257800" cy="4351338"/>
          </a:xfrm>
        </p:spPr>
        <p:txBody>
          <a:bodyPr/>
          <a:lstStyle/>
          <a:p>
            <a:pPr marL="0" indent="0" algn="just">
              <a:buNone/>
            </a:pPr>
            <a:r>
              <a:rPr lang="en-US" dirty="0">
                <a:solidFill>
                  <a:schemeClr val="tx2">
                    <a:lumMod val="75000"/>
                    <a:lumOff val="25000"/>
                  </a:schemeClr>
                </a:solidFill>
              </a:rPr>
              <a:t>Systems in the age of the Internet required:</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Separation of concerns</a:t>
            </a:r>
          </a:p>
          <a:p>
            <a:pPr algn="just"/>
            <a:r>
              <a:rPr lang="en-US" b="1" dirty="0">
                <a:solidFill>
                  <a:schemeClr val="tx2">
                    <a:lumMod val="75000"/>
                    <a:lumOff val="25000"/>
                  </a:schemeClr>
                </a:solidFill>
              </a:rPr>
              <a:t>High availability</a:t>
            </a:r>
          </a:p>
          <a:p>
            <a:pPr algn="just"/>
            <a:r>
              <a:rPr lang="en-US" b="1" dirty="0">
                <a:solidFill>
                  <a:schemeClr val="tx2">
                    <a:lumMod val="75000"/>
                    <a:lumOff val="25000"/>
                  </a:schemeClr>
                </a:solidFill>
              </a:rPr>
              <a:t>Scalability</a:t>
            </a:r>
          </a:p>
          <a:p>
            <a:pPr algn="just"/>
            <a:r>
              <a:rPr lang="en-US" b="1" dirty="0">
                <a:solidFill>
                  <a:schemeClr val="tx2">
                    <a:lumMod val="75000"/>
                    <a:lumOff val="25000"/>
                  </a:schemeClr>
                </a:solidFill>
              </a:rPr>
              <a:t>Low Latency</a:t>
            </a:r>
          </a:p>
        </p:txBody>
      </p:sp>
      <p:sp>
        <p:nvSpPr>
          <p:cNvPr id="7" name="Content Placeholder 2">
            <a:extLst>
              <a:ext uri="{FF2B5EF4-FFF2-40B4-BE49-F238E27FC236}">
                <a16:creationId xmlns:a16="http://schemas.microsoft.com/office/drawing/2014/main" id="{A6B7625E-13EE-4C71-9703-BCE66CBD85AA}"/>
              </a:ext>
            </a:extLst>
          </p:cNvPr>
          <p:cNvSpPr txBox="1">
            <a:spLocks/>
          </p:cNvSpPr>
          <p:nvPr/>
        </p:nvSpPr>
        <p:spPr bwMode="auto">
          <a:xfrm>
            <a:off x="6096000"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grpSp>
        <p:nvGrpSpPr>
          <p:cNvPr id="4" name="Group 3">
            <a:extLst>
              <a:ext uri="{FF2B5EF4-FFF2-40B4-BE49-F238E27FC236}">
                <a16:creationId xmlns:a16="http://schemas.microsoft.com/office/drawing/2014/main" id="{143B203F-AEF0-CE30-1E3B-01012AD343AA}"/>
              </a:ext>
            </a:extLst>
          </p:cNvPr>
          <p:cNvGrpSpPr/>
          <p:nvPr/>
        </p:nvGrpSpPr>
        <p:grpSpPr>
          <a:xfrm>
            <a:off x="6363092" y="2784630"/>
            <a:ext cx="5465014" cy="3900333"/>
            <a:chOff x="7344474" y="2628900"/>
            <a:chExt cx="4813440" cy="3316133"/>
          </a:xfrm>
        </p:grpSpPr>
        <p:pic>
          <p:nvPicPr>
            <p:cNvPr id="5" name="Picture 4">
              <a:extLst>
                <a:ext uri="{FF2B5EF4-FFF2-40B4-BE49-F238E27FC236}">
                  <a16:creationId xmlns:a16="http://schemas.microsoft.com/office/drawing/2014/main" id="{442E08A3-F05F-148D-699E-C15B628BA9B4}"/>
                </a:ext>
              </a:extLst>
            </p:cNvPr>
            <p:cNvPicPr>
              <a:picLocks noChangeAspect="1"/>
            </p:cNvPicPr>
            <p:nvPr/>
          </p:nvPicPr>
          <p:blipFill>
            <a:blip r:embed="rId3"/>
            <a:stretch>
              <a:fillRect/>
            </a:stretch>
          </p:blipFill>
          <p:spPr>
            <a:xfrm>
              <a:off x="7344474" y="2919568"/>
              <a:ext cx="3954651" cy="3025465"/>
            </a:xfrm>
            <a:prstGeom prst="rect">
              <a:avLst/>
            </a:prstGeom>
          </p:spPr>
        </p:pic>
        <p:pic>
          <p:nvPicPr>
            <p:cNvPr id="6" name="Picture 5">
              <a:extLst>
                <a:ext uri="{FF2B5EF4-FFF2-40B4-BE49-F238E27FC236}">
                  <a16:creationId xmlns:a16="http://schemas.microsoft.com/office/drawing/2014/main" id="{A07532E5-93B8-CFB1-E020-BEF4B99FF381}"/>
                </a:ext>
              </a:extLst>
            </p:cNvPr>
            <p:cNvPicPr>
              <a:picLocks noChangeAspect="1"/>
            </p:cNvPicPr>
            <p:nvPr/>
          </p:nvPicPr>
          <p:blipFill>
            <a:blip r:embed="rId4"/>
            <a:stretch>
              <a:fillRect/>
            </a:stretch>
          </p:blipFill>
          <p:spPr>
            <a:xfrm>
              <a:off x="10107580" y="2628900"/>
              <a:ext cx="2050334" cy="609600"/>
            </a:xfrm>
            <a:prstGeom prst="rect">
              <a:avLst/>
            </a:prstGeom>
          </p:spPr>
        </p:pic>
      </p:grpSp>
    </p:spTree>
    <p:extLst>
      <p:ext uri="{BB962C8B-B14F-4D97-AF65-F5344CB8AC3E}">
        <p14:creationId xmlns:p14="http://schemas.microsoft.com/office/powerpoint/2010/main" val="3066000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783E-37E2-D3FF-9AED-2A94F5793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49272-EADA-E859-479D-50F2B8796502}"/>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11" name="Content Placeholder 2">
            <a:extLst>
              <a:ext uri="{FF2B5EF4-FFF2-40B4-BE49-F238E27FC236}">
                <a16:creationId xmlns:a16="http://schemas.microsoft.com/office/drawing/2014/main" id="{DEB92E26-6585-A709-0C8F-52E17B1E6327}"/>
              </a:ext>
            </a:extLst>
          </p:cNvPr>
          <p:cNvSpPr>
            <a:spLocks noGrp="1"/>
          </p:cNvSpPr>
          <p:nvPr>
            <p:ph idx="1"/>
          </p:nvPr>
        </p:nvSpPr>
        <p:spPr>
          <a:xfrm>
            <a:off x="838199" y="1825625"/>
            <a:ext cx="5538537" cy="4351338"/>
          </a:xfrm>
        </p:spPr>
        <p:txBody>
          <a:bodyPr>
            <a:normAutofit/>
          </a:bodyPr>
          <a:lstStyle/>
          <a:p>
            <a:pPr marL="0" indent="0" algn="just">
              <a:buNone/>
            </a:pPr>
            <a:r>
              <a:rPr lang="en-US" dirty="0">
                <a:solidFill>
                  <a:schemeClr val="tx2">
                    <a:lumMod val="75000"/>
                    <a:lumOff val="25000"/>
                  </a:schemeClr>
                </a:solidFill>
              </a:rPr>
              <a:t>Systems in the age of AI are data-driven:</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Data availability</a:t>
            </a:r>
          </a:p>
          <a:p>
            <a:pPr algn="just"/>
            <a:r>
              <a:rPr lang="en-US" dirty="0">
                <a:solidFill>
                  <a:schemeClr val="tx2">
                    <a:lumMod val="75000"/>
                    <a:lumOff val="25000"/>
                  </a:schemeClr>
                </a:solidFill>
              </a:rPr>
              <a:t>Data ownership</a:t>
            </a:r>
          </a:p>
          <a:p>
            <a:pPr algn="just"/>
            <a:r>
              <a:rPr lang="en-US" dirty="0">
                <a:solidFill>
                  <a:schemeClr val="tx2">
                    <a:lumMod val="75000"/>
                    <a:lumOff val="25000"/>
                  </a:schemeClr>
                </a:solidFill>
              </a:rPr>
              <a:t>Data traceability and monitoring</a:t>
            </a:r>
          </a:p>
          <a:p>
            <a:pPr algn="just"/>
            <a:r>
              <a:rPr lang="en-US" dirty="0">
                <a:solidFill>
                  <a:schemeClr val="tx2">
                    <a:lumMod val="75000"/>
                    <a:lumOff val="25000"/>
                  </a:schemeClr>
                </a:solidFill>
              </a:rPr>
              <a:t>Super-low latency requirements</a:t>
            </a:r>
          </a:p>
          <a:p>
            <a:pPr algn="just"/>
            <a:r>
              <a:rPr lang="en-US" dirty="0">
                <a:solidFill>
                  <a:schemeClr val="tx2">
                    <a:lumMod val="75000"/>
                    <a:lumOff val="25000"/>
                  </a:schemeClr>
                </a:solidFill>
              </a:rPr>
              <a:t>Sustainability</a:t>
            </a:r>
          </a:p>
        </p:txBody>
      </p:sp>
    </p:spTree>
    <p:extLst>
      <p:ext uri="{BB962C8B-B14F-4D97-AF65-F5344CB8AC3E}">
        <p14:creationId xmlns:p14="http://schemas.microsoft.com/office/powerpoint/2010/main" val="2441860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093F7-C21A-7384-A270-197126A285F7}"/>
            </a:ext>
          </a:extLst>
        </p:cNvPr>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F40DB025-8F62-399A-580A-E84528A643CE}"/>
              </a:ext>
            </a:extLst>
          </p:cNvPr>
          <p:cNvSpPr txBox="1">
            <a:spLocks/>
          </p:cNvSpPr>
          <p:nvPr/>
        </p:nvSpPr>
        <p:spPr bwMode="auto">
          <a:xfrm>
            <a:off x="6228347" y="1825625"/>
            <a:ext cx="5732106" cy="4724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dirty="0">
                <a:solidFill>
                  <a:srgbClr val="215F9A"/>
                </a:solidFill>
              </a:rPr>
              <a:t>Service-oriented Architectures (SOAs)</a:t>
            </a:r>
          </a:p>
          <a:p>
            <a:pPr algn="ctr"/>
            <a:endParaRPr lang="en-US" sz="2800" dirty="0">
              <a:solidFill>
                <a:srgbClr val="215F9A"/>
              </a:solidFill>
            </a:endParaRPr>
          </a:p>
          <a:p>
            <a:pPr marL="114297"/>
            <a:r>
              <a:rPr lang="en-IE" sz="2800" b="1" dirty="0">
                <a:solidFill>
                  <a:srgbClr val="215F9A"/>
                </a:solidFill>
                <a:cs typeface="Arial" panose="020B0604020202020204" pitchFamily="34" charset="0"/>
              </a:rPr>
              <a:t>The Data Dichotomy: </a:t>
            </a:r>
          </a:p>
          <a:p>
            <a:pPr marL="114297"/>
            <a:endParaRPr lang="en-IE" sz="2800" b="1" dirty="0">
              <a:solidFill>
                <a:srgbClr val="215F9A"/>
              </a:solidFill>
              <a:cs typeface="Arial" panose="020B0604020202020204" pitchFamily="34" charset="0"/>
            </a:endParaRPr>
          </a:p>
          <a:p>
            <a:pPr marL="114297" algn="ctr"/>
            <a:r>
              <a:rPr lang="en-IE" sz="2800" b="1" i="1" dirty="0">
                <a:solidFill>
                  <a:srgbClr val="215F9A"/>
                </a:solidFill>
                <a:cs typeface="Arial" panose="020B0604020202020204" pitchFamily="34" charset="0"/>
              </a:rPr>
              <a:t>“While data-driven systems are about exposing data, service-oriented architectures are about hiding data.” [1]</a:t>
            </a:r>
          </a:p>
          <a:p>
            <a:pPr algn="just"/>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sp>
        <p:nvSpPr>
          <p:cNvPr id="2" name="Title 1">
            <a:extLst>
              <a:ext uri="{FF2B5EF4-FFF2-40B4-BE49-F238E27FC236}">
                <a16:creationId xmlns:a16="http://schemas.microsoft.com/office/drawing/2014/main" id="{551134FC-7D39-46E2-6D70-ED4A18F71834}"/>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11" name="Content Placeholder 2">
            <a:extLst>
              <a:ext uri="{FF2B5EF4-FFF2-40B4-BE49-F238E27FC236}">
                <a16:creationId xmlns:a16="http://schemas.microsoft.com/office/drawing/2014/main" id="{131917BC-6D41-C6B6-6B63-8E544FA07889}"/>
              </a:ext>
            </a:extLst>
          </p:cNvPr>
          <p:cNvSpPr>
            <a:spLocks noGrp="1"/>
          </p:cNvSpPr>
          <p:nvPr>
            <p:ph idx="1"/>
          </p:nvPr>
        </p:nvSpPr>
        <p:spPr>
          <a:xfrm>
            <a:off x="838199" y="1825625"/>
            <a:ext cx="5538537" cy="4351338"/>
          </a:xfrm>
        </p:spPr>
        <p:txBody>
          <a:bodyPr>
            <a:normAutofit/>
          </a:bodyPr>
          <a:lstStyle/>
          <a:p>
            <a:pPr marL="0" indent="0" algn="just">
              <a:buNone/>
            </a:pPr>
            <a:r>
              <a:rPr lang="en-US" dirty="0">
                <a:solidFill>
                  <a:schemeClr val="tx2">
                    <a:lumMod val="75000"/>
                    <a:lumOff val="25000"/>
                  </a:schemeClr>
                </a:solidFill>
              </a:rPr>
              <a:t>Systems in the age of AI are data-driven:</a:t>
            </a:r>
          </a:p>
          <a:p>
            <a:pPr marL="0" indent="0" algn="just">
              <a:buNone/>
            </a:pPr>
            <a:endParaRPr lang="en-US" dirty="0">
              <a:solidFill>
                <a:schemeClr val="tx2">
                  <a:lumMod val="75000"/>
                  <a:lumOff val="25000"/>
                </a:schemeClr>
              </a:solidFill>
            </a:endParaRPr>
          </a:p>
          <a:p>
            <a:pPr algn="just"/>
            <a:r>
              <a:rPr lang="en-US" dirty="0">
                <a:solidFill>
                  <a:schemeClr val="tx2">
                    <a:lumMod val="75000"/>
                    <a:lumOff val="25000"/>
                  </a:schemeClr>
                </a:solidFill>
              </a:rPr>
              <a:t>Data availability</a:t>
            </a:r>
          </a:p>
          <a:p>
            <a:pPr algn="just"/>
            <a:r>
              <a:rPr lang="en-US" dirty="0">
                <a:solidFill>
                  <a:schemeClr val="tx2">
                    <a:lumMod val="75000"/>
                    <a:lumOff val="25000"/>
                  </a:schemeClr>
                </a:solidFill>
              </a:rPr>
              <a:t>Data ownership</a:t>
            </a:r>
          </a:p>
          <a:p>
            <a:pPr algn="just"/>
            <a:r>
              <a:rPr lang="en-US" dirty="0">
                <a:solidFill>
                  <a:schemeClr val="tx2">
                    <a:lumMod val="75000"/>
                    <a:lumOff val="25000"/>
                  </a:schemeClr>
                </a:solidFill>
              </a:rPr>
              <a:t>Data traceability and monitoring</a:t>
            </a:r>
          </a:p>
          <a:p>
            <a:pPr algn="just"/>
            <a:r>
              <a:rPr lang="en-US" dirty="0">
                <a:solidFill>
                  <a:schemeClr val="tx2">
                    <a:lumMod val="75000"/>
                    <a:lumOff val="25000"/>
                  </a:schemeClr>
                </a:solidFill>
              </a:rPr>
              <a:t>Super-low latency requirements</a:t>
            </a:r>
          </a:p>
          <a:p>
            <a:pPr algn="just"/>
            <a:r>
              <a:rPr lang="en-US" dirty="0">
                <a:solidFill>
                  <a:schemeClr val="tx2">
                    <a:lumMod val="75000"/>
                    <a:lumOff val="25000"/>
                  </a:schemeClr>
                </a:solidFill>
              </a:rPr>
              <a:t>Sustainability</a:t>
            </a:r>
          </a:p>
        </p:txBody>
      </p:sp>
      <p:sp>
        <p:nvSpPr>
          <p:cNvPr id="3" name="TextBox 2">
            <a:extLst>
              <a:ext uri="{FF2B5EF4-FFF2-40B4-BE49-F238E27FC236}">
                <a16:creationId xmlns:a16="http://schemas.microsoft.com/office/drawing/2014/main" id="{CC63EFD7-A5BA-AA37-DA70-355EBA3FB183}"/>
              </a:ext>
            </a:extLst>
          </p:cNvPr>
          <p:cNvSpPr txBox="1"/>
          <p:nvPr/>
        </p:nvSpPr>
        <p:spPr>
          <a:xfrm>
            <a:off x="0" y="6396335"/>
            <a:ext cx="12191999" cy="461665"/>
          </a:xfrm>
          <a:prstGeom prst="rect">
            <a:avLst/>
          </a:prstGeom>
          <a:noFill/>
        </p:spPr>
        <p:txBody>
          <a:bodyPr wrap="square">
            <a:spAutoFit/>
          </a:bodyPr>
          <a:lstStyle/>
          <a:p>
            <a:r>
              <a:rPr lang="en-GB" sz="1200" dirty="0"/>
              <a:t>[1] Stopford B., </a:t>
            </a:r>
            <a:r>
              <a:rPr lang="en-US" sz="1200" dirty="0"/>
              <a:t>The Data Dichotomy: Rethinking the Way We Treat Data and Services. </a:t>
            </a:r>
            <a:r>
              <a:rPr lang="en-GB" sz="1200" dirty="0"/>
              <a:t>https://www.confluent.io/en-gb/blog/data-dichotomy-rethinking-the-way-we-treat-data-and-services</a:t>
            </a:r>
          </a:p>
        </p:txBody>
      </p:sp>
    </p:spTree>
    <p:extLst>
      <p:ext uri="{BB962C8B-B14F-4D97-AF65-F5344CB8AC3E}">
        <p14:creationId xmlns:p14="http://schemas.microsoft.com/office/powerpoint/2010/main" val="2980286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48B2-392C-2481-E440-D5BF8B31D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7E474-15D1-C79E-C817-7D9BBE057CA5}"/>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5" name="Content Placeholder 2">
            <a:extLst>
              <a:ext uri="{FF2B5EF4-FFF2-40B4-BE49-F238E27FC236}">
                <a16:creationId xmlns:a16="http://schemas.microsoft.com/office/drawing/2014/main" id="{D66BC7DD-64B6-D363-389F-CA692051FC2D}"/>
              </a:ext>
            </a:extLst>
          </p:cNvPr>
          <p:cNvSpPr txBox="1">
            <a:spLocks noGrp="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297"/>
            <a:r>
              <a:rPr lang="en-IE" sz="3200" b="1" dirty="0">
                <a:solidFill>
                  <a:srgbClr val="215F9A"/>
                </a:solidFill>
                <a:cs typeface="Arial" panose="020B0604020202020204" pitchFamily="34" charset="0"/>
              </a:rPr>
              <a:t>The Data Dichotomy: </a:t>
            </a:r>
          </a:p>
          <a:p>
            <a:pPr marL="114297"/>
            <a:endParaRPr lang="en-IE" sz="2800" b="1" dirty="0">
              <a:solidFill>
                <a:srgbClr val="215F9A"/>
              </a:solidFill>
              <a:cs typeface="Arial" panose="020B0604020202020204" pitchFamily="34" charset="0"/>
            </a:endParaRPr>
          </a:p>
          <a:p>
            <a:pPr marL="114297" algn="ctr"/>
            <a:r>
              <a:rPr lang="en-IE" sz="2800" b="1" i="1" dirty="0">
                <a:solidFill>
                  <a:srgbClr val="215F9A"/>
                </a:solidFill>
                <a:cs typeface="Arial" panose="020B0604020202020204" pitchFamily="34" charset="0"/>
              </a:rPr>
              <a:t>“While data-driven systems are about exposing data, service-oriented architectures are about hiding data.” [1]</a:t>
            </a:r>
          </a:p>
          <a:p>
            <a:pPr algn="just"/>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pic>
        <p:nvPicPr>
          <p:cNvPr id="6" name="Picture 5">
            <a:extLst>
              <a:ext uri="{FF2B5EF4-FFF2-40B4-BE49-F238E27FC236}">
                <a16:creationId xmlns:a16="http://schemas.microsoft.com/office/drawing/2014/main" id="{8AD619CE-2DB4-851C-FF41-0B3EC213B592}"/>
              </a:ext>
            </a:extLst>
          </p:cNvPr>
          <p:cNvPicPr>
            <a:picLocks noChangeAspect="1"/>
          </p:cNvPicPr>
          <p:nvPr/>
        </p:nvPicPr>
        <p:blipFill>
          <a:blip r:embed="rId3"/>
          <a:stretch>
            <a:fillRect/>
          </a:stretch>
        </p:blipFill>
        <p:spPr>
          <a:xfrm>
            <a:off x="2367672" y="3807126"/>
            <a:ext cx="7432591" cy="2526246"/>
          </a:xfrm>
          <a:prstGeom prst="rect">
            <a:avLst/>
          </a:prstGeom>
        </p:spPr>
      </p:pic>
      <p:sp>
        <p:nvSpPr>
          <p:cNvPr id="3" name="TextBox 2">
            <a:extLst>
              <a:ext uri="{FF2B5EF4-FFF2-40B4-BE49-F238E27FC236}">
                <a16:creationId xmlns:a16="http://schemas.microsoft.com/office/drawing/2014/main" id="{AB56E1AF-9205-32EE-8D2A-2ACE5293CE49}"/>
              </a:ext>
            </a:extLst>
          </p:cNvPr>
          <p:cNvSpPr txBox="1"/>
          <p:nvPr/>
        </p:nvSpPr>
        <p:spPr>
          <a:xfrm>
            <a:off x="0" y="6396335"/>
            <a:ext cx="12191999" cy="461665"/>
          </a:xfrm>
          <a:prstGeom prst="rect">
            <a:avLst/>
          </a:prstGeom>
          <a:noFill/>
        </p:spPr>
        <p:txBody>
          <a:bodyPr wrap="square">
            <a:spAutoFit/>
          </a:bodyPr>
          <a:lstStyle/>
          <a:p>
            <a:r>
              <a:rPr lang="en-GB" sz="1200" dirty="0"/>
              <a:t>[1] Stopford B., </a:t>
            </a:r>
            <a:r>
              <a:rPr lang="en-US" sz="1200" dirty="0"/>
              <a:t>The Data Dichotomy: Rethinking the Way We Treat Data and Services. </a:t>
            </a:r>
            <a:r>
              <a:rPr lang="en-GB" sz="1200" dirty="0"/>
              <a:t>https://www.confluent.io/en-gb/blog/data-dichotomy-rethinking-the-way-we-treat-data-and-services</a:t>
            </a:r>
          </a:p>
        </p:txBody>
      </p:sp>
    </p:spTree>
    <p:extLst>
      <p:ext uri="{BB962C8B-B14F-4D97-AF65-F5344CB8AC3E}">
        <p14:creationId xmlns:p14="http://schemas.microsoft.com/office/powerpoint/2010/main" val="67169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83DA-7AFB-DB6E-1C54-55E16E272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511CB-8177-6908-52C6-E5D600864D37}"/>
              </a:ext>
            </a:extLst>
          </p:cNvPr>
          <p:cNvSpPr>
            <a:spLocks noGrp="1"/>
          </p:cNvSpPr>
          <p:nvPr>
            <p:ph type="title"/>
          </p:nvPr>
        </p:nvSpPr>
        <p:spPr/>
        <p:txBody>
          <a:bodyPr/>
          <a:lstStyle/>
          <a:p>
            <a:r>
              <a:rPr lang="en-US" b="1" dirty="0">
                <a:solidFill>
                  <a:schemeClr val="tx2">
                    <a:lumMod val="75000"/>
                    <a:lumOff val="25000"/>
                  </a:schemeClr>
                </a:solidFill>
              </a:rPr>
              <a:t>AI Systems Design</a:t>
            </a:r>
            <a:endParaRPr lang="en-GB" b="1" dirty="0">
              <a:solidFill>
                <a:schemeClr val="tx2">
                  <a:lumMod val="75000"/>
                  <a:lumOff val="25000"/>
                </a:schemeClr>
              </a:solidFill>
            </a:endParaRPr>
          </a:p>
        </p:txBody>
      </p:sp>
      <p:sp>
        <p:nvSpPr>
          <p:cNvPr id="5" name="Content Placeholder 2">
            <a:extLst>
              <a:ext uri="{FF2B5EF4-FFF2-40B4-BE49-F238E27FC236}">
                <a16:creationId xmlns:a16="http://schemas.microsoft.com/office/drawing/2014/main" id="{AF2C1E2D-73A2-2C54-2B3D-EC29E7777A23}"/>
              </a:ext>
            </a:extLst>
          </p:cNvPr>
          <p:cNvSpPr txBox="1">
            <a:spLocks noGrp="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297"/>
            <a:r>
              <a:rPr lang="en-IE" sz="3200" b="1" dirty="0">
                <a:solidFill>
                  <a:srgbClr val="215F9A"/>
                </a:solidFill>
                <a:cs typeface="Arial" panose="020B0604020202020204" pitchFamily="34" charset="0"/>
              </a:rPr>
              <a:t>The Data Dichotomy: </a:t>
            </a:r>
          </a:p>
          <a:p>
            <a:pPr marL="114297"/>
            <a:endParaRPr lang="en-IE" sz="2800" b="1" dirty="0">
              <a:solidFill>
                <a:srgbClr val="215F9A"/>
              </a:solidFill>
              <a:cs typeface="Arial" panose="020B0604020202020204" pitchFamily="34" charset="0"/>
            </a:endParaRPr>
          </a:p>
          <a:p>
            <a:pPr marL="114297" algn="ctr"/>
            <a:r>
              <a:rPr lang="en-IE" sz="2800" b="1" i="1" dirty="0">
                <a:solidFill>
                  <a:srgbClr val="215F9A"/>
                </a:solidFill>
                <a:cs typeface="Arial" panose="020B0604020202020204" pitchFamily="34" charset="0"/>
              </a:rPr>
              <a:t>“While data-driven systems are about exposing data, service-oriented architectures are about hiding data.” [1]</a:t>
            </a:r>
          </a:p>
          <a:p>
            <a:pPr marL="114297" algn="ctr"/>
            <a:endParaRPr lang="en-IE" sz="2800" b="1" i="1" dirty="0">
              <a:solidFill>
                <a:srgbClr val="215F9A"/>
              </a:solidFill>
              <a:cs typeface="Arial" panose="020B0604020202020204" pitchFamily="34" charset="0"/>
            </a:endParaRPr>
          </a:p>
          <a:p>
            <a:pPr marL="114297" algn="ctr"/>
            <a:endParaRPr lang="en-IE" sz="2800" b="1" i="1" dirty="0">
              <a:solidFill>
                <a:srgbClr val="215F9A"/>
              </a:solidFill>
              <a:cs typeface="Arial" panose="020B0604020202020204" pitchFamily="34" charset="0"/>
            </a:endParaRPr>
          </a:p>
          <a:p>
            <a:pPr marL="114297" algn="ctr"/>
            <a:r>
              <a:rPr lang="en-IE" sz="2800" b="1" dirty="0">
                <a:solidFill>
                  <a:srgbClr val="215F9A"/>
                </a:solidFill>
                <a:cs typeface="Arial" panose="020B0604020202020204" pitchFamily="34" charset="0"/>
              </a:rPr>
              <a:t>We need to design systems prioritising data!</a:t>
            </a:r>
          </a:p>
          <a:p>
            <a:pPr algn="just"/>
            <a:endParaRPr lang="en-US" sz="2800" b="1"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algn="ctr"/>
            <a:endParaRPr lang="en-US" sz="2800" dirty="0">
              <a:solidFill>
                <a:srgbClr val="215F9A"/>
              </a:solidFill>
            </a:endParaRPr>
          </a:p>
          <a:p>
            <a:pPr marL="457200" indent="-457200">
              <a:buFontTx/>
              <a:buChar char="-"/>
            </a:pPr>
            <a:endParaRPr lang="en-US" sz="2800" dirty="0">
              <a:solidFill>
                <a:srgbClr val="215F9A"/>
              </a:solidFill>
            </a:endParaRPr>
          </a:p>
          <a:p>
            <a:endParaRPr lang="en-US" sz="2800" dirty="0">
              <a:solidFill>
                <a:srgbClr val="215F9A"/>
              </a:solidFill>
            </a:endParaRPr>
          </a:p>
          <a:p>
            <a:pPr marL="342900" indent="-342900">
              <a:buFont typeface="Arial" panose="020B0604020202020204" pitchFamily="34" charset="0"/>
              <a:buChar char="•"/>
            </a:pPr>
            <a:endParaRPr lang="en-US" sz="2800" dirty="0">
              <a:solidFill>
                <a:srgbClr val="215F9A"/>
              </a:solidFill>
            </a:endParaRPr>
          </a:p>
          <a:p>
            <a:endParaRPr lang="en-US" sz="2800" dirty="0">
              <a:solidFill>
                <a:srgbClr val="215F9A"/>
              </a:solidFill>
            </a:endParaRPr>
          </a:p>
          <a:p>
            <a:endParaRPr lang="en-GB" sz="2800" dirty="0">
              <a:solidFill>
                <a:srgbClr val="215F9A"/>
              </a:solidFill>
            </a:endParaRPr>
          </a:p>
        </p:txBody>
      </p:sp>
      <p:sp>
        <p:nvSpPr>
          <p:cNvPr id="4" name="TextBox 3">
            <a:extLst>
              <a:ext uri="{FF2B5EF4-FFF2-40B4-BE49-F238E27FC236}">
                <a16:creationId xmlns:a16="http://schemas.microsoft.com/office/drawing/2014/main" id="{D440D15F-1E3A-3317-BB72-DAADEEAEAD40}"/>
              </a:ext>
            </a:extLst>
          </p:cNvPr>
          <p:cNvSpPr txBox="1"/>
          <p:nvPr/>
        </p:nvSpPr>
        <p:spPr>
          <a:xfrm>
            <a:off x="0" y="6396335"/>
            <a:ext cx="12191999" cy="461665"/>
          </a:xfrm>
          <a:prstGeom prst="rect">
            <a:avLst/>
          </a:prstGeom>
          <a:noFill/>
        </p:spPr>
        <p:txBody>
          <a:bodyPr wrap="square">
            <a:spAutoFit/>
          </a:bodyPr>
          <a:lstStyle/>
          <a:p>
            <a:r>
              <a:rPr lang="en-GB" sz="1200" dirty="0"/>
              <a:t>[1] Stopford B., </a:t>
            </a:r>
            <a:r>
              <a:rPr lang="en-US" sz="1200" dirty="0"/>
              <a:t>The Data Dichotomy: Rethinking the Way We Treat Data and Services. </a:t>
            </a:r>
            <a:r>
              <a:rPr lang="en-GB" sz="1200" dirty="0"/>
              <a:t>https://www.confluent.io/en-gb/blog/data-dichotomy-rethinking-the-way-we-treat-data-and-services</a:t>
            </a:r>
          </a:p>
        </p:txBody>
      </p:sp>
    </p:spTree>
    <p:extLst>
      <p:ext uri="{BB962C8B-B14F-4D97-AF65-F5344CB8AC3E}">
        <p14:creationId xmlns:p14="http://schemas.microsoft.com/office/powerpoint/2010/main" val="225100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57DA3-B649-BA14-1826-993B6E8D1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F449C-9428-034B-E3EE-6B82540692DB}"/>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8" name="Content Placeholder 2">
            <a:extLst>
              <a:ext uri="{FF2B5EF4-FFF2-40B4-BE49-F238E27FC236}">
                <a16:creationId xmlns:a16="http://schemas.microsoft.com/office/drawing/2014/main" id="{22EB66D3-DAC2-C45E-D564-393A14A1DEA1}"/>
              </a:ext>
            </a:extLst>
          </p:cNvPr>
          <p:cNvSpPr txBox="1">
            <a:spLocks noGrp="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Arial" panose="020B0604020202020204" pitchFamily="34" charset="0"/>
              <a:buChar char="•"/>
            </a:pPr>
            <a:endParaRPr lang="en-US" sz="3200" dirty="0">
              <a:solidFill>
                <a:srgbClr val="215F9A"/>
              </a:solidFill>
            </a:endParaRPr>
          </a:p>
          <a:p>
            <a:pPr marL="457200" indent="-457200" algn="just">
              <a:buFont typeface="Arial" panose="020B0604020202020204" pitchFamily="34" charset="0"/>
              <a:buChar char="•"/>
            </a:pPr>
            <a:r>
              <a:rPr lang="en-US" sz="3000" dirty="0">
                <a:solidFill>
                  <a:srgbClr val="215F9A"/>
                </a:solidFill>
              </a:rPr>
              <a:t>Data-first systems</a:t>
            </a:r>
          </a:p>
          <a:p>
            <a:pPr marL="457200" indent="-457200" algn="just">
              <a:buFont typeface="Arial" panose="020B0604020202020204" pitchFamily="34" charset="0"/>
              <a:buChar char="•"/>
            </a:pPr>
            <a:endParaRPr lang="en-US" sz="3000" dirty="0">
              <a:solidFill>
                <a:srgbClr val="215F9A"/>
              </a:solidFill>
            </a:endParaRPr>
          </a:p>
          <a:p>
            <a:pPr marL="457200" indent="-457200" algn="just">
              <a:buFont typeface="Arial" panose="020B0604020202020204" pitchFamily="34" charset="0"/>
              <a:buChar char="•"/>
            </a:pPr>
            <a:r>
              <a:rPr lang="en-US" sz="3000" dirty="0" err="1">
                <a:solidFill>
                  <a:srgbClr val="215F9A"/>
                </a:solidFill>
              </a:rPr>
              <a:t>Prioritise</a:t>
            </a:r>
            <a:r>
              <a:rPr lang="en-US" sz="3000" dirty="0">
                <a:solidFill>
                  <a:srgbClr val="215F9A"/>
                </a:solidFill>
              </a:rPr>
              <a:t> </a:t>
            </a:r>
            <a:r>
              <a:rPr lang="en-US" sz="3000" dirty="0" err="1">
                <a:solidFill>
                  <a:srgbClr val="215F9A"/>
                </a:solidFill>
              </a:rPr>
              <a:t>decentralisation</a:t>
            </a:r>
            <a:endParaRPr lang="en-US" sz="3000" dirty="0">
              <a:solidFill>
                <a:srgbClr val="215F9A"/>
              </a:solidFill>
            </a:endParaRPr>
          </a:p>
          <a:p>
            <a:pPr marL="457200" indent="-457200" algn="just">
              <a:buFont typeface="Arial" panose="020B0604020202020204" pitchFamily="34" charset="0"/>
              <a:buChar char="•"/>
            </a:pPr>
            <a:endParaRPr lang="en-US" sz="3000" dirty="0">
              <a:solidFill>
                <a:srgbClr val="215F9A"/>
              </a:solidFill>
            </a:endParaRPr>
          </a:p>
          <a:p>
            <a:pPr marL="457200" indent="-457200" algn="just">
              <a:buFont typeface="Arial" panose="020B0604020202020204" pitchFamily="34" charset="0"/>
              <a:buChar char="•"/>
            </a:pPr>
            <a:r>
              <a:rPr lang="en-US" sz="3000" dirty="0">
                <a:solidFill>
                  <a:srgbClr val="215F9A"/>
                </a:solidFill>
              </a:rPr>
              <a:t>Openness</a:t>
            </a:r>
          </a:p>
          <a:p>
            <a:pPr algn="ctr"/>
            <a:endParaRPr lang="en-US" sz="3200" dirty="0">
              <a:solidFill>
                <a:srgbClr val="215F9A"/>
              </a:solidFill>
            </a:endParaRPr>
          </a:p>
          <a:p>
            <a:pPr algn="ctr"/>
            <a:endParaRPr lang="en-US" sz="3200" dirty="0">
              <a:solidFill>
                <a:srgbClr val="215F9A"/>
              </a:solidFill>
            </a:endParaRPr>
          </a:p>
          <a:p>
            <a:pPr algn="ctr"/>
            <a:endParaRPr lang="en-US" sz="3200" dirty="0">
              <a:solidFill>
                <a:srgbClr val="215F9A"/>
              </a:solidFill>
            </a:endParaRPr>
          </a:p>
          <a:p>
            <a:pPr marL="457200" indent="-457200">
              <a:buFontTx/>
              <a:buChar char="-"/>
            </a:pPr>
            <a:endParaRPr lang="en-US" sz="3200" dirty="0">
              <a:solidFill>
                <a:srgbClr val="215F9A"/>
              </a:solidFill>
            </a:endParaRPr>
          </a:p>
          <a:p>
            <a:endParaRPr lang="en-US" sz="3200" dirty="0">
              <a:solidFill>
                <a:srgbClr val="215F9A"/>
              </a:solidFill>
            </a:endParaRPr>
          </a:p>
          <a:p>
            <a:pPr marL="342900" indent="-342900">
              <a:buFont typeface="Arial" panose="020B0604020202020204" pitchFamily="34" charset="0"/>
              <a:buChar char="•"/>
            </a:pPr>
            <a:endParaRPr lang="en-US" sz="3200" dirty="0">
              <a:solidFill>
                <a:srgbClr val="215F9A"/>
              </a:solidFill>
            </a:endParaRPr>
          </a:p>
          <a:p>
            <a:endParaRPr lang="en-US" sz="3200" dirty="0">
              <a:solidFill>
                <a:srgbClr val="215F9A"/>
              </a:solidFill>
            </a:endParaRPr>
          </a:p>
          <a:p>
            <a:endParaRPr lang="en-GB" sz="3200" dirty="0">
              <a:solidFill>
                <a:srgbClr val="215F9A"/>
              </a:solidFill>
            </a:endParaRPr>
          </a:p>
        </p:txBody>
      </p:sp>
    </p:spTree>
    <p:extLst>
      <p:ext uri="{BB962C8B-B14F-4D97-AF65-F5344CB8AC3E}">
        <p14:creationId xmlns:p14="http://schemas.microsoft.com/office/powerpoint/2010/main" val="3902915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0ABF-EF49-E39A-FD9A-99EE42510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A725C-DE5B-4A51-40E9-64A910D4E118}"/>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4" name="Picture 3">
            <a:extLst>
              <a:ext uri="{FF2B5EF4-FFF2-40B4-BE49-F238E27FC236}">
                <a16:creationId xmlns:a16="http://schemas.microsoft.com/office/drawing/2014/main" id="{F81A146A-4781-99E9-FFE9-9A5B196C5D45}"/>
              </a:ext>
            </a:extLst>
          </p:cNvPr>
          <p:cNvPicPr>
            <a:picLocks noChangeAspect="1"/>
          </p:cNvPicPr>
          <p:nvPr/>
        </p:nvPicPr>
        <p:blipFill>
          <a:blip r:embed="rId3"/>
          <a:stretch>
            <a:fillRect/>
          </a:stretch>
        </p:blipFill>
        <p:spPr>
          <a:xfrm>
            <a:off x="2118728" y="2210966"/>
            <a:ext cx="7954543" cy="3299497"/>
          </a:xfrm>
          <a:prstGeom prst="rect">
            <a:avLst/>
          </a:prstGeom>
        </p:spPr>
      </p:pic>
      <p:sp>
        <p:nvSpPr>
          <p:cNvPr id="3" name="Content Placeholder 2">
            <a:extLst>
              <a:ext uri="{FF2B5EF4-FFF2-40B4-BE49-F238E27FC236}">
                <a16:creationId xmlns:a16="http://schemas.microsoft.com/office/drawing/2014/main" id="{50FBA078-E110-35A2-BA89-76C84309F37A}"/>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Data-First</a:t>
            </a:r>
          </a:p>
        </p:txBody>
      </p:sp>
    </p:spTree>
    <p:extLst>
      <p:ext uri="{BB962C8B-B14F-4D97-AF65-F5344CB8AC3E}">
        <p14:creationId xmlns:p14="http://schemas.microsoft.com/office/powerpoint/2010/main" val="1320007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93C1-1558-712A-29B3-1A4919B49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BFE0D-839B-EB8E-D81A-25E8DA8DFBAB}"/>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A015B9C7-6D1B-7BE4-60F8-E1B7D1B183CD}"/>
              </a:ext>
            </a:extLst>
          </p:cNvPr>
          <p:cNvPicPr>
            <a:picLocks noChangeAspect="1"/>
          </p:cNvPicPr>
          <p:nvPr/>
        </p:nvPicPr>
        <p:blipFill>
          <a:blip r:embed="rId3"/>
          <a:stretch>
            <a:fillRect/>
          </a:stretch>
        </p:blipFill>
        <p:spPr>
          <a:xfrm>
            <a:off x="2411405" y="2160256"/>
            <a:ext cx="7369190" cy="3974659"/>
          </a:xfrm>
          <a:prstGeom prst="rect">
            <a:avLst/>
          </a:prstGeom>
        </p:spPr>
      </p:pic>
      <p:sp>
        <p:nvSpPr>
          <p:cNvPr id="5" name="Content Placeholder 2">
            <a:extLst>
              <a:ext uri="{FF2B5EF4-FFF2-40B4-BE49-F238E27FC236}">
                <a16:creationId xmlns:a16="http://schemas.microsoft.com/office/drawing/2014/main" id="{650D596B-9E2C-08B7-D6DC-CC3A682872D5}"/>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Data-First</a:t>
            </a:r>
          </a:p>
        </p:txBody>
      </p:sp>
    </p:spTree>
    <p:extLst>
      <p:ext uri="{BB962C8B-B14F-4D97-AF65-F5344CB8AC3E}">
        <p14:creationId xmlns:p14="http://schemas.microsoft.com/office/powerpoint/2010/main" val="1659486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6B15C-4BA7-8831-9ABA-6BE495D81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42690-E01F-1ED0-9EA1-DE4F77935631}"/>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A3709B74-9E19-82F1-D072-29D1C85D0869}"/>
              </a:ext>
            </a:extLst>
          </p:cNvPr>
          <p:cNvPicPr>
            <a:picLocks noChangeAspect="1"/>
          </p:cNvPicPr>
          <p:nvPr/>
        </p:nvPicPr>
        <p:blipFill>
          <a:blip r:embed="rId3"/>
          <a:stretch>
            <a:fillRect/>
          </a:stretch>
        </p:blipFill>
        <p:spPr>
          <a:xfrm>
            <a:off x="2411405" y="2172288"/>
            <a:ext cx="7369190" cy="3974659"/>
          </a:xfrm>
          <a:prstGeom prst="rect">
            <a:avLst/>
          </a:prstGeom>
        </p:spPr>
      </p:pic>
      <p:sp>
        <p:nvSpPr>
          <p:cNvPr id="5" name="Content Placeholder 2">
            <a:extLst>
              <a:ext uri="{FF2B5EF4-FFF2-40B4-BE49-F238E27FC236}">
                <a16:creationId xmlns:a16="http://schemas.microsoft.com/office/drawing/2014/main" id="{532BC2FD-BDA7-C358-4756-AB0DB9BD29C8}"/>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Data-First</a:t>
            </a:r>
          </a:p>
        </p:txBody>
      </p:sp>
      <p:sp>
        <p:nvSpPr>
          <p:cNvPr id="6" name="TextBox 5">
            <a:extLst>
              <a:ext uri="{FF2B5EF4-FFF2-40B4-BE49-F238E27FC236}">
                <a16:creationId xmlns:a16="http://schemas.microsoft.com/office/drawing/2014/main" id="{6928019F-3F34-6273-2331-B5144243CA9E}"/>
              </a:ext>
            </a:extLst>
          </p:cNvPr>
          <p:cNvSpPr txBox="1"/>
          <p:nvPr/>
        </p:nvSpPr>
        <p:spPr>
          <a:xfrm>
            <a:off x="838200" y="5211585"/>
            <a:ext cx="6093994" cy="954107"/>
          </a:xfrm>
          <a:prstGeom prst="rect">
            <a:avLst/>
          </a:prstGeom>
          <a:noFill/>
        </p:spPr>
        <p:txBody>
          <a:bodyPr wrap="square">
            <a:spAutoFit/>
          </a:bodyPr>
          <a:lstStyle/>
          <a:p>
            <a:pPr algn="just"/>
            <a:r>
              <a:rPr lang="en-US" sz="2800" dirty="0">
                <a:solidFill>
                  <a:schemeClr val="tx2">
                    <a:lumMod val="75000"/>
                    <a:lumOff val="25000"/>
                  </a:schemeClr>
                </a:solidFill>
              </a:rPr>
              <a:t>Data availability</a:t>
            </a:r>
          </a:p>
          <a:p>
            <a:pPr algn="just"/>
            <a:r>
              <a:rPr lang="en-US" sz="2800" dirty="0">
                <a:solidFill>
                  <a:schemeClr val="tx2">
                    <a:lumMod val="75000"/>
                    <a:lumOff val="25000"/>
                  </a:schemeClr>
                </a:solidFill>
              </a:rPr>
              <a:t>Data traceability and monitoring</a:t>
            </a:r>
          </a:p>
        </p:txBody>
      </p:sp>
    </p:spTree>
    <p:extLst>
      <p:ext uri="{BB962C8B-B14F-4D97-AF65-F5344CB8AC3E}">
        <p14:creationId xmlns:p14="http://schemas.microsoft.com/office/powerpoint/2010/main" val="822499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3458-A4EC-823E-49D3-087C40B6B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332B0-C8CA-6336-CFED-3024B8B593BC}"/>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grpSp>
        <p:nvGrpSpPr>
          <p:cNvPr id="3" name="Group 2">
            <a:extLst>
              <a:ext uri="{FF2B5EF4-FFF2-40B4-BE49-F238E27FC236}">
                <a16:creationId xmlns:a16="http://schemas.microsoft.com/office/drawing/2014/main" id="{DD305F16-4009-33C0-0D95-C8C0FDCB8388}"/>
              </a:ext>
            </a:extLst>
          </p:cNvPr>
          <p:cNvGrpSpPr/>
          <p:nvPr/>
        </p:nvGrpSpPr>
        <p:grpSpPr>
          <a:xfrm>
            <a:off x="3363493" y="2592542"/>
            <a:ext cx="5465014" cy="3900333"/>
            <a:chOff x="7344474" y="2628900"/>
            <a:chExt cx="4813440" cy="3316133"/>
          </a:xfrm>
        </p:grpSpPr>
        <p:pic>
          <p:nvPicPr>
            <p:cNvPr id="5" name="Picture 4">
              <a:extLst>
                <a:ext uri="{FF2B5EF4-FFF2-40B4-BE49-F238E27FC236}">
                  <a16:creationId xmlns:a16="http://schemas.microsoft.com/office/drawing/2014/main" id="{E568E48A-1312-832F-6C53-9DDA289CF62D}"/>
                </a:ext>
              </a:extLst>
            </p:cNvPr>
            <p:cNvPicPr>
              <a:picLocks noChangeAspect="1"/>
            </p:cNvPicPr>
            <p:nvPr/>
          </p:nvPicPr>
          <p:blipFill>
            <a:blip r:embed="rId3"/>
            <a:stretch>
              <a:fillRect/>
            </a:stretch>
          </p:blipFill>
          <p:spPr>
            <a:xfrm>
              <a:off x="7344474" y="2919568"/>
              <a:ext cx="3954651" cy="3025465"/>
            </a:xfrm>
            <a:prstGeom prst="rect">
              <a:avLst/>
            </a:prstGeom>
          </p:spPr>
        </p:pic>
        <p:pic>
          <p:nvPicPr>
            <p:cNvPr id="6" name="Picture 5">
              <a:extLst>
                <a:ext uri="{FF2B5EF4-FFF2-40B4-BE49-F238E27FC236}">
                  <a16:creationId xmlns:a16="http://schemas.microsoft.com/office/drawing/2014/main" id="{A742FF8B-B767-BF2A-CC27-314719A6DFB9}"/>
                </a:ext>
              </a:extLst>
            </p:cNvPr>
            <p:cNvPicPr>
              <a:picLocks noChangeAspect="1"/>
            </p:cNvPicPr>
            <p:nvPr/>
          </p:nvPicPr>
          <p:blipFill>
            <a:blip r:embed="rId4"/>
            <a:stretch>
              <a:fillRect/>
            </a:stretch>
          </p:blipFill>
          <p:spPr>
            <a:xfrm>
              <a:off x="10107580" y="2628900"/>
              <a:ext cx="2050334" cy="609600"/>
            </a:xfrm>
            <a:prstGeom prst="rect">
              <a:avLst/>
            </a:prstGeom>
          </p:spPr>
        </p:pic>
      </p:grpSp>
      <p:sp>
        <p:nvSpPr>
          <p:cNvPr id="7" name="Content Placeholder 2">
            <a:extLst>
              <a:ext uri="{FF2B5EF4-FFF2-40B4-BE49-F238E27FC236}">
                <a16:creationId xmlns:a16="http://schemas.microsoft.com/office/drawing/2014/main" id="{159BCE22-1367-D122-46C3-5CBC5BEB67C7}"/>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err="1">
                <a:solidFill>
                  <a:schemeClr val="tx2">
                    <a:lumMod val="75000"/>
                    <a:lumOff val="25000"/>
                  </a:schemeClr>
                </a:solidFill>
              </a:rPr>
              <a:t>Prioritise</a:t>
            </a:r>
            <a:r>
              <a:rPr lang="en-US" sz="3200" b="1" dirty="0">
                <a:solidFill>
                  <a:schemeClr val="tx2">
                    <a:lumMod val="75000"/>
                    <a:lumOff val="25000"/>
                  </a:schemeClr>
                </a:solidFill>
              </a:rPr>
              <a:t> </a:t>
            </a:r>
            <a:r>
              <a:rPr lang="en-US" sz="3200" b="1" dirty="0" err="1">
                <a:solidFill>
                  <a:schemeClr val="tx2">
                    <a:lumMod val="75000"/>
                    <a:lumOff val="25000"/>
                  </a:schemeClr>
                </a:solidFill>
              </a:rPr>
              <a:t>decentralisation</a:t>
            </a:r>
            <a:endParaRPr lang="en-US" sz="3200" b="1" dirty="0">
              <a:solidFill>
                <a:schemeClr val="tx2">
                  <a:lumMod val="75000"/>
                  <a:lumOff val="25000"/>
                </a:schemeClr>
              </a:solidFill>
            </a:endParaRPr>
          </a:p>
        </p:txBody>
      </p:sp>
    </p:spTree>
    <p:extLst>
      <p:ext uri="{BB962C8B-B14F-4D97-AF65-F5344CB8AC3E}">
        <p14:creationId xmlns:p14="http://schemas.microsoft.com/office/powerpoint/2010/main" val="3372053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673AC-F08D-54EB-67F4-888179E04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2EAF2-B3BC-2FE3-CCBE-B45E6ECEF4FA}"/>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7" name="Content Placeholder 2">
            <a:extLst>
              <a:ext uri="{FF2B5EF4-FFF2-40B4-BE49-F238E27FC236}">
                <a16:creationId xmlns:a16="http://schemas.microsoft.com/office/drawing/2014/main" id="{FE3359D7-4374-08CD-661E-6024A2CBDD88}"/>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err="1">
                <a:solidFill>
                  <a:schemeClr val="tx2">
                    <a:lumMod val="75000"/>
                    <a:lumOff val="25000"/>
                  </a:schemeClr>
                </a:solidFill>
              </a:rPr>
              <a:t>Prioritise</a:t>
            </a:r>
            <a:r>
              <a:rPr lang="en-US" sz="3200" b="1" dirty="0">
                <a:solidFill>
                  <a:schemeClr val="tx2">
                    <a:lumMod val="75000"/>
                    <a:lumOff val="25000"/>
                  </a:schemeClr>
                </a:solidFill>
              </a:rPr>
              <a:t> </a:t>
            </a:r>
            <a:r>
              <a:rPr lang="en-US" sz="3200" b="1" dirty="0" err="1">
                <a:solidFill>
                  <a:schemeClr val="tx2">
                    <a:lumMod val="75000"/>
                    <a:lumOff val="25000"/>
                  </a:schemeClr>
                </a:solidFill>
              </a:rPr>
              <a:t>decentralisation</a:t>
            </a:r>
            <a:endParaRPr lang="en-US" sz="3200" b="1" dirty="0">
              <a:solidFill>
                <a:schemeClr val="tx2">
                  <a:lumMod val="75000"/>
                  <a:lumOff val="25000"/>
                </a:schemeClr>
              </a:solidFill>
            </a:endParaRPr>
          </a:p>
        </p:txBody>
      </p:sp>
      <p:pic>
        <p:nvPicPr>
          <p:cNvPr id="11" name="Picture 10">
            <a:extLst>
              <a:ext uri="{FF2B5EF4-FFF2-40B4-BE49-F238E27FC236}">
                <a16:creationId xmlns:a16="http://schemas.microsoft.com/office/drawing/2014/main" id="{6C343BAF-6331-E185-13E6-1161CA812A61}"/>
              </a:ext>
            </a:extLst>
          </p:cNvPr>
          <p:cNvPicPr>
            <a:picLocks noChangeAspect="1"/>
          </p:cNvPicPr>
          <p:nvPr/>
        </p:nvPicPr>
        <p:blipFill>
          <a:blip r:embed="rId3"/>
          <a:srcRect b="25779"/>
          <a:stretch/>
        </p:blipFill>
        <p:spPr>
          <a:xfrm>
            <a:off x="2612038" y="2389125"/>
            <a:ext cx="6967923" cy="3229621"/>
          </a:xfrm>
          <a:prstGeom prst="rect">
            <a:avLst/>
          </a:prstGeom>
        </p:spPr>
      </p:pic>
      <p:sp>
        <p:nvSpPr>
          <p:cNvPr id="3" name="Rectangle 2">
            <a:extLst>
              <a:ext uri="{FF2B5EF4-FFF2-40B4-BE49-F238E27FC236}">
                <a16:creationId xmlns:a16="http://schemas.microsoft.com/office/drawing/2014/main" id="{06C7BEC5-F692-B6E5-98A5-262C9C735516}"/>
              </a:ext>
            </a:extLst>
          </p:cNvPr>
          <p:cNvSpPr/>
          <p:nvPr/>
        </p:nvSpPr>
        <p:spPr>
          <a:xfrm>
            <a:off x="4199020" y="520967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4DE0C9C-7BBD-FB98-C089-6898F988B3F9}"/>
              </a:ext>
            </a:extLst>
          </p:cNvPr>
          <p:cNvSpPr/>
          <p:nvPr/>
        </p:nvSpPr>
        <p:spPr>
          <a:xfrm>
            <a:off x="5099383" y="5142205"/>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CB63759-E3B9-0D88-AFFB-B76F885B6B93}"/>
              </a:ext>
            </a:extLst>
          </p:cNvPr>
          <p:cNvSpPr/>
          <p:nvPr/>
        </p:nvSpPr>
        <p:spPr>
          <a:xfrm>
            <a:off x="7693601" y="522170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0959131-6D24-A72E-0B06-C920D4307527}"/>
              </a:ext>
            </a:extLst>
          </p:cNvPr>
          <p:cNvSpPr/>
          <p:nvPr/>
        </p:nvSpPr>
        <p:spPr>
          <a:xfrm rot="16200000">
            <a:off x="5609722" y="5392150"/>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2009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49407-7467-4AC3-AFE7-41234318A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53C02-0219-2CAD-0317-4F9CFC1F2687}"/>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7" name="Content Placeholder 2">
            <a:extLst>
              <a:ext uri="{FF2B5EF4-FFF2-40B4-BE49-F238E27FC236}">
                <a16:creationId xmlns:a16="http://schemas.microsoft.com/office/drawing/2014/main" id="{E978CA42-32ED-DF6B-5A86-88CD29B2207C}"/>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err="1">
                <a:solidFill>
                  <a:schemeClr val="tx2">
                    <a:lumMod val="75000"/>
                    <a:lumOff val="25000"/>
                  </a:schemeClr>
                </a:solidFill>
              </a:rPr>
              <a:t>Prioritise</a:t>
            </a:r>
            <a:r>
              <a:rPr lang="en-US" sz="3200" b="1" dirty="0">
                <a:solidFill>
                  <a:schemeClr val="tx2">
                    <a:lumMod val="75000"/>
                    <a:lumOff val="25000"/>
                  </a:schemeClr>
                </a:solidFill>
              </a:rPr>
              <a:t> </a:t>
            </a:r>
            <a:r>
              <a:rPr lang="en-US" sz="3200" b="1" dirty="0" err="1">
                <a:solidFill>
                  <a:schemeClr val="tx2">
                    <a:lumMod val="75000"/>
                    <a:lumOff val="25000"/>
                  </a:schemeClr>
                </a:solidFill>
              </a:rPr>
              <a:t>decentralisation</a:t>
            </a:r>
            <a:endParaRPr lang="en-US" sz="3200" b="1" dirty="0">
              <a:solidFill>
                <a:schemeClr val="tx2">
                  <a:lumMod val="75000"/>
                  <a:lumOff val="25000"/>
                </a:schemeClr>
              </a:solidFill>
            </a:endParaRPr>
          </a:p>
        </p:txBody>
      </p:sp>
      <p:pic>
        <p:nvPicPr>
          <p:cNvPr id="11" name="Picture 10">
            <a:extLst>
              <a:ext uri="{FF2B5EF4-FFF2-40B4-BE49-F238E27FC236}">
                <a16:creationId xmlns:a16="http://schemas.microsoft.com/office/drawing/2014/main" id="{8118D5B5-867C-9FAD-31ED-7B7F1EB47E1E}"/>
              </a:ext>
            </a:extLst>
          </p:cNvPr>
          <p:cNvPicPr>
            <a:picLocks noChangeAspect="1"/>
          </p:cNvPicPr>
          <p:nvPr/>
        </p:nvPicPr>
        <p:blipFill>
          <a:blip r:embed="rId3"/>
          <a:srcRect b="25779"/>
          <a:stretch/>
        </p:blipFill>
        <p:spPr>
          <a:xfrm>
            <a:off x="2612038" y="2389125"/>
            <a:ext cx="6967923" cy="3229621"/>
          </a:xfrm>
          <a:prstGeom prst="rect">
            <a:avLst/>
          </a:prstGeom>
        </p:spPr>
      </p:pic>
      <p:sp>
        <p:nvSpPr>
          <p:cNvPr id="3" name="Rectangle 2">
            <a:extLst>
              <a:ext uri="{FF2B5EF4-FFF2-40B4-BE49-F238E27FC236}">
                <a16:creationId xmlns:a16="http://schemas.microsoft.com/office/drawing/2014/main" id="{7AF5F237-1CE5-E5FB-DD0E-F07849858C8A}"/>
              </a:ext>
            </a:extLst>
          </p:cNvPr>
          <p:cNvSpPr/>
          <p:nvPr/>
        </p:nvSpPr>
        <p:spPr>
          <a:xfrm>
            <a:off x="4199020" y="520967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C75A6FA-D218-91EE-3585-C68BD688481D}"/>
              </a:ext>
            </a:extLst>
          </p:cNvPr>
          <p:cNvSpPr/>
          <p:nvPr/>
        </p:nvSpPr>
        <p:spPr>
          <a:xfrm>
            <a:off x="5099383" y="5142205"/>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638699B-1A86-B6F3-75DD-EBBFA17DF920}"/>
              </a:ext>
            </a:extLst>
          </p:cNvPr>
          <p:cNvSpPr/>
          <p:nvPr/>
        </p:nvSpPr>
        <p:spPr>
          <a:xfrm>
            <a:off x="7693601" y="5221704"/>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7C8621B-224B-DEE5-4FC2-93440C86CF5F}"/>
              </a:ext>
            </a:extLst>
          </p:cNvPr>
          <p:cNvSpPr/>
          <p:nvPr/>
        </p:nvSpPr>
        <p:spPr>
          <a:xfrm rot="16200000">
            <a:off x="5609722" y="5392150"/>
            <a:ext cx="288758" cy="54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704C859-8846-74CF-528B-F69F529DB5C6}"/>
              </a:ext>
            </a:extLst>
          </p:cNvPr>
          <p:cNvSpPr txBox="1"/>
          <p:nvPr/>
        </p:nvSpPr>
        <p:spPr>
          <a:xfrm>
            <a:off x="838200" y="5541351"/>
            <a:ext cx="6093994" cy="523220"/>
          </a:xfrm>
          <a:prstGeom prst="rect">
            <a:avLst/>
          </a:prstGeom>
          <a:noFill/>
        </p:spPr>
        <p:txBody>
          <a:bodyPr wrap="square">
            <a:spAutoFit/>
          </a:bodyPr>
          <a:lstStyle/>
          <a:p>
            <a:pPr algn="just"/>
            <a:r>
              <a:rPr lang="en-US" sz="2800" dirty="0">
                <a:solidFill>
                  <a:schemeClr val="tx2">
                    <a:lumMod val="75000"/>
                    <a:lumOff val="25000"/>
                  </a:schemeClr>
                </a:solidFill>
              </a:rPr>
              <a:t>Super-low latency requirements</a:t>
            </a:r>
          </a:p>
        </p:txBody>
      </p:sp>
    </p:spTree>
    <p:extLst>
      <p:ext uri="{BB962C8B-B14F-4D97-AF65-F5344CB8AC3E}">
        <p14:creationId xmlns:p14="http://schemas.microsoft.com/office/powerpoint/2010/main" val="533382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1C2D-C503-CF47-2847-EBDBB3C9A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3605F-A319-D902-1FC1-68B2DCA9E2B5}"/>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7" name="Content Placeholder 2">
            <a:extLst>
              <a:ext uri="{FF2B5EF4-FFF2-40B4-BE49-F238E27FC236}">
                <a16:creationId xmlns:a16="http://schemas.microsoft.com/office/drawing/2014/main" id="{9C53DF34-904D-4345-F80D-A7E737B0AFCE}"/>
              </a:ext>
            </a:extLst>
          </p:cNvPr>
          <p:cNvSpPr>
            <a:spLocks noGrp="1"/>
          </p:cNvSpPr>
          <p:nvPr>
            <p:ph idx="1"/>
          </p:nvPr>
        </p:nvSpPr>
        <p:spPr>
          <a:xfrm>
            <a:off x="838200" y="1825625"/>
            <a:ext cx="5257800" cy="4351338"/>
          </a:xfrm>
        </p:spPr>
        <p:txBody>
          <a:bodyPr>
            <a:normAutofit/>
          </a:bodyPr>
          <a:lstStyle/>
          <a:p>
            <a:pPr marL="0" indent="0" algn="just">
              <a:buNone/>
            </a:pPr>
            <a:r>
              <a:rPr lang="en-US" sz="3200" b="1" dirty="0">
                <a:solidFill>
                  <a:schemeClr val="tx2">
                    <a:lumMod val="75000"/>
                    <a:lumOff val="25000"/>
                  </a:schemeClr>
                </a:solidFill>
              </a:rPr>
              <a:t>Openness</a:t>
            </a:r>
          </a:p>
        </p:txBody>
      </p:sp>
      <p:pic>
        <p:nvPicPr>
          <p:cNvPr id="11" name="Picture 10">
            <a:extLst>
              <a:ext uri="{FF2B5EF4-FFF2-40B4-BE49-F238E27FC236}">
                <a16:creationId xmlns:a16="http://schemas.microsoft.com/office/drawing/2014/main" id="{F5A3FA39-2856-E12F-ABDE-F8118F206025}"/>
              </a:ext>
            </a:extLst>
          </p:cNvPr>
          <p:cNvPicPr>
            <a:picLocks noChangeAspect="1"/>
          </p:cNvPicPr>
          <p:nvPr/>
        </p:nvPicPr>
        <p:blipFill>
          <a:blip r:embed="rId3"/>
          <a:stretch>
            <a:fillRect/>
          </a:stretch>
        </p:blipFill>
        <p:spPr>
          <a:xfrm>
            <a:off x="2612038" y="2389126"/>
            <a:ext cx="6967923" cy="4351338"/>
          </a:xfrm>
          <a:prstGeom prst="rect">
            <a:avLst/>
          </a:prstGeom>
        </p:spPr>
      </p:pic>
      <p:sp>
        <p:nvSpPr>
          <p:cNvPr id="3" name="TextBox 2">
            <a:extLst>
              <a:ext uri="{FF2B5EF4-FFF2-40B4-BE49-F238E27FC236}">
                <a16:creationId xmlns:a16="http://schemas.microsoft.com/office/drawing/2014/main" id="{27EEC989-CF49-8B19-0463-52812D038D8A}"/>
              </a:ext>
            </a:extLst>
          </p:cNvPr>
          <p:cNvSpPr txBox="1"/>
          <p:nvPr/>
        </p:nvSpPr>
        <p:spPr>
          <a:xfrm>
            <a:off x="9276347" y="4087741"/>
            <a:ext cx="2915653" cy="954107"/>
          </a:xfrm>
          <a:prstGeom prst="rect">
            <a:avLst/>
          </a:prstGeom>
          <a:noFill/>
        </p:spPr>
        <p:txBody>
          <a:bodyPr wrap="square">
            <a:spAutoFit/>
          </a:bodyPr>
          <a:lstStyle/>
          <a:p>
            <a:pPr algn="just"/>
            <a:r>
              <a:rPr lang="en-US" sz="2800" dirty="0">
                <a:solidFill>
                  <a:schemeClr val="tx2">
                    <a:lumMod val="75000"/>
                    <a:lumOff val="25000"/>
                  </a:schemeClr>
                </a:solidFill>
              </a:rPr>
              <a:t>Data ownership</a:t>
            </a:r>
          </a:p>
          <a:p>
            <a:pPr algn="just"/>
            <a:r>
              <a:rPr lang="en-US" sz="2800" dirty="0">
                <a:solidFill>
                  <a:schemeClr val="tx2">
                    <a:lumMod val="75000"/>
                    <a:lumOff val="25000"/>
                  </a:schemeClr>
                </a:solidFill>
              </a:rPr>
              <a:t>Sustainability</a:t>
            </a:r>
          </a:p>
        </p:txBody>
      </p:sp>
    </p:spTree>
    <p:extLst>
      <p:ext uri="{BB962C8B-B14F-4D97-AF65-F5344CB8AC3E}">
        <p14:creationId xmlns:p14="http://schemas.microsoft.com/office/powerpoint/2010/main" val="3167183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16096-8B86-AE1C-8119-D2098387D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83BD1-8D97-2A08-94DE-1FAA5C563A1B}"/>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6" name="Picture 5">
            <a:extLst>
              <a:ext uri="{FF2B5EF4-FFF2-40B4-BE49-F238E27FC236}">
                <a16:creationId xmlns:a16="http://schemas.microsoft.com/office/drawing/2014/main" id="{BCA194C1-3E93-094A-F734-BD49E83A834C}"/>
              </a:ext>
            </a:extLst>
          </p:cNvPr>
          <p:cNvPicPr>
            <a:picLocks noChangeAspect="1"/>
          </p:cNvPicPr>
          <p:nvPr/>
        </p:nvPicPr>
        <p:blipFill>
          <a:blip r:embed="rId3"/>
          <a:stretch>
            <a:fillRect/>
          </a:stretch>
        </p:blipFill>
        <p:spPr>
          <a:xfrm>
            <a:off x="838200" y="1588757"/>
            <a:ext cx="4855806" cy="5089744"/>
          </a:xfrm>
          <a:prstGeom prst="rect">
            <a:avLst/>
          </a:prstGeom>
        </p:spPr>
      </p:pic>
      <p:pic>
        <p:nvPicPr>
          <p:cNvPr id="8" name="Picture 7">
            <a:extLst>
              <a:ext uri="{FF2B5EF4-FFF2-40B4-BE49-F238E27FC236}">
                <a16:creationId xmlns:a16="http://schemas.microsoft.com/office/drawing/2014/main" id="{726A18A6-9980-1696-7403-CB2EE844E631}"/>
              </a:ext>
            </a:extLst>
          </p:cNvPr>
          <p:cNvPicPr>
            <a:picLocks noChangeAspect="1"/>
          </p:cNvPicPr>
          <p:nvPr/>
        </p:nvPicPr>
        <p:blipFill>
          <a:blip r:embed="rId4"/>
          <a:stretch>
            <a:fillRect/>
          </a:stretch>
        </p:blipFill>
        <p:spPr>
          <a:xfrm>
            <a:off x="7929206" y="757572"/>
            <a:ext cx="3896917" cy="5908229"/>
          </a:xfrm>
          <a:prstGeom prst="rect">
            <a:avLst/>
          </a:prstGeom>
        </p:spPr>
      </p:pic>
    </p:spTree>
    <p:extLst>
      <p:ext uri="{BB962C8B-B14F-4D97-AF65-F5344CB8AC3E}">
        <p14:creationId xmlns:p14="http://schemas.microsoft.com/office/powerpoint/2010/main" val="528762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7DFC3-061E-29A9-F081-BCDFE409D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5972D-AA7F-5E0E-4915-51ABB994015A}"/>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pic>
        <p:nvPicPr>
          <p:cNvPr id="6" name="Picture 5">
            <a:extLst>
              <a:ext uri="{FF2B5EF4-FFF2-40B4-BE49-F238E27FC236}">
                <a16:creationId xmlns:a16="http://schemas.microsoft.com/office/drawing/2014/main" id="{FA8AC52D-605F-9981-CEE0-4203375DF88C}"/>
              </a:ext>
            </a:extLst>
          </p:cNvPr>
          <p:cNvPicPr>
            <a:picLocks noChangeAspect="1"/>
          </p:cNvPicPr>
          <p:nvPr/>
        </p:nvPicPr>
        <p:blipFill>
          <a:blip r:embed="rId3"/>
          <a:stretch>
            <a:fillRect/>
          </a:stretch>
        </p:blipFill>
        <p:spPr>
          <a:xfrm>
            <a:off x="838200" y="1588757"/>
            <a:ext cx="4855806" cy="5089744"/>
          </a:xfrm>
          <a:prstGeom prst="rect">
            <a:avLst/>
          </a:prstGeom>
        </p:spPr>
      </p:pic>
      <p:sp>
        <p:nvSpPr>
          <p:cNvPr id="3" name="Content Placeholder 2">
            <a:extLst>
              <a:ext uri="{FF2B5EF4-FFF2-40B4-BE49-F238E27FC236}">
                <a16:creationId xmlns:a16="http://schemas.microsoft.com/office/drawing/2014/main" id="{9303A5E2-13B1-ECF6-7EFC-939967393CB0}"/>
              </a:ext>
            </a:extLst>
          </p:cNvPr>
          <p:cNvSpPr txBox="1">
            <a:spLocks/>
          </p:cNvSpPr>
          <p:nvPr/>
        </p:nvSpPr>
        <p:spPr bwMode="auto">
          <a:xfrm>
            <a:off x="6096000" y="1744818"/>
            <a:ext cx="6024207" cy="4879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Few projects fully follow DOA principles.</a:t>
            </a:r>
          </a:p>
          <a:p>
            <a:endParaRPr lang="en-US" sz="3000" dirty="0">
              <a:solidFill>
                <a:srgbClr val="215F9A"/>
              </a:solidFill>
            </a:endParaRPr>
          </a:p>
          <a:p>
            <a:r>
              <a:rPr lang="en-US" sz="3000" dirty="0">
                <a:solidFill>
                  <a:srgbClr val="215F9A"/>
                </a:solidFill>
              </a:rPr>
              <a:t>Most of the solutions are </a:t>
            </a:r>
            <a:r>
              <a:rPr lang="en-US" sz="3000" dirty="0" err="1">
                <a:solidFill>
                  <a:srgbClr val="215F9A"/>
                </a:solidFill>
              </a:rPr>
              <a:t>centralised</a:t>
            </a:r>
            <a:r>
              <a:rPr lang="en-US" sz="3000" dirty="0">
                <a:solidFill>
                  <a:srgbClr val="215F9A"/>
                </a:solidFill>
              </a:rPr>
              <a:t> and cloud-based.</a:t>
            </a:r>
          </a:p>
          <a:p>
            <a:endParaRPr lang="en-US" sz="3000" dirty="0">
              <a:solidFill>
                <a:srgbClr val="215F9A"/>
              </a:solidFill>
            </a:endParaRPr>
          </a:p>
          <a:p>
            <a:r>
              <a:rPr lang="en-US" sz="3000" dirty="0">
                <a:solidFill>
                  <a:srgbClr val="215F9A"/>
                </a:solidFill>
              </a:rPr>
              <a:t>Databases, streams and message queues enable the data first principle.</a:t>
            </a:r>
          </a:p>
          <a:p>
            <a:endParaRPr lang="en-US" sz="3000" dirty="0">
              <a:solidFill>
                <a:srgbClr val="215F9A"/>
              </a:solidFill>
            </a:endParaRPr>
          </a:p>
          <a:p>
            <a:r>
              <a:rPr lang="en-US" sz="3000" dirty="0">
                <a:solidFill>
                  <a:srgbClr val="215F9A"/>
                </a:solidFill>
              </a:rPr>
              <a:t>Distributed storage and computing technologies for </a:t>
            </a:r>
            <a:r>
              <a:rPr lang="en-US" sz="3000" dirty="0" err="1">
                <a:solidFill>
                  <a:srgbClr val="215F9A"/>
                </a:solidFill>
              </a:rPr>
              <a:t>decentralisation</a:t>
            </a:r>
            <a:r>
              <a:rPr lang="en-US" sz="3000" dirty="0">
                <a:solidFill>
                  <a:srgbClr val="215F9A"/>
                </a:solidFill>
              </a:rPr>
              <a:t>.</a:t>
            </a:r>
          </a:p>
          <a:p>
            <a:endParaRPr lang="en-US" sz="3000" dirty="0">
              <a:solidFill>
                <a:srgbClr val="215F9A"/>
              </a:solidFill>
            </a:endParaRPr>
          </a:p>
          <a:p>
            <a:r>
              <a:rPr lang="en-US" sz="3000" dirty="0">
                <a:solidFill>
                  <a:srgbClr val="215F9A"/>
                </a:solidFill>
              </a:rPr>
              <a:t>Asynchronous communication for openness.</a:t>
            </a:r>
          </a:p>
          <a:p>
            <a:endParaRPr lang="en-US" sz="3000" dirty="0">
              <a:solidFill>
                <a:srgbClr val="215F9A"/>
              </a:solidFill>
            </a:endParaRPr>
          </a:p>
          <a:p>
            <a:endParaRPr lang="en-US" sz="3000" dirty="0">
              <a:solidFill>
                <a:srgbClr val="215F9A"/>
              </a:solidFill>
            </a:endParaRPr>
          </a:p>
          <a:p>
            <a:pPr marL="342900" indent="-342900">
              <a:buFont typeface="Arial" panose="020B0604020202020204" pitchFamily="34" charset="0"/>
              <a:buChar char="•"/>
            </a:pPr>
            <a:endParaRPr lang="en-US" sz="3000" dirty="0">
              <a:solidFill>
                <a:srgbClr val="215F9A"/>
              </a:solidFill>
            </a:endParaRPr>
          </a:p>
          <a:p>
            <a:endParaRPr lang="en-US" sz="3000" dirty="0">
              <a:solidFill>
                <a:srgbClr val="215F9A"/>
              </a:solidFill>
            </a:endParaRPr>
          </a:p>
          <a:p>
            <a:endParaRPr lang="en-GB" sz="3000" dirty="0">
              <a:solidFill>
                <a:srgbClr val="215F9A"/>
              </a:solidFill>
            </a:endParaRPr>
          </a:p>
        </p:txBody>
      </p:sp>
    </p:spTree>
    <p:extLst>
      <p:ext uri="{BB962C8B-B14F-4D97-AF65-F5344CB8AC3E}">
        <p14:creationId xmlns:p14="http://schemas.microsoft.com/office/powerpoint/2010/main" val="246378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79287-1744-9103-50D8-E4286D148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FE103-5253-060E-A1A5-1EE1DBB79417}"/>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779BA72-2659-02E7-06EB-5D13043BEDAC}"/>
              </a:ext>
            </a:extLst>
          </p:cNvPr>
          <p:cNvSpPr txBox="1">
            <a:spLocks/>
          </p:cNvSpPr>
          <p:nvPr/>
        </p:nvSpPr>
        <p:spPr bwMode="auto">
          <a:xfrm>
            <a:off x="6096000" y="1744818"/>
            <a:ext cx="6024207" cy="755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215F9A"/>
                </a:solidFill>
              </a:rPr>
              <a:t>Water level monitoring project at </a:t>
            </a:r>
            <a:r>
              <a:rPr lang="en-US" sz="3000" b="1" dirty="0" err="1">
                <a:solidFill>
                  <a:srgbClr val="215F9A"/>
                </a:solidFill>
              </a:rPr>
              <a:t>DeKUT</a:t>
            </a:r>
            <a:r>
              <a:rPr lang="en-US" sz="3000" b="1" dirty="0">
                <a:solidFill>
                  <a:srgbClr val="215F9A"/>
                </a:solidFill>
              </a:rPr>
              <a:t> [1]</a:t>
            </a:r>
            <a:endParaRPr lang="en-US" sz="3000" dirty="0">
              <a:solidFill>
                <a:srgbClr val="215F9A"/>
              </a:solidFill>
            </a:endParaRPr>
          </a:p>
          <a:p>
            <a:endParaRPr lang="en-GB" sz="3000" dirty="0">
              <a:solidFill>
                <a:srgbClr val="215F9A"/>
              </a:solidFill>
            </a:endParaRPr>
          </a:p>
        </p:txBody>
      </p:sp>
      <p:pic>
        <p:nvPicPr>
          <p:cNvPr id="4" name="Picture 2" descr="Ewaso Ng'iro - Wikipedia">
            <a:extLst>
              <a:ext uri="{FF2B5EF4-FFF2-40B4-BE49-F238E27FC236}">
                <a16:creationId xmlns:a16="http://schemas.microsoft.com/office/drawing/2014/main" id="{1B715853-E160-0388-CCA6-F49E826CE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362" y="2007518"/>
            <a:ext cx="5381986" cy="35823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5A7413A-CF3C-7D55-1531-3C48F34DAC0C}"/>
              </a:ext>
            </a:extLst>
          </p:cNvPr>
          <p:cNvSpPr txBox="1"/>
          <p:nvPr/>
        </p:nvSpPr>
        <p:spPr>
          <a:xfrm>
            <a:off x="409362" y="5604445"/>
            <a:ext cx="3797300" cy="369332"/>
          </a:xfrm>
          <a:prstGeom prst="rect">
            <a:avLst/>
          </a:prstGeom>
          <a:noFill/>
        </p:spPr>
        <p:txBody>
          <a:bodyPr wrap="square">
            <a:spAutoFit/>
          </a:bodyPr>
          <a:lstStyle/>
          <a:p>
            <a:r>
              <a:rPr lang="en-GB" sz="1200" dirty="0">
                <a:solidFill>
                  <a:srgbClr val="003E74"/>
                </a:solidFill>
              </a:rPr>
              <a:t>Source:</a:t>
            </a:r>
            <a:r>
              <a:rPr lang="en-GB" sz="1200" dirty="0"/>
              <a:t> </a:t>
            </a:r>
            <a:r>
              <a:rPr lang="en-GB" sz="1200" dirty="0">
                <a:hlinkClick r:id="rId4"/>
              </a:rPr>
              <a:t>https://en.wikipedia.org/wiki/Ewaso_Ng%27iro</a:t>
            </a:r>
            <a:r>
              <a:rPr lang="en-GB" dirty="0"/>
              <a:t> </a:t>
            </a:r>
          </a:p>
        </p:txBody>
      </p:sp>
      <p:pic>
        <p:nvPicPr>
          <p:cNvPr id="7" name="Picture 6">
            <a:extLst>
              <a:ext uri="{FF2B5EF4-FFF2-40B4-BE49-F238E27FC236}">
                <a16:creationId xmlns:a16="http://schemas.microsoft.com/office/drawing/2014/main" id="{DA905282-6553-A1B8-BE1A-EC7C0D68BAE7}"/>
              </a:ext>
            </a:extLst>
          </p:cNvPr>
          <p:cNvPicPr>
            <a:picLocks noChangeAspect="1"/>
          </p:cNvPicPr>
          <p:nvPr/>
        </p:nvPicPr>
        <p:blipFill>
          <a:blip r:embed="rId5"/>
          <a:stretch>
            <a:fillRect/>
          </a:stretch>
        </p:blipFill>
        <p:spPr>
          <a:xfrm>
            <a:off x="6773107" y="2783811"/>
            <a:ext cx="4669992" cy="3566878"/>
          </a:xfrm>
          <a:prstGeom prst="rect">
            <a:avLst/>
          </a:prstGeom>
        </p:spPr>
      </p:pic>
      <p:sp>
        <p:nvSpPr>
          <p:cNvPr id="9" name="TextBox 8">
            <a:extLst>
              <a:ext uri="{FF2B5EF4-FFF2-40B4-BE49-F238E27FC236}">
                <a16:creationId xmlns:a16="http://schemas.microsoft.com/office/drawing/2014/main" id="{39933329-ACED-FEAF-EC04-A1FEB08BEFC9}"/>
              </a:ext>
            </a:extLst>
          </p:cNvPr>
          <p:cNvSpPr txBox="1"/>
          <p:nvPr/>
        </p:nvSpPr>
        <p:spPr>
          <a:xfrm>
            <a:off x="409362" y="5991193"/>
            <a:ext cx="2894603" cy="369332"/>
          </a:xfrm>
          <a:prstGeom prst="rect">
            <a:avLst/>
          </a:prstGeom>
          <a:noFill/>
        </p:spPr>
        <p:txBody>
          <a:bodyPr wrap="square">
            <a:spAutoFit/>
          </a:bodyPr>
          <a:lstStyle/>
          <a:p>
            <a:r>
              <a:rPr lang="en-GB" sz="1800" b="1" dirty="0" err="1">
                <a:solidFill>
                  <a:srgbClr val="215F9A"/>
                </a:solidFill>
              </a:rPr>
              <a:t>Ewaso</a:t>
            </a:r>
            <a:r>
              <a:rPr lang="en-GB" sz="1800" b="1" dirty="0">
                <a:solidFill>
                  <a:srgbClr val="215F9A"/>
                </a:solidFill>
              </a:rPr>
              <a:t> </a:t>
            </a:r>
            <a:r>
              <a:rPr lang="en-GB" sz="1800" b="1" dirty="0" err="1">
                <a:solidFill>
                  <a:srgbClr val="215F9A"/>
                </a:solidFill>
              </a:rPr>
              <a:t>Nyiro</a:t>
            </a:r>
            <a:r>
              <a:rPr lang="en-GB" sz="1800" b="1" dirty="0">
                <a:solidFill>
                  <a:srgbClr val="215F9A"/>
                </a:solidFill>
              </a:rPr>
              <a:t> River - Kenya</a:t>
            </a:r>
          </a:p>
        </p:txBody>
      </p:sp>
      <p:sp>
        <p:nvSpPr>
          <p:cNvPr id="6" name="TextBox 5">
            <a:extLst>
              <a:ext uri="{FF2B5EF4-FFF2-40B4-BE49-F238E27FC236}">
                <a16:creationId xmlns:a16="http://schemas.microsoft.com/office/drawing/2014/main" id="{7F904467-B2A8-4625-7C7B-73AE9F32FFE6}"/>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1302792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0D8AB-6411-8F14-E4B8-B6AAEC32B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095E4-EB28-EC77-5ACC-6CE6EA679417}"/>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BF4DE6CD-D506-2DC2-70DE-839151D65643}"/>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E083FE5F-5A4E-42CD-CB94-06BC00CE1975}"/>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85802284-372D-7535-3BFF-9431545EC359}"/>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51C0C34B-0C94-3450-AA92-1774000029C5}"/>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C031893F-6C51-CAAA-DE9B-74944E7C19E8}"/>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7CBBF621-9122-1B78-A87E-8FC7016A3EA1}"/>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6046BA68-279E-E915-760E-5216E64175C7}"/>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89AFE70B-AB8D-891A-C97A-EBAAB7418D33}"/>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7FBC9FBA-21C3-3610-5431-46EAC5C9B761}"/>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44E7F18-AF98-61A8-87B1-7AB5C2FE3B00}"/>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2D16E0B0-DA22-9C7F-3BD4-75B2FFB337B3}"/>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EAFEF1CD-60A7-E76C-D771-AEFD41D15756}"/>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0322663B-18B1-3686-1709-9723829B8A22}"/>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6A39E34-3FA0-A9E4-1A44-7CF9EE27B3DC}"/>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A3C8EEBF-529B-6A1E-7A4B-1871077074B4}"/>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B49B7F66-0328-9A12-353A-7AD6553B40C9}"/>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97CC6198-22C4-D881-C12C-A3C46A041F81}"/>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4F5568B8-A53E-9881-DD28-9A2A0173D003}"/>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388CD14A-294E-B17D-295F-4D4FD6F8596F}"/>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08CD539-1EE6-A191-A709-3C091C7433E8}"/>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638800FC-6CC5-7C96-607E-AF31BC593638}"/>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8923DA31-AFA8-2DE7-CD09-2695BF1FA6E1}"/>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EF58619-E97D-7EBA-1AA2-CE1E2CD76353}"/>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3036872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B6652-59A9-08AD-E453-4C2B20C25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32673-1A17-5683-0061-9C50E7F92E6D}"/>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19DB6294-64EA-11C3-DE26-5535C3C6DB06}"/>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B28AB904-8AEB-27B3-675A-7366D7FED2D5}"/>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D7A3B1B5-0ACB-4B47-A5B4-E79D12EDC4FF}"/>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8750B64C-CC5B-5738-EBC0-A3154ED7AD08}"/>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F34B769D-49FF-34DC-E0ED-44121D351DFC}"/>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E93A405C-5A65-F7BA-4D0F-1300590AAC3B}"/>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EBF96444-C687-9665-F98C-5004F567B2E5}"/>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D1199FA0-8B1B-97CC-0EBF-093B05371E68}"/>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B71A220A-B9FE-1616-0447-36DBF6710B2A}"/>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918F923-170F-94D1-5FED-E006B4714D3C}"/>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56BAA8EE-E5E6-418F-FF2B-519096E75F4A}"/>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98DA2405-93B0-E673-BD2A-164FFDAD5BD1}"/>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A4222FF0-BD61-7C54-569E-6D86A7D3B353}"/>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5704F5B-1DA4-FA83-A528-AA48ABACB1E7}"/>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485B71AA-65EE-D7F5-0AC8-5543F00381DB}"/>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FA7313FB-C603-2398-E9A4-260806607DF0}"/>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EC5B9367-7DE2-1F7B-89D1-9F06B52FB691}"/>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4B87CF22-C514-1015-621C-A8CC817746A0}"/>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7527881-AF80-4B12-22CE-7657BCE5C476}"/>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C8A6551-6A86-6806-F912-8C3E8D4AE7A8}"/>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A72A507A-D946-19C6-11F9-A5AC62F6832D}"/>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13C29D55-B38C-BCAD-C5C3-9C38EB8FB630}"/>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77C2F5B-9E75-FE7F-EE9F-91259C95DFF0}"/>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E88B616F-12EC-599F-A115-E93D8A526A38}"/>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3777313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1DBA9-4493-9D36-ECA9-5C75E22CB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9CE6F-6C95-1430-BD4C-6C6831594BC9}"/>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6165ED49-DEE7-3C02-C3AF-BA92228FF9C1}"/>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273067A4-AA34-CE52-EBC9-BEDE2F31C06E}"/>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4F3F7076-6EC5-B117-3E91-735EE0581E7D}"/>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7FDC2EE0-80AF-8610-0CD9-4666EB0DA4A6}"/>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066EF5B2-54F5-BDA6-5547-0E6A5880CC90}"/>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476CC5BD-225E-8FA4-94FC-054A2FD78A70}"/>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5B20EB07-E6D8-57C0-35CA-994232DA197D}"/>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0BA0654A-2DCC-2D41-3D2D-B06AF8702012}"/>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486D098A-D012-C358-CDB9-6185C2EE5101}"/>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2EE5F81-A193-D1B0-D01F-7FF47B652852}"/>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D427BB91-E2B4-7915-0806-9E93DC69FD25}"/>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49A72F27-AD7A-0EED-CA09-463E359B4421}"/>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43AAB6B3-C225-AF62-A8A4-E368D76DAFE2}"/>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087D342-BDCE-70B1-0FB1-7D004989F3E0}"/>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27072447-72B1-FD2C-E8B4-1FE42A31E134}"/>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679C7BBA-11E2-8A04-ECF7-A8D8214A2C1A}"/>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8F6D5359-2874-A6F3-EE1A-AA2DA673B43A}"/>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2D9AB7F6-0A1B-A645-454E-4F9476AAED36}"/>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7B66FE-F9BF-A827-B5E7-24ED4925A70A}"/>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D4DACE9-524E-082F-779C-555E81360425}"/>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D10A9F3B-1C75-FDA3-E964-B85E9E8FA07B}"/>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542D9487-C200-D1EC-BE58-2BE71456A32C}"/>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46E9172-928C-51E2-501B-947C3501EB71}"/>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B0E6C201-9561-995D-3A91-A2CEFB0BCD97}"/>
              </a:ext>
            </a:extLst>
          </p:cNvPr>
          <p:cNvSpPr txBox="1"/>
          <p:nvPr/>
        </p:nvSpPr>
        <p:spPr>
          <a:xfrm>
            <a:off x="3421994" y="3884786"/>
            <a:ext cx="1886334" cy="400110"/>
          </a:xfrm>
          <a:prstGeom prst="rect">
            <a:avLst/>
          </a:prstGeom>
          <a:noFill/>
        </p:spPr>
        <p:txBody>
          <a:bodyPr wrap="square">
            <a:spAutoFit/>
          </a:bodyPr>
          <a:lstStyle/>
          <a:p>
            <a:r>
              <a:rPr lang="en-US" sz="2000" b="1" dirty="0">
                <a:solidFill>
                  <a:srgbClr val="00B050"/>
                </a:solidFill>
              </a:rPr>
              <a:t>Openness</a:t>
            </a:r>
            <a:endParaRPr lang="en-GB" sz="2000" dirty="0"/>
          </a:p>
        </p:txBody>
      </p:sp>
      <p:sp>
        <p:nvSpPr>
          <p:cNvPr id="5" name="TextBox 4">
            <a:extLst>
              <a:ext uri="{FF2B5EF4-FFF2-40B4-BE49-F238E27FC236}">
                <a16:creationId xmlns:a16="http://schemas.microsoft.com/office/drawing/2014/main" id="{9F27F58D-9909-0C3A-A31F-3DFFBDF6336A}"/>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2976119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4ACD-B75C-87FA-7978-9C8AE5406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AF174-56BE-5ADB-5EBF-8358D9D36AC1}"/>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3ADCC4CB-AA72-1662-EDFD-D12049E40F29}"/>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E2EC7833-B145-5750-F2AB-687E6C2EDAD0}"/>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E80BC3D8-354F-4561-148D-C85783D0E642}"/>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E2D28825-F203-606F-5E8A-1F08E42647FB}"/>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6852AD89-392C-D4A0-14C4-18E942E9A962}"/>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53D87FB2-DD82-530C-A76F-AF3B2B874433}"/>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91F10D5B-8F61-BC64-D61E-C97EB5E0DCEF}"/>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B069A0EF-99B4-4190-87DD-B6D1AE9E8FF0}"/>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60068ACD-39B0-6B1B-F139-4FDAFE8CA16B}"/>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908EB43-32FC-D460-096D-54F5A0C90EDF}"/>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7A0BBC35-2E91-DAA2-E882-30D52CA8B6BF}"/>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FBE9AD01-07CA-EC44-A210-DFB6582AABF6}"/>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FE51F1C0-78FA-C716-3FED-719E2E46C8ED}"/>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BA578D8-2176-8B6C-6D49-4A29604F3E69}"/>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6FE91F2B-7631-2570-FDDD-36E70EF46A02}"/>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B30384F8-B72A-B0D5-A4E8-BD89E3964EA5}"/>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8E4350C5-5C95-B9C9-7A61-6ABB8822B79D}"/>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9BE732EA-6AD7-F1CF-35BE-A24D34E0906D}"/>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BF33A148-6E21-D19D-6FF6-1C52F7C57787}"/>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C63FC1C-8583-AA4E-DAE1-00A7EC320866}"/>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DA9ADA8C-8B2A-2229-EB47-7C7AD9A0C774}"/>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2B33CBF9-83BE-4810-BDFC-E2BBC41803E1}"/>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04493F4-1C85-1C78-F31E-A206CB5B3F98}"/>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CD5957CA-CE19-2A6D-E66F-129CEB625B4A}"/>
              </a:ext>
            </a:extLst>
          </p:cNvPr>
          <p:cNvSpPr txBox="1"/>
          <p:nvPr/>
        </p:nvSpPr>
        <p:spPr>
          <a:xfrm>
            <a:off x="3421994" y="3884786"/>
            <a:ext cx="1886334" cy="400110"/>
          </a:xfrm>
          <a:prstGeom prst="rect">
            <a:avLst/>
          </a:prstGeom>
          <a:noFill/>
        </p:spPr>
        <p:txBody>
          <a:bodyPr wrap="square">
            <a:spAutoFit/>
          </a:bodyPr>
          <a:lstStyle/>
          <a:p>
            <a:r>
              <a:rPr lang="en-US" sz="2000" b="1" dirty="0">
                <a:solidFill>
                  <a:srgbClr val="00B050"/>
                </a:solidFill>
              </a:rPr>
              <a:t>Openness</a:t>
            </a:r>
            <a:endParaRPr lang="en-GB" sz="2000" dirty="0"/>
          </a:p>
        </p:txBody>
      </p:sp>
      <p:sp>
        <p:nvSpPr>
          <p:cNvPr id="5" name="TextBox 4">
            <a:extLst>
              <a:ext uri="{FF2B5EF4-FFF2-40B4-BE49-F238E27FC236}">
                <a16:creationId xmlns:a16="http://schemas.microsoft.com/office/drawing/2014/main" id="{F785127D-038B-8783-562A-425B0A9AEEB1}"/>
              </a:ext>
            </a:extLst>
          </p:cNvPr>
          <p:cNvSpPr txBox="1"/>
          <p:nvPr/>
        </p:nvSpPr>
        <p:spPr>
          <a:xfrm>
            <a:off x="4757009" y="2324497"/>
            <a:ext cx="1886334" cy="707886"/>
          </a:xfrm>
          <a:prstGeom prst="rect">
            <a:avLst/>
          </a:prstGeom>
          <a:noFill/>
        </p:spPr>
        <p:txBody>
          <a:bodyPr wrap="square">
            <a:spAutoFit/>
          </a:bodyPr>
          <a:lstStyle/>
          <a:p>
            <a:r>
              <a:rPr lang="en-US" sz="2000" b="1" dirty="0">
                <a:solidFill>
                  <a:srgbClr val="C00000"/>
                </a:solidFill>
              </a:rPr>
              <a:t>Cloud resources are expensive!</a:t>
            </a:r>
            <a:endParaRPr lang="en-GB" sz="2000" dirty="0">
              <a:solidFill>
                <a:srgbClr val="C00000"/>
              </a:solidFill>
            </a:endParaRPr>
          </a:p>
        </p:txBody>
      </p:sp>
      <p:sp>
        <p:nvSpPr>
          <p:cNvPr id="7" name="TextBox 6">
            <a:extLst>
              <a:ext uri="{FF2B5EF4-FFF2-40B4-BE49-F238E27FC236}">
                <a16:creationId xmlns:a16="http://schemas.microsoft.com/office/drawing/2014/main" id="{273F9160-C4BB-EC32-8005-F8692739A3C9}"/>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4208939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3F827-A5EE-37A1-C18C-2A12050F8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B90BE-3F95-85E5-549E-D689522C52C1}"/>
              </a:ext>
            </a:extLst>
          </p:cNvPr>
          <p:cNvSpPr>
            <a:spLocks noGrp="1"/>
          </p:cNvSpPr>
          <p:nvPr>
            <p:ph type="title"/>
          </p:nvPr>
        </p:nvSpPr>
        <p:spPr/>
        <p:txBody>
          <a:bodyPr/>
          <a:lstStyle/>
          <a:p>
            <a:r>
              <a:rPr lang="en-US" b="1" dirty="0">
                <a:solidFill>
                  <a:schemeClr val="tx2">
                    <a:lumMod val="75000"/>
                    <a:lumOff val="25000"/>
                  </a:schemeClr>
                </a:solidFill>
              </a:rPr>
              <a:t>Data-Oriented Architectures</a:t>
            </a:r>
            <a:endParaRPr lang="en-GB" b="1" dirty="0">
              <a:solidFill>
                <a:schemeClr val="tx2">
                  <a:lumMod val="75000"/>
                  <a:lumOff val="25000"/>
                </a:schemeClr>
              </a:solidFill>
            </a:endParaRPr>
          </a:p>
        </p:txBody>
      </p:sp>
      <p:sp>
        <p:nvSpPr>
          <p:cNvPr id="6" name="Content Placeholder 2">
            <a:extLst>
              <a:ext uri="{FF2B5EF4-FFF2-40B4-BE49-F238E27FC236}">
                <a16:creationId xmlns:a16="http://schemas.microsoft.com/office/drawing/2014/main" id="{E8FF89D5-0A83-6C45-1B5E-AF27068A4CFE}"/>
              </a:ext>
            </a:extLst>
          </p:cNvPr>
          <p:cNvSpPr txBox="1">
            <a:spLocks/>
          </p:cNvSpPr>
          <p:nvPr/>
        </p:nvSpPr>
        <p:spPr bwMode="auto">
          <a:xfrm>
            <a:off x="7010399" y="1290637"/>
            <a:ext cx="5016501"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003E74"/>
                </a:solidFill>
              </a:rPr>
              <a:t>Water level monitoring project at </a:t>
            </a:r>
            <a:r>
              <a:rPr lang="en-US" sz="3000" b="1" dirty="0" err="1">
                <a:solidFill>
                  <a:srgbClr val="003E74"/>
                </a:solidFill>
              </a:rPr>
              <a:t>DeKUT</a:t>
            </a:r>
            <a:r>
              <a:rPr lang="en-US" sz="3000" b="1" dirty="0">
                <a:solidFill>
                  <a:srgbClr val="003E74"/>
                </a:solidFill>
              </a:rPr>
              <a:t> [1]</a:t>
            </a:r>
            <a:endParaRPr lang="en-GB" sz="3000" dirty="0">
              <a:solidFill>
                <a:srgbClr val="003E74"/>
              </a:solidFill>
            </a:endParaRPr>
          </a:p>
        </p:txBody>
      </p:sp>
      <p:sp>
        <p:nvSpPr>
          <p:cNvPr id="8" name="Rectangle 7">
            <a:extLst>
              <a:ext uri="{FF2B5EF4-FFF2-40B4-BE49-F238E27FC236}">
                <a16:creationId xmlns:a16="http://schemas.microsoft.com/office/drawing/2014/main" id="{9DD570CE-4B0E-4442-AE1B-C787F7B4BE11}"/>
              </a:ext>
            </a:extLst>
          </p:cNvPr>
          <p:cNvSpPr/>
          <p:nvPr/>
        </p:nvSpPr>
        <p:spPr>
          <a:xfrm>
            <a:off x="818555"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Data Collection Component</a:t>
            </a:r>
            <a:endParaRPr lang="en-GB" sz="2000" b="1" dirty="0">
              <a:solidFill>
                <a:srgbClr val="003E74"/>
              </a:solidFill>
            </a:endParaRPr>
          </a:p>
        </p:txBody>
      </p:sp>
      <p:sp>
        <p:nvSpPr>
          <p:cNvPr id="10" name="Rectangle 9">
            <a:extLst>
              <a:ext uri="{FF2B5EF4-FFF2-40B4-BE49-F238E27FC236}">
                <a16:creationId xmlns:a16="http://schemas.microsoft.com/office/drawing/2014/main" id="{88BCD4FB-7DD2-EE3E-C5EF-D2BFDC772BF8}"/>
              </a:ext>
            </a:extLst>
          </p:cNvPr>
          <p:cNvSpPr/>
          <p:nvPr/>
        </p:nvSpPr>
        <p:spPr>
          <a:xfrm>
            <a:off x="6856736" y="2853690"/>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Listener Component</a:t>
            </a:r>
            <a:endParaRPr lang="en-GB" sz="2000" b="1" dirty="0">
              <a:solidFill>
                <a:srgbClr val="003E74"/>
              </a:solidFill>
            </a:endParaRPr>
          </a:p>
        </p:txBody>
      </p:sp>
      <p:sp>
        <p:nvSpPr>
          <p:cNvPr id="11" name="Rectangle 10">
            <a:extLst>
              <a:ext uri="{FF2B5EF4-FFF2-40B4-BE49-F238E27FC236}">
                <a16:creationId xmlns:a16="http://schemas.microsoft.com/office/drawing/2014/main" id="{82CC0413-E6FA-BAAF-DA1C-E63298C42CC7}"/>
              </a:ext>
            </a:extLst>
          </p:cNvPr>
          <p:cNvSpPr/>
          <p:nvPr/>
        </p:nvSpPr>
        <p:spPr>
          <a:xfrm>
            <a:off x="9447618" y="264096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Anomaly Detection Component</a:t>
            </a:r>
            <a:endParaRPr lang="en-GB" sz="2000" b="1" dirty="0">
              <a:solidFill>
                <a:srgbClr val="003E74"/>
              </a:solidFill>
            </a:endParaRPr>
          </a:p>
        </p:txBody>
      </p:sp>
      <p:sp>
        <p:nvSpPr>
          <p:cNvPr id="12" name="Rectangle 11">
            <a:extLst>
              <a:ext uri="{FF2B5EF4-FFF2-40B4-BE49-F238E27FC236}">
                <a16:creationId xmlns:a16="http://schemas.microsoft.com/office/drawing/2014/main" id="{8EC0D09B-A0D5-DA8F-CFD5-B4811940C577}"/>
              </a:ext>
            </a:extLst>
          </p:cNvPr>
          <p:cNvSpPr/>
          <p:nvPr/>
        </p:nvSpPr>
        <p:spPr>
          <a:xfrm>
            <a:off x="9447080" y="4614546"/>
            <a:ext cx="1879600" cy="1333500"/>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003E74"/>
                </a:solidFill>
              </a:rPr>
              <a:t>Visualisation</a:t>
            </a:r>
            <a:r>
              <a:rPr lang="en-US" sz="2000" b="1" dirty="0">
                <a:solidFill>
                  <a:srgbClr val="003E74"/>
                </a:solidFill>
              </a:rPr>
              <a:t> Component</a:t>
            </a:r>
            <a:endParaRPr lang="en-GB" sz="2000" b="1" dirty="0">
              <a:solidFill>
                <a:srgbClr val="003E74"/>
              </a:solidFill>
            </a:endParaRPr>
          </a:p>
        </p:txBody>
      </p:sp>
      <p:sp>
        <p:nvSpPr>
          <p:cNvPr id="13" name="Rectangle 12">
            <a:extLst>
              <a:ext uri="{FF2B5EF4-FFF2-40B4-BE49-F238E27FC236}">
                <a16:creationId xmlns:a16="http://schemas.microsoft.com/office/drawing/2014/main" id="{B237F426-22DA-6491-0FED-4DAE05E58F8F}"/>
              </a:ext>
            </a:extLst>
          </p:cNvPr>
          <p:cNvSpPr/>
          <p:nvPr/>
        </p:nvSpPr>
        <p:spPr>
          <a:xfrm>
            <a:off x="556935" y="2244091"/>
            <a:ext cx="2399626" cy="212725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err="1">
                <a:solidFill>
                  <a:srgbClr val="003E74"/>
                </a:solidFill>
              </a:rPr>
              <a:t>mDot</a:t>
            </a:r>
            <a:r>
              <a:rPr lang="en-US" dirty="0">
                <a:solidFill>
                  <a:srgbClr val="003E74"/>
                </a:solidFill>
              </a:rPr>
              <a:t> - (sensor node) </a:t>
            </a:r>
            <a:endParaRPr lang="en-GB" dirty="0">
              <a:solidFill>
                <a:srgbClr val="003E74"/>
              </a:solidFill>
            </a:endParaRPr>
          </a:p>
        </p:txBody>
      </p:sp>
      <p:sp>
        <p:nvSpPr>
          <p:cNvPr id="14" name="Rectangle 13">
            <a:extLst>
              <a:ext uri="{FF2B5EF4-FFF2-40B4-BE49-F238E27FC236}">
                <a16:creationId xmlns:a16="http://schemas.microsoft.com/office/drawing/2014/main" id="{034A2DBE-400C-12B8-0FAF-ED09CDA27D25}"/>
              </a:ext>
            </a:extLst>
          </p:cNvPr>
          <p:cNvSpPr/>
          <p:nvPr/>
        </p:nvSpPr>
        <p:spPr>
          <a:xfrm>
            <a:off x="6648446" y="2370513"/>
            <a:ext cx="4944114" cy="3653591"/>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Google Cloud Platform </a:t>
            </a:r>
            <a:endParaRPr lang="en-GB" dirty="0">
              <a:solidFill>
                <a:srgbClr val="003E74"/>
              </a:solidFill>
            </a:endParaRPr>
          </a:p>
        </p:txBody>
      </p:sp>
      <p:sp>
        <p:nvSpPr>
          <p:cNvPr id="15" name="Oval 14">
            <a:extLst>
              <a:ext uri="{FF2B5EF4-FFF2-40B4-BE49-F238E27FC236}">
                <a16:creationId xmlns:a16="http://schemas.microsoft.com/office/drawing/2014/main" id="{11722F74-6FFA-F47D-4532-60DE042A1D78}"/>
              </a:ext>
            </a:extLst>
          </p:cNvPr>
          <p:cNvSpPr/>
          <p:nvPr/>
        </p:nvSpPr>
        <p:spPr>
          <a:xfrm>
            <a:off x="1270675" y="4980941"/>
            <a:ext cx="975360" cy="853440"/>
          </a:xfrm>
          <a:prstGeom prst="ellipse">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GW</a:t>
            </a:r>
            <a:endParaRPr lang="en-GB" b="1" dirty="0"/>
          </a:p>
        </p:txBody>
      </p:sp>
      <p:cxnSp>
        <p:nvCxnSpPr>
          <p:cNvPr id="16" name="Straight Arrow Connector 15">
            <a:extLst>
              <a:ext uri="{FF2B5EF4-FFF2-40B4-BE49-F238E27FC236}">
                <a16:creationId xmlns:a16="http://schemas.microsoft.com/office/drawing/2014/main" id="{8ACC6E12-C171-CDAB-F2E1-8545478FDC33}"/>
              </a:ext>
            </a:extLst>
          </p:cNvPr>
          <p:cNvCxnSpPr>
            <a:stCxn id="8" idx="2"/>
            <a:endCxn id="15" idx="0"/>
          </p:cNvCxnSpPr>
          <p:nvPr/>
        </p:nvCxnSpPr>
        <p:spPr>
          <a:xfrm>
            <a:off x="1758355" y="4187190"/>
            <a:ext cx="0" cy="79375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01E399C-D065-82AF-F1F4-C254ABEB7A44}"/>
              </a:ext>
            </a:extLst>
          </p:cNvPr>
          <p:cNvSpPr/>
          <p:nvPr/>
        </p:nvSpPr>
        <p:spPr>
          <a:xfrm>
            <a:off x="3366767" y="5060061"/>
            <a:ext cx="1879600" cy="700138"/>
          </a:xfrm>
          <a:prstGeom prst="rect">
            <a:avLst/>
          </a:prstGeom>
          <a:noFill/>
          <a:ln w="19050">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3E74"/>
                </a:solidFill>
              </a:rPr>
              <a:t>MQTT Broker</a:t>
            </a:r>
            <a:endParaRPr lang="en-GB" sz="2000" b="1" dirty="0">
              <a:solidFill>
                <a:srgbClr val="003E74"/>
              </a:solidFill>
            </a:endParaRPr>
          </a:p>
        </p:txBody>
      </p:sp>
      <p:sp>
        <p:nvSpPr>
          <p:cNvPr id="18" name="Rectangle 17">
            <a:extLst>
              <a:ext uri="{FF2B5EF4-FFF2-40B4-BE49-F238E27FC236}">
                <a16:creationId xmlns:a16="http://schemas.microsoft.com/office/drawing/2014/main" id="{A83B94A7-EBBB-7A5E-4EB5-5CD8D57E7A19}"/>
              </a:ext>
            </a:extLst>
          </p:cNvPr>
          <p:cNvSpPr/>
          <p:nvPr/>
        </p:nvSpPr>
        <p:spPr>
          <a:xfrm>
            <a:off x="3170820" y="4546021"/>
            <a:ext cx="2338085" cy="1478083"/>
          </a:xfrm>
          <a:prstGeom prst="rect">
            <a:avLst/>
          </a:prstGeom>
          <a:noFill/>
          <a:ln>
            <a:solidFill>
              <a:srgbClr val="003E7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3E74"/>
                </a:solidFill>
              </a:rPr>
              <a:t>Web server</a:t>
            </a:r>
            <a:endParaRPr lang="en-GB" dirty="0">
              <a:solidFill>
                <a:srgbClr val="003E74"/>
              </a:solidFill>
            </a:endParaRPr>
          </a:p>
        </p:txBody>
      </p:sp>
      <p:cxnSp>
        <p:nvCxnSpPr>
          <p:cNvPr id="19" name="Straight Arrow Connector 18">
            <a:extLst>
              <a:ext uri="{FF2B5EF4-FFF2-40B4-BE49-F238E27FC236}">
                <a16:creationId xmlns:a16="http://schemas.microsoft.com/office/drawing/2014/main" id="{E5A918C0-D516-D314-347C-65BA667AD7E7}"/>
              </a:ext>
            </a:extLst>
          </p:cNvPr>
          <p:cNvCxnSpPr>
            <a:cxnSpLocks/>
            <a:stCxn id="15" idx="6"/>
            <a:endCxn id="17" idx="1"/>
          </p:cNvCxnSpPr>
          <p:nvPr/>
        </p:nvCxnSpPr>
        <p:spPr>
          <a:xfrm>
            <a:off x="2246035" y="5407661"/>
            <a:ext cx="1120732" cy="2469"/>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3CEFC70-10E7-87EF-90F5-B6CEFB8B033E}"/>
              </a:ext>
            </a:extLst>
          </p:cNvPr>
          <p:cNvCxnSpPr>
            <a:stCxn id="10" idx="1"/>
            <a:endCxn id="17" idx="3"/>
          </p:cNvCxnSpPr>
          <p:nvPr/>
        </p:nvCxnSpPr>
        <p:spPr>
          <a:xfrm rot="10800000" flipV="1">
            <a:off x="5246368" y="3520440"/>
            <a:ext cx="1610369" cy="1889690"/>
          </a:xfrm>
          <a:prstGeom prst="bentConnector3">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FEA9014-0840-D042-A91D-A3B67FA252DB}"/>
              </a:ext>
            </a:extLst>
          </p:cNvPr>
          <p:cNvSpPr txBox="1"/>
          <p:nvPr/>
        </p:nvSpPr>
        <p:spPr>
          <a:xfrm>
            <a:off x="1676611" y="4380644"/>
            <a:ext cx="587020" cy="338554"/>
          </a:xfrm>
          <a:prstGeom prst="rect">
            <a:avLst/>
          </a:prstGeom>
          <a:noFill/>
        </p:spPr>
        <p:txBody>
          <a:bodyPr wrap="none" rtlCol="0">
            <a:spAutoFit/>
          </a:bodyPr>
          <a:lstStyle/>
          <a:p>
            <a:r>
              <a:rPr lang="en-US" sz="1600" dirty="0">
                <a:solidFill>
                  <a:srgbClr val="003E74"/>
                </a:solidFill>
              </a:rPr>
              <a:t>push</a:t>
            </a:r>
            <a:endParaRPr lang="en-GB" sz="1600" dirty="0">
              <a:solidFill>
                <a:srgbClr val="003E74"/>
              </a:solidFill>
            </a:endParaRPr>
          </a:p>
        </p:txBody>
      </p:sp>
      <p:sp>
        <p:nvSpPr>
          <p:cNvPr id="22" name="TextBox 21">
            <a:extLst>
              <a:ext uri="{FF2B5EF4-FFF2-40B4-BE49-F238E27FC236}">
                <a16:creationId xmlns:a16="http://schemas.microsoft.com/office/drawing/2014/main" id="{4A8AADCC-CFD6-4633-A594-121774C1A222}"/>
              </a:ext>
            </a:extLst>
          </p:cNvPr>
          <p:cNvSpPr txBox="1"/>
          <p:nvPr/>
        </p:nvSpPr>
        <p:spPr>
          <a:xfrm>
            <a:off x="2213086" y="5385337"/>
            <a:ext cx="970137" cy="338554"/>
          </a:xfrm>
          <a:prstGeom prst="rect">
            <a:avLst/>
          </a:prstGeom>
          <a:noFill/>
        </p:spPr>
        <p:txBody>
          <a:bodyPr wrap="none" rtlCol="0">
            <a:spAutoFit/>
          </a:bodyPr>
          <a:lstStyle/>
          <a:p>
            <a:r>
              <a:rPr lang="en-US" sz="1600" dirty="0">
                <a:solidFill>
                  <a:srgbClr val="003E74"/>
                </a:solidFill>
              </a:rPr>
              <a:t>publishes</a:t>
            </a:r>
            <a:endParaRPr lang="en-GB" sz="1600" dirty="0">
              <a:solidFill>
                <a:srgbClr val="003E74"/>
              </a:solidFill>
            </a:endParaRPr>
          </a:p>
        </p:txBody>
      </p:sp>
      <p:sp>
        <p:nvSpPr>
          <p:cNvPr id="23" name="TextBox 22">
            <a:extLst>
              <a:ext uri="{FF2B5EF4-FFF2-40B4-BE49-F238E27FC236}">
                <a16:creationId xmlns:a16="http://schemas.microsoft.com/office/drawing/2014/main" id="{A89E0317-39E8-2FF2-C097-389351A002E4}"/>
              </a:ext>
            </a:extLst>
          </p:cNvPr>
          <p:cNvSpPr txBox="1"/>
          <p:nvPr/>
        </p:nvSpPr>
        <p:spPr>
          <a:xfrm>
            <a:off x="5547442" y="3192413"/>
            <a:ext cx="1054071" cy="338554"/>
          </a:xfrm>
          <a:prstGeom prst="rect">
            <a:avLst/>
          </a:prstGeom>
          <a:noFill/>
        </p:spPr>
        <p:txBody>
          <a:bodyPr wrap="none" rtlCol="0">
            <a:spAutoFit/>
          </a:bodyPr>
          <a:lstStyle/>
          <a:p>
            <a:r>
              <a:rPr lang="en-US" sz="1600" dirty="0">
                <a:solidFill>
                  <a:srgbClr val="003E74"/>
                </a:solidFill>
              </a:rPr>
              <a:t>subscribes</a:t>
            </a:r>
            <a:endParaRPr lang="en-GB" sz="1600" dirty="0">
              <a:solidFill>
                <a:srgbClr val="003E74"/>
              </a:solidFill>
            </a:endParaRPr>
          </a:p>
        </p:txBody>
      </p:sp>
      <p:sp>
        <p:nvSpPr>
          <p:cNvPr id="24" name="Cylinder 23">
            <a:extLst>
              <a:ext uri="{FF2B5EF4-FFF2-40B4-BE49-F238E27FC236}">
                <a16:creationId xmlns:a16="http://schemas.microsoft.com/office/drawing/2014/main" id="{EF5CD3BD-3EB2-4133-2607-A6236C2C77EF}"/>
              </a:ext>
            </a:extLst>
          </p:cNvPr>
          <p:cNvSpPr/>
          <p:nvPr/>
        </p:nvSpPr>
        <p:spPr>
          <a:xfrm>
            <a:off x="7432526" y="4865052"/>
            <a:ext cx="728020" cy="793751"/>
          </a:xfrm>
          <a:prstGeom prst="can">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DB</a:t>
            </a:r>
            <a:endParaRPr lang="en-GB" dirty="0">
              <a:solidFill>
                <a:schemeClr val="bg1"/>
              </a:solidFill>
            </a:endParaRPr>
          </a:p>
        </p:txBody>
      </p:sp>
      <p:cxnSp>
        <p:nvCxnSpPr>
          <p:cNvPr id="25" name="Straight Arrow Connector 24">
            <a:extLst>
              <a:ext uri="{FF2B5EF4-FFF2-40B4-BE49-F238E27FC236}">
                <a16:creationId xmlns:a16="http://schemas.microsoft.com/office/drawing/2014/main" id="{A8B49D4A-63B9-5282-E720-D489D2DF13BC}"/>
              </a:ext>
            </a:extLst>
          </p:cNvPr>
          <p:cNvCxnSpPr>
            <a:cxnSpLocks/>
            <a:stCxn id="10" idx="2"/>
            <a:endCxn id="24" idx="1"/>
          </p:cNvCxnSpPr>
          <p:nvPr/>
        </p:nvCxnSpPr>
        <p:spPr>
          <a:xfrm>
            <a:off x="7796536" y="4187190"/>
            <a:ext cx="0" cy="67786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0AE90606-3021-0E58-DF73-569576EDC551}"/>
              </a:ext>
            </a:extLst>
          </p:cNvPr>
          <p:cNvCxnSpPr>
            <a:cxnSpLocks/>
            <a:stCxn id="11" idx="1"/>
            <a:endCxn id="24" idx="4"/>
          </p:cNvCxnSpPr>
          <p:nvPr/>
        </p:nvCxnSpPr>
        <p:spPr>
          <a:xfrm rot="10800000" flipV="1">
            <a:off x="8160546" y="3307716"/>
            <a:ext cx="1287072" cy="1954212"/>
          </a:xfrm>
          <a:prstGeom prst="bentConnector3">
            <a:avLst>
              <a:gd name="adj1" fmla="val 27897"/>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BA81E54-87A4-C6BF-1404-B0F5EAA9E6B6}"/>
              </a:ext>
            </a:extLst>
          </p:cNvPr>
          <p:cNvSpPr txBox="1"/>
          <p:nvPr/>
        </p:nvSpPr>
        <p:spPr>
          <a:xfrm>
            <a:off x="7165730" y="4238729"/>
            <a:ext cx="700256" cy="338554"/>
          </a:xfrm>
          <a:prstGeom prst="rect">
            <a:avLst/>
          </a:prstGeom>
          <a:noFill/>
        </p:spPr>
        <p:txBody>
          <a:bodyPr wrap="none" rtlCol="0">
            <a:spAutoFit/>
          </a:bodyPr>
          <a:lstStyle/>
          <a:p>
            <a:r>
              <a:rPr lang="en-US" sz="1600" dirty="0">
                <a:solidFill>
                  <a:srgbClr val="003E74"/>
                </a:solidFill>
              </a:rPr>
              <a:t>writes</a:t>
            </a:r>
            <a:endParaRPr lang="en-GB" sz="1600" dirty="0">
              <a:solidFill>
                <a:srgbClr val="003E74"/>
              </a:solidFill>
            </a:endParaRPr>
          </a:p>
        </p:txBody>
      </p:sp>
      <p:sp>
        <p:nvSpPr>
          <p:cNvPr id="28" name="TextBox 27">
            <a:extLst>
              <a:ext uri="{FF2B5EF4-FFF2-40B4-BE49-F238E27FC236}">
                <a16:creationId xmlns:a16="http://schemas.microsoft.com/office/drawing/2014/main" id="{614DE7CD-F0A0-8BCB-EE67-D72AF817978F}"/>
              </a:ext>
            </a:extLst>
          </p:cNvPr>
          <p:cNvSpPr txBox="1"/>
          <p:nvPr/>
        </p:nvSpPr>
        <p:spPr>
          <a:xfrm>
            <a:off x="8400090" y="5246540"/>
            <a:ext cx="642035" cy="338554"/>
          </a:xfrm>
          <a:prstGeom prst="rect">
            <a:avLst/>
          </a:prstGeom>
          <a:noFill/>
        </p:spPr>
        <p:txBody>
          <a:bodyPr wrap="none" rtlCol="0">
            <a:spAutoFit/>
          </a:bodyPr>
          <a:lstStyle/>
          <a:p>
            <a:r>
              <a:rPr lang="en-US" sz="1600" dirty="0">
                <a:solidFill>
                  <a:srgbClr val="003E74"/>
                </a:solidFill>
              </a:rPr>
              <a:t>reads</a:t>
            </a:r>
            <a:endParaRPr lang="en-GB" sz="1600" dirty="0">
              <a:solidFill>
                <a:srgbClr val="003E74"/>
              </a:solidFill>
            </a:endParaRPr>
          </a:p>
        </p:txBody>
      </p:sp>
      <p:cxnSp>
        <p:nvCxnSpPr>
          <p:cNvPr id="29" name="Straight Arrow Connector 28">
            <a:extLst>
              <a:ext uri="{FF2B5EF4-FFF2-40B4-BE49-F238E27FC236}">
                <a16:creationId xmlns:a16="http://schemas.microsoft.com/office/drawing/2014/main" id="{99E60B6B-2197-D05F-F268-E5FCF7CB828E}"/>
              </a:ext>
            </a:extLst>
          </p:cNvPr>
          <p:cNvCxnSpPr>
            <a:cxnSpLocks/>
            <a:stCxn id="11" idx="2"/>
            <a:endCxn id="12" idx="0"/>
          </p:cNvCxnSpPr>
          <p:nvPr/>
        </p:nvCxnSpPr>
        <p:spPr>
          <a:xfrm flipH="1">
            <a:off x="10386880" y="3974466"/>
            <a:ext cx="538" cy="640080"/>
          </a:xfrm>
          <a:prstGeom prst="straightConnector1">
            <a:avLst/>
          </a:prstGeom>
          <a:ln w="19050">
            <a:solidFill>
              <a:srgbClr val="003E7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47B5E49-87C0-6454-5FD7-638443A23C3F}"/>
              </a:ext>
            </a:extLst>
          </p:cNvPr>
          <p:cNvSpPr txBox="1"/>
          <p:nvPr/>
        </p:nvSpPr>
        <p:spPr>
          <a:xfrm>
            <a:off x="6589796" y="5361594"/>
            <a:ext cx="1487085" cy="707886"/>
          </a:xfrm>
          <a:prstGeom prst="rect">
            <a:avLst/>
          </a:prstGeom>
          <a:noFill/>
        </p:spPr>
        <p:txBody>
          <a:bodyPr wrap="square">
            <a:spAutoFit/>
          </a:bodyPr>
          <a:lstStyle/>
          <a:p>
            <a:r>
              <a:rPr lang="en-US" sz="2000" b="1" dirty="0">
                <a:solidFill>
                  <a:srgbClr val="00B050"/>
                </a:solidFill>
              </a:rPr>
              <a:t>Data</a:t>
            </a:r>
          </a:p>
          <a:p>
            <a:r>
              <a:rPr lang="en-US" sz="2000" b="1" dirty="0">
                <a:solidFill>
                  <a:srgbClr val="00B050"/>
                </a:solidFill>
              </a:rPr>
              <a:t>First</a:t>
            </a:r>
            <a:endParaRPr lang="en-GB" dirty="0"/>
          </a:p>
        </p:txBody>
      </p:sp>
      <p:sp>
        <p:nvSpPr>
          <p:cNvPr id="4" name="TextBox 3">
            <a:extLst>
              <a:ext uri="{FF2B5EF4-FFF2-40B4-BE49-F238E27FC236}">
                <a16:creationId xmlns:a16="http://schemas.microsoft.com/office/drawing/2014/main" id="{05BC2FEB-F3A9-2848-DFA8-C77339820DF7}"/>
              </a:ext>
            </a:extLst>
          </p:cNvPr>
          <p:cNvSpPr txBox="1"/>
          <p:nvPr/>
        </p:nvSpPr>
        <p:spPr>
          <a:xfrm>
            <a:off x="3421994" y="3884786"/>
            <a:ext cx="1886334" cy="400110"/>
          </a:xfrm>
          <a:prstGeom prst="rect">
            <a:avLst/>
          </a:prstGeom>
          <a:noFill/>
        </p:spPr>
        <p:txBody>
          <a:bodyPr wrap="square">
            <a:spAutoFit/>
          </a:bodyPr>
          <a:lstStyle/>
          <a:p>
            <a:r>
              <a:rPr lang="en-US" sz="2000" b="1" dirty="0">
                <a:solidFill>
                  <a:srgbClr val="00B050"/>
                </a:solidFill>
              </a:rPr>
              <a:t>Openness</a:t>
            </a:r>
            <a:endParaRPr lang="en-GB" sz="2000" dirty="0"/>
          </a:p>
        </p:txBody>
      </p:sp>
      <p:sp>
        <p:nvSpPr>
          <p:cNvPr id="7" name="TextBox 6">
            <a:extLst>
              <a:ext uri="{FF2B5EF4-FFF2-40B4-BE49-F238E27FC236}">
                <a16:creationId xmlns:a16="http://schemas.microsoft.com/office/drawing/2014/main" id="{607A47BA-8F0C-080A-CC7E-8CC89E405C02}"/>
              </a:ext>
            </a:extLst>
          </p:cNvPr>
          <p:cNvSpPr txBox="1"/>
          <p:nvPr/>
        </p:nvSpPr>
        <p:spPr>
          <a:xfrm>
            <a:off x="3144501" y="1312751"/>
            <a:ext cx="3431752" cy="2246769"/>
          </a:xfrm>
          <a:prstGeom prst="rect">
            <a:avLst/>
          </a:prstGeom>
          <a:noFill/>
        </p:spPr>
        <p:txBody>
          <a:bodyPr wrap="square">
            <a:spAutoFit/>
          </a:bodyPr>
          <a:lstStyle/>
          <a:p>
            <a:r>
              <a:rPr lang="en-US" sz="2000" b="1" dirty="0" err="1">
                <a:solidFill>
                  <a:srgbClr val="00B050"/>
                </a:solidFill>
              </a:rPr>
              <a:t>Decentralisation</a:t>
            </a:r>
            <a:endParaRPr lang="en-US" sz="2000" b="1" dirty="0">
              <a:solidFill>
                <a:srgbClr val="00B050"/>
              </a:solidFill>
            </a:endParaRPr>
          </a:p>
          <a:p>
            <a:endParaRPr lang="en-US" sz="2000" b="1" dirty="0">
              <a:solidFill>
                <a:srgbClr val="00B050"/>
              </a:solidFill>
            </a:endParaRPr>
          </a:p>
          <a:p>
            <a:r>
              <a:rPr lang="en-US" sz="2000" dirty="0">
                <a:solidFill>
                  <a:srgbClr val="00B050"/>
                </a:solidFill>
              </a:rPr>
              <a:t>Preprocess data at the gateway level…</a:t>
            </a:r>
          </a:p>
          <a:p>
            <a:endParaRPr lang="en-US" sz="2000" dirty="0">
              <a:solidFill>
                <a:srgbClr val="00B050"/>
              </a:solidFill>
            </a:endParaRPr>
          </a:p>
          <a:p>
            <a:r>
              <a:rPr lang="en-US" sz="2000" dirty="0">
                <a:solidFill>
                  <a:srgbClr val="00B050"/>
                </a:solidFill>
              </a:rPr>
              <a:t>Move components from the cloud to the edge…</a:t>
            </a:r>
            <a:endParaRPr lang="en-GB" sz="2000" dirty="0"/>
          </a:p>
        </p:txBody>
      </p:sp>
      <p:sp>
        <p:nvSpPr>
          <p:cNvPr id="5" name="TextBox 4">
            <a:extLst>
              <a:ext uri="{FF2B5EF4-FFF2-40B4-BE49-F238E27FC236}">
                <a16:creationId xmlns:a16="http://schemas.microsoft.com/office/drawing/2014/main" id="{F76C540A-5B99-181C-0FFD-A9933D6A5C54}"/>
              </a:ext>
            </a:extLst>
          </p:cNvPr>
          <p:cNvSpPr txBox="1"/>
          <p:nvPr/>
        </p:nvSpPr>
        <p:spPr>
          <a:xfrm>
            <a:off x="0" y="6399776"/>
            <a:ext cx="12192000"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b="0" i="0" dirty="0">
                <a:solidFill>
                  <a:srgbClr val="222222"/>
                </a:solidFill>
                <a:effectLst/>
                <a:latin typeface="Arial" panose="020B0604020202020204" pitchFamily="34" charset="0"/>
              </a:rPr>
              <a:t>Kabi, Jason, and Ciira Maina. "Leveraging IoT and machine learning for improved monitoring of water resources-a case study of the upper </a:t>
            </a:r>
            <a:r>
              <a:rPr lang="en-US" sz="1200" b="0" i="0" dirty="0" err="1">
                <a:solidFill>
                  <a:srgbClr val="222222"/>
                </a:solidFill>
                <a:effectLst/>
                <a:latin typeface="Arial" panose="020B0604020202020204" pitchFamily="34" charset="0"/>
              </a:rPr>
              <a:t>ewaso</a:t>
            </a:r>
            <a:r>
              <a:rPr lang="en-US" sz="1200" b="0" i="0" dirty="0">
                <a:solidFill>
                  <a:srgbClr val="222222"/>
                </a:solidFill>
                <a:effectLst/>
                <a:latin typeface="Arial" panose="020B0604020202020204" pitchFamily="34" charset="0"/>
              </a:rPr>
              <a:t> </a:t>
            </a:r>
            <a:r>
              <a:rPr lang="en-US" sz="1200" b="0" i="0" dirty="0" err="1">
                <a:solidFill>
                  <a:srgbClr val="222222"/>
                </a:solidFill>
                <a:effectLst/>
                <a:latin typeface="Arial" panose="020B0604020202020204" pitchFamily="34" charset="0"/>
              </a:rPr>
              <a:t>nyiro</a:t>
            </a:r>
            <a:r>
              <a:rPr lang="en-US" sz="1200" b="0" i="0" dirty="0">
                <a:solidFill>
                  <a:srgbClr val="222222"/>
                </a:solidFill>
                <a:effectLst/>
                <a:latin typeface="Arial" panose="020B0604020202020204" pitchFamily="34" charset="0"/>
              </a:rPr>
              <a:t> river." </a:t>
            </a:r>
            <a:r>
              <a:rPr lang="en-US" sz="1200" b="0" i="1" dirty="0">
                <a:solidFill>
                  <a:srgbClr val="222222"/>
                </a:solidFill>
                <a:effectLst/>
                <a:latin typeface="Arial" panose="020B0604020202020204" pitchFamily="34" charset="0"/>
              </a:rPr>
              <a:t>2021 IST-Africa Conference (IST-Africa)</a:t>
            </a:r>
            <a:r>
              <a:rPr lang="en-US" sz="1200" b="0" i="0" dirty="0">
                <a:solidFill>
                  <a:srgbClr val="222222"/>
                </a:solidFill>
                <a:effectLst/>
                <a:latin typeface="Arial" panose="020B0604020202020204" pitchFamily="34" charset="0"/>
              </a:rPr>
              <a:t>. IEEE, 2021.</a:t>
            </a:r>
            <a:endParaRPr lang="en-GB" sz="1200" dirty="0"/>
          </a:p>
        </p:txBody>
      </p:sp>
    </p:spTree>
    <p:extLst>
      <p:ext uri="{BB962C8B-B14F-4D97-AF65-F5344CB8AC3E}">
        <p14:creationId xmlns:p14="http://schemas.microsoft.com/office/powerpoint/2010/main" val="501005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B1B1F-76F6-629C-FFC0-F26977F02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01369-59D4-ECD5-1B0E-2BD899150C00}"/>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pic>
        <p:nvPicPr>
          <p:cNvPr id="5" name="Picture 4">
            <a:extLst>
              <a:ext uri="{FF2B5EF4-FFF2-40B4-BE49-F238E27FC236}">
                <a16:creationId xmlns:a16="http://schemas.microsoft.com/office/drawing/2014/main" id="{C2AE2668-06FF-E24B-FAA3-C2E4A7D61F67}"/>
              </a:ext>
            </a:extLst>
          </p:cNvPr>
          <p:cNvPicPr>
            <a:picLocks noChangeAspect="1"/>
          </p:cNvPicPr>
          <p:nvPr/>
        </p:nvPicPr>
        <p:blipFill>
          <a:blip r:embed="rId3"/>
          <a:stretch>
            <a:fillRect/>
          </a:stretch>
        </p:blipFill>
        <p:spPr>
          <a:xfrm>
            <a:off x="4219997" y="2104684"/>
            <a:ext cx="7369190" cy="3974659"/>
          </a:xfrm>
          <a:prstGeom prst="rect">
            <a:avLst/>
          </a:prstGeom>
        </p:spPr>
      </p:pic>
    </p:spTree>
    <p:extLst>
      <p:ext uri="{BB962C8B-B14F-4D97-AF65-F5344CB8AC3E}">
        <p14:creationId xmlns:p14="http://schemas.microsoft.com/office/powerpoint/2010/main" val="2718969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3803-A522-6C05-00D7-116A00688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D5E8B-D0F3-D327-2420-C23FAAF5AE5A}"/>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grpSp>
        <p:nvGrpSpPr>
          <p:cNvPr id="4" name="Group 3">
            <a:extLst>
              <a:ext uri="{FF2B5EF4-FFF2-40B4-BE49-F238E27FC236}">
                <a16:creationId xmlns:a16="http://schemas.microsoft.com/office/drawing/2014/main" id="{D57B1AB8-DA9F-E870-11F1-06ECED96CC26}"/>
              </a:ext>
            </a:extLst>
          </p:cNvPr>
          <p:cNvGrpSpPr/>
          <p:nvPr/>
        </p:nvGrpSpPr>
        <p:grpSpPr>
          <a:xfrm>
            <a:off x="4290725" y="1914683"/>
            <a:ext cx="7551008" cy="4324455"/>
            <a:chOff x="4290725" y="1914683"/>
            <a:chExt cx="7551008" cy="4324455"/>
          </a:xfrm>
        </p:grpSpPr>
        <p:sp>
          <p:nvSpPr>
            <p:cNvPr id="3" name="Rectangle 2">
              <a:extLst>
                <a:ext uri="{FF2B5EF4-FFF2-40B4-BE49-F238E27FC236}">
                  <a16:creationId xmlns:a16="http://schemas.microsoft.com/office/drawing/2014/main" id="{4601926C-5EA0-6F93-4498-81486C94D04B}"/>
                </a:ext>
              </a:extLst>
            </p:cNvPr>
            <p:cNvSpPr/>
            <p:nvPr/>
          </p:nvSpPr>
          <p:spPr>
            <a:xfrm>
              <a:off x="4319404" y="1914683"/>
              <a:ext cx="7522329" cy="4324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2A1A2BBB-D4E2-1FF1-8A6E-D7EB7CF393E3}"/>
                </a:ext>
              </a:extLst>
            </p:cNvPr>
            <p:cNvPicPr>
              <a:picLocks noChangeAspect="1"/>
            </p:cNvPicPr>
            <p:nvPr/>
          </p:nvPicPr>
          <p:blipFill>
            <a:blip r:embed="rId3"/>
            <a:stretch>
              <a:fillRect/>
            </a:stretch>
          </p:blipFill>
          <p:spPr>
            <a:xfrm>
              <a:off x="4290725" y="2104684"/>
              <a:ext cx="7369190" cy="3974659"/>
            </a:xfrm>
            <a:prstGeom prst="rect">
              <a:avLst/>
            </a:prstGeom>
          </p:spPr>
        </p:pic>
      </p:grpSp>
      <p:sp>
        <p:nvSpPr>
          <p:cNvPr id="9" name="Content Placeholder 2">
            <a:extLst>
              <a:ext uri="{FF2B5EF4-FFF2-40B4-BE49-F238E27FC236}">
                <a16:creationId xmlns:a16="http://schemas.microsoft.com/office/drawing/2014/main" id="{1414B141-917C-4E55-6C8B-45DA4BAB7A53}"/>
              </a:ext>
            </a:extLst>
          </p:cNvPr>
          <p:cNvSpPr txBox="1">
            <a:spLocks/>
          </p:cNvSpPr>
          <p:nvPr/>
        </p:nvSpPr>
        <p:spPr bwMode="auto">
          <a:xfrm>
            <a:off x="296380" y="2070384"/>
            <a:ext cx="3923617"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Facilitates data collection processes.</a:t>
            </a:r>
          </a:p>
          <a:p>
            <a:endParaRPr lang="en-US" sz="3000" dirty="0">
              <a:solidFill>
                <a:srgbClr val="215F9A"/>
              </a:solidFill>
            </a:endParaRPr>
          </a:p>
          <a:p>
            <a:r>
              <a:rPr lang="en-US" sz="3000" dirty="0">
                <a:solidFill>
                  <a:srgbClr val="215F9A"/>
                </a:solidFill>
              </a:rPr>
              <a:t>Asynchronous communication fits better when manipulating large data sets.</a:t>
            </a:r>
          </a:p>
          <a:p>
            <a:endParaRPr lang="en-US" sz="3000" dirty="0">
              <a:solidFill>
                <a:srgbClr val="215F9A"/>
              </a:solidFill>
            </a:endParaRPr>
          </a:p>
          <a:p>
            <a:r>
              <a:rPr lang="en-US" sz="3000" dirty="0">
                <a:solidFill>
                  <a:srgbClr val="215F9A"/>
                </a:solidFill>
              </a:rPr>
              <a:t>The Data Medium is a shared model that facilitates monitoring tasks.</a:t>
            </a:r>
          </a:p>
          <a:p>
            <a:endParaRPr lang="en-US" sz="3000" dirty="0">
              <a:solidFill>
                <a:srgbClr val="215F9A"/>
              </a:solidFill>
            </a:endParaRPr>
          </a:p>
          <a:p>
            <a:r>
              <a:rPr lang="en-US" sz="3000" dirty="0">
                <a:solidFill>
                  <a:srgbClr val="215F9A"/>
                </a:solidFill>
              </a:rPr>
              <a:t>The historical state of the systems is available by design.</a:t>
            </a:r>
            <a:endParaRPr lang="en-GB" sz="3000" dirty="0">
              <a:solidFill>
                <a:srgbClr val="215F9A"/>
              </a:solidFill>
            </a:endParaRPr>
          </a:p>
        </p:txBody>
      </p:sp>
    </p:spTree>
    <p:extLst>
      <p:ext uri="{BB962C8B-B14F-4D97-AF65-F5344CB8AC3E}">
        <p14:creationId xmlns:p14="http://schemas.microsoft.com/office/powerpoint/2010/main" val="3230936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9FA7F-938F-0084-4098-A0D0D557C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2178C-C27B-95D1-8208-5A8FC2A93E8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B71B740C-D336-4533-8801-1FDFB40F07F8}"/>
              </a:ext>
            </a:extLst>
          </p:cNvPr>
          <p:cNvSpPr txBox="1">
            <a:spLocks/>
          </p:cNvSpPr>
          <p:nvPr/>
        </p:nvSpPr>
        <p:spPr bwMode="auto">
          <a:xfrm>
            <a:off x="296380" y="2070384"/>
            <a:ext cx="3923617"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a:t>
            </a:r>
            <a:endParaRPr lang="en-GB" sz="3000" dirty="0">
              <a:solidFill>
                <a:srgbClr val="215F9A"/>
              </a:solidFill>
            </a:endParaRPr>
          </a:p>
        </p:txBody>
      </p:sp>
      <p:sp>
        <p:nvSpPr>
          <p:cNvPr id="4" name="TextBox 3">
            <a:extLst>
              <a:ext uri="{FF2B5EF4-FFF2-40B4-BE49-F238E27FC236}">
                <a16:creationId xmlns:a16="http://schemas.microsoft.com/office/drawing/2014/main" id="{CD04DB6E-340F-8145-A845-88A2EF0C25B0}"/>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7" name="Picture 6">
            <a:extLst>
              <a:ext uri="{FF2B5EF4-FFF2-40B4-BE49-F238E27FC236}">
                <a16:creationId xmlns:a16="http://schemas.microsoft.com/office/drawing/2014/main" id="{F0097BC7-8DDF-ED8C-3C54-DBA284F2C3C7}"/>
              </a:ext>
            </a:extLst>
          </p:cNvPr>
          <p:cNvPicPr>
            <a:picLocks noChangeAspect="1"/>
          </p:cNvPicPr>
          <p:nvPr/>
        </p:nvPicPr>
        <p:blipFill>
          <a:blip r:embed="rId3"/>
          <a:stretch>
            <a:fillRect/>
          </a:stretch>
        </p:blipFill>
        <p:spPr>
          <a:xfrm>
            <a:off x="58940" y="3170744"/>
            <a:ext cx="6183611" cy="2300499"/>
          </a:xfrm>
          <a:prstGeom prst="rect">
            <a:avLst/>
          </a:prstGeom>
        </p:spPr>
      </p:pic>
      <p:pic>
        <p:nvPicPr>
          <p:cNvPr id="10" name="Picture 9">
            <a:extLst>
              <a:ext uri="{FF2B5EF4-FFF2-40B4-BE49-F238E27FC236}">
                <a16:creationId xmlns:a16="http://schemas.microsoft.com/office/drawing/2014/main" id="{8C9FB965-A54F-B3FF-F71F-0C10B75DFB71}"/>
              </a:ext>
            </a:extLst>
          </p:cNvPr>
          <p:cNvPicPr>
            <a:picLocks noChangeAspect="1"/>
          </p:cNvPicPr>
          <p:nvPr/>
        </p:nvPicPr>
        <p:blipFill>
          <a:blip r:embed="rId4"/>
          <a:stretch>
            <a:fillRect/>
          </a:stretch>
        </p:blipFill>
        <p:spPr>
          <a:xfrm>
            <a:off x="6680815" y="2852638"/>
            <a:ext cx="5214805" cy="2879818"/>
          </a:xfrm>
          <a:prstGeom prst="rect">
            <a:avLst/>
          </a:prstGeom>
        </p:spPr>
      </p:pic>
    </p:spTree>
    <p:extLst>
      <p:ext uri="{BB962C8B-B14F-4D97-AF65-F5344CB8AC3E}">
        <p14:creationId xmlns:p14="http://schemas.microsoft.com/office/powerpoint/2010/main" val="94642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D3999-8CE5-8187-5392-69939E726CC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EDDEBA7-456C-19AA-573B-C5D3C133A5E3}"/>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 – Number of Affected Components</a:t>
            </a:r>
            <a:endParaRPr lang="en-GB" sz="3000" dirty="0">
              <a:solidFill>
                <a:srgbClr val="215F9A"/>
              </a:solidFill>
            </a:endParaRPr>
          </a:p>
        </p:txBody>
      </p:sp>
      <p:sp>
        <p:nvSpPr>
          <p:cNvPr id="2" name="Title 1">
            <a:extLst>
              <a:ext uri="{FF2B5EF4-FFF2-40B4-BE49-F238E27FC236}">
                <a16:creationId xmlns:a16="http://schemas.microsoft.com/office/drawing/2014/main" id="{84FAA69F-7A8E-5528-5AC4-A20942386C68}"/>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4" name="TextBox 3">
            <a:extLst>
              <a:ext uri="{FF2B5EF4-FFF2-40B4-BE49-F238E27FC236}">
                <a16:creationId xmlns:a16="http://schemas.microsoft.com/office/drawing/2014/main" id="{421032A8-3AA3-6F21-901C-655FE2544E06}"/>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2050" name="Picture 2">
            <a:extLst>
              <a:ext uri="{FF2B5EF4-FFF2-40B4-BE49-F238E27FC236}">
                <a16:creationId xmlns:a16="http://schemas.microsoft.com/office/drawing/2014/main" id="{35CAC249-733A-CAAF-892B-52BAACA84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452" y="2634582"/>
            <a:ext cx="4406339" cy="29375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ADEF03B-4DB6-E4D1-7693-18AFFFCE7C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3520" y="2634582"/>
            <a:ext cx="4494747" cy="299649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9139590-5FC6-1C22-0A5B-41849F51926C}"/>
              </a:ext>
            </a:extLst>
          </p:cNvPr>
          <p:cNvSpPr txBox="1"/>
          <p:nvPr/>
        </p:nvSpPr>
        <p:spPr>
          <a:xfrm>
            <a:off x="1362127" y="5688206"/>
            <a:ext cx="3528987" cy="369332"/>
          </a:xfrm>
          <a:prstGeom prst="rect">
            <a:avLst/>
          </a:prstGeom>
          <a:noFill/>
        </p:spPr>
        <p:txBody>
          <a:bodyPr wrap="square">
            <a:spAutoFit/>
          </a:bodyPr>
          <a:lstStyle/>
          <a:p>
            <a:r>
              <a:rPr lang="en-US" sz="1800" dirty="0">
                <a:solidFill>
                  <a:srgbClr val="215F9A"/>
                </a:solidFill>
              </a:rPr>
              <a:t>From Baseline to Data Collection</a:t>
            </a:r>
          </a:p>
        </p:txBody>
      </p:sp>
      <p:sp>
        <p:nvSpPr>
          <p:cNvPr id="12" name="TextBox 11">
            <a:extLst>
              <a:ext uri="{FF2B5EF4-FFF2-40B4-BE49-F238E27FC236}">
                <a16:creationId xmlns:a16="http://schemas.microsoft.com/office/drawing/2014/main" id="{BAD0BC92-52C5-816B-2563-1B24B9011B4D}"/>
              </a:ext>
            </a:extLst>
          </p:cNvPr>
          <p:cNvSpPr txBox="1"/>
          <p:nvPr/>
        </p:nvSpPr>
        <p:spPr>
          <a:xfrm>
            <a:off x="7308673" y="5687694"/>
            <a:ext cx="2924439" cy="369332"/>
          </a:xfrm>
          <a:prstGeom prst="rect">
            <a:avLst/>
          </a:prstGeom>
          <a:noFill/>
        </p:spPr>
        <p:txBody>
          <a:bodyPr wrap="square">
            <a:spAutoFit/>
          </a:bodyPr>
          <a:lstStyle/>
          <a:p>
            <a:r>
              <a:rPr lang="en-US" sz="1800" dirty="0">
                <a:solidFill>
                  <a:srgbClr val="215F9A"/>
                </a:solidFill>
              </a:rPr>
              <a:t>From Data Collection to ML</a:t>
            </a:r>
          </a:p>
        </p:txBody>
      </p:sp>
    </p:spTree>
    <p:extLst>
      <p:ext uri="{BB962C8B-B14F-4D97-AF65-F5344CB8AC3E}">
        <p14:creationId xmlns:p14="http://schemas.microsoft.com/office/powerpoint/2010/main" val="963462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0F8F7-6665-92EB-8348-59651CB41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6C5CB-7DC5-5A81-0803-AFE11522D246}"/>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2141836A-4CF3-B4F2-3963-034BE2FFAFFD}"/>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 – Cognitive Complexity</a:t>
            </a:r>
            <a:endParaRPr lang="en-GB" sz="3000" dirty="0">
              <a:solidFill>
                <a:srgbClr val="215F9A"/>
              </a:solidFill>
            </a:endParaRPr>
          </a:p>
        </p:txBody>
      </p:sp>
      <p:sp>
        <p:nvSpPr>
          <p:cNvPr id="4" name="TextBox 3">
            <a:extLst>
              <a:ext uri="{FF2B5EF4-FFF2-40B4-BE49-F238E27FC236}">
                <a16:creationId xmlns:a16="http://schemas.microsoft.com/office/drawing/2014/main" id="{D20642F6-9F93-5523-1C67-F107D491BC9A}"/>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2050" name="Picture 2">
            <a:extLst>
              <a:ext uri="{FF2B5EF4-FFF2-40B4-BE49-F238E27FC236}">
                <a16:creationId xmlns:a16="http://schemas.microsoft.com/office/drawing/2014/main" id="{16F5AC77-A6DB-2A96-022D-B02F3FDD1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23452" y="2634582"/>
            <a:ext cx="4406338" cy="29375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722F57E-03D4-3581-2505-D0AF4A3C1C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523520" y="2634582"/>
            <a:ext cx="4494747" cy="29964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8E8504-F01C-C6C1-C677-FC4E31AAC2AE}"/>
              </a:ext>
            </a:extLst>
          </p:cNvPr>
          <p:cNvSpPr txBox="1"/>
          <p:nvPr/>
        </p:nvSpPr>
        <p:spPr>
          <a:xfrm>
            <a:off x="1362127" y="5688206"/>
            <a:ext cx="3528987" cy="369332"/>
          </a:xfrm>
          <a:prstGeom prst="rect">
            <a:avLst/>
          </a:prstGeom>
          <a:noFill/>
        </p:spPr>
        <p:txBody>
          <a:bodyPr wrap="square">
            <a:spAutoFit/>
          </a:bodyPr>
          <a:lstStyle/>
          <a:p>
            <a:r>
              <a:rPr lang="en-US" sz="1800" dirty="0">
                <a:solidFill>
                  <a:srgbClr val="215F9A"/>
                </a:solidFill>
              </a:rPr>
              <a:t>From Baseline to Data Collection</a:t>
            </a:r>
          </a:p>
        </p:txBody>
      </p:sp>
      <p:sp>
        <p:nvSpPr>
          <p:cNvPr id="6" name="TextBox 5">
            <a:extLst>
              <a:ext uri="{FF2B5EF4-FFF2-40B4-BE49-F238E27FC236}">
                <a16:creationId xmlns:a16="http://schemas.microsoft.com/office/drawing/2014/main" id="{28CE06D6-DBFF-6646-1BA3-558C77A8E687}"/>
              </a:ext>
            </a:extLst>
          </p:cNvPr>
          <p:cNvSpPr txBox="1"/>
          <p:nvPr/>
        </p:nvSpPr>
        <p:spPr>
          <a:xfrm>
            <a:off x="7308673" y="5687694"/>
            <a:ext cx="2924439" cy="369332"/>
          </a:xfrm>
          <a:prstGeom prst="rect">
            <a:avLst/>
          </a:prstGeom>
          <a:noFill/>
        </p:spPr>
        <p:txBody>
          <a:bodyPr wrap="square">
            <a:spAutoFit/>
          </a:bodyPr>
          <a:lstStyle/>
          <a:p>
            <a:r>
              <a:rPr lang="en-US" sz="1800" dirty="0">
                <a:solidFill>
                  <a:srgbClr val="215F9A"/>
                </a:solidFill>
              </a:rPr>
              <a:t>From Data Collection to ML</a:t>
            </a:r>
          </a:p>
        </p:txBody>
      </p:sp>
    </p:spTree>
    <p:extLst>
      <p:ext uri="{BB962C8B-B14F-4D97-AF65-F5344CB8AC3E}">
        <p14:creationId xmlns:p14="http://schemas.microsoft.com/office/powerpoint/2010/main" val="4269927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E1D42-38AE-2C76-13BA-28AF7CBA1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F2ABB-8787-8466-8C11-F76474443DE8}"/>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0EEFABA6-A3D9-5794-7433-4B3101AE5361}"/>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vs SOA – Maintainability Index</a:t>
            </a:r>
            <a:endParaRPr lang="en-GB" sz="3000" dirty="0">
              <a:solidFill>
                <a:srgbClr val="215F9A"/>
              </a:solidFill>
            </a:endParaRPr>
          </a:p>
        </p:txBody>
      </p:sp>
      <p:sp>
        <p:nvSpPr>
          <p:cNvPr id="4" name="TextBox 3">
            <a:extLst>
              <a:ext uri="{FF2B5EF4-FFF2-40B4-BE49-F238E27FC236}">
                <a16:creationId xmlns:a16="http://schemas.microsoft.com/office/drawing/2014/main" id="{3E08622A-4AB4-FF6E-454B-264E14952BD3}"/>
              </a:ext>
            </a:extLst>
          </p:cNvPr>
          <p:cNvSpPr txBox="1"/>
          <p:nvPr/>
        </p:nvSpPr>
        <p:spPr>
          <a:xfrm>
            <a:off x="0" y="6460341"/>
            <a:ext cx="12192000"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Paleyes, Andrei, Christian Cabrera, and Neil D. Lawrence. "An empirical evaluation of flow based programming in the machine learning deployment context." </a:t>
            </a:r>
            <a:r>
              <a:rPr lang="en-US" sz="1000" b="0" i="1" dirty="0">
                <a:solidFill>
                  <a:srgbClr val="222222"/>
                </a:solidFill>
                <a:effectLst/>
                <a:latin typeface="Arial" panose="020B0604020202020204" pitchFamily="34" charset="0"/>
              </a:rPr>
              <a:t>Proceedings of the 1st International Conference on AI Engineering: Software Engineering for AI</a:t>
            </a:r>
            <a:r>
              <a:rPr lang="en-US" sz="1000" b="0" i="0" dirty="0">
                <a:solidFill>
                  <a:srgbClr val="222222"/>
                </a:solidFill>
                <a:effectLst/>
                <a:latin typeface="Arial" panose="020B0604020202020204" pitchFamily="34" charset="0"/>
              </a:rPr>
              <a:t>. 2022.</a:t>
            </a:r>
            <a:endParaRPr lang="en-GB" sz="1000" dirty="0"/>
          </a:p>
        </p:txBody>
      </p:sp>
      <p:pic>
        <p:nvPicPr>
          <p:cNvPr id="2050" name="Picture 2">
            <a:extLst>
              <a:ext uri="{FF2B5EF4-FFF2-40B4-BE49-F238E27FC236}">
                <a16:creationId xmlns:a16="http://schemas.microsoft.com/office/drawing/2014/main" id="{B5C62034-72DC-8E61-892E-7895A0F21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23452" y="2634582"/>
            <a:ext cx="4406338" cy="29375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7CF5739-AC7C-2A91-AF5C-7A66CEFEB8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523520" y="2634582"/>
            <a:ext cx="4494747" cy="29964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36FE76-2C47-5FF2-AC1A-EA3C8D3C2A17}"/>
              </a:ext>
            </a:extLst>
          </p:cNvPr>
          <p:cNvSpPr txBox="1"/>
          <p:nvPr/>
        </p:nvSpPr>
        <p:spPr>
          <a:xfrm>
            <a:off x="1362127" y="5688206"/>
            <a:ext cx="3528987" cy="369332"/>
          </a:xfrm>
          <a:prstGeom prst="rect">
            <a:avLst/>
          </a:prstGeom>
          <a:noFill/>
        </p:spPr>
        <p:txBody>
          <a:bodyPr wrap="square">
            <a:spAutoFit/>
          </a:bodyPr>
          <a:lstStyle/>
          <a:p>
            <a:r>
              <a:rPr lang="en-US" sz="1800" dirty="0">
                <a:solidFill>
                  <a:srgbClr val="215F9A"/>
                </a:solidFill>
              </a:rPr>
              <a:t>From Baseline to Data Collection</a:t>
            </a:r>
          </a:p>
        </p:txBody>
      </p:sp>
      <p:sp>
        <p:nvSpPr>
          <p:cNvPr id="6" name="TextBox 5">
            <a:extLst>
              <a:ext uri="{FF2B5EF4-FFF2-40B4-BE49-F238E27FC236}">
                <a16:creationId xmlns:a16="http://schemas.microsoft.com/office/drawing/2014/main" id="{B620E563-17B4-5BCC-F69E-63BAACAABB96}"/>
              </a:ext>
            </a:extLst>
          </p:cNvPr>
          <p:cNvSpPr txBox="1"/>
          <p:nvPr/>
        </p:nvSpPr>
        <p:spPr>
          <a:xfrm>
            <a:off x="7308673" y="5687694"/>
            <a:ext cx="2924439" cy="369332"/>
          </a:xfrm>
          <a:prstGeom prst="rect">
            <a:avLst/>
          </a:prstGeom>
          <a:noFill/>
        </p:spPr>
        <p:txBody>
          <a:bodyPr wrap="square">
            <a:spAutoFit/>
          </a:bodyPr>
          <a:lstStyle/>
          <a:p>
            <a:r>
              <a:rPr lang="en-US" sz="1800" dirty="0">
                <a:solidFill>
                  <a:srgbClr val="215F9A"/>
                </a:solidFill>
              </a:rPr>
              <a:t>From Data Collection to ML</a:t>
            </a:r>
          </a:p>
        </p:txBody>
      </p:sp>
    </p:spTree>
    <p:extLst>
      <p:ext uri="{BB962C8B-B14F-4D97-AF65-F5344CB8AC3E}">
        <p14:creationId xmlns:p14="http://schemas.microsoft.com/office/powerpoint/2010/main" val="2903015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5D9F6-E0D6-933A-8881-44D9DBDB6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BDD76-30A3-B075-0EAD-013400A000B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455363A8-C9A3-4FF2-FA50-5A4C44BF56CD}"/>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and Causality Analysis</a:t>
            </a:r>
            <a:endParaRPr lang="en-GB" sz="3000" dirty="0">
              <a:solidFill>
                <a:srgbClr val="215F9A"/>
              </a:solidFill>
            </a:endParaRPr>
          </a:p>
        </p:txBody>
      </p:sp>
      <p:sp>
        <p:nvSpPr>
          <p:cNvPr id="4" name="TextBox 3">
            <a:extLst>
              <a:ext uri="{FF2B5EF4-FFF2-40B4-BE49-F238E27FC236}">
                <a16:creationId xmlns:a16="http://schemas.microsoft.com/office/drawing/2014/main" id="{B21D8A63-2FF0-3B16-DF47-65B800C78AB8}"/>
              </a:ext>
            </a:extLst>
          </p:cNvPr>
          <p:cNvSpPr txBox="1"/>
          <p:nvPr/>
        </p:nvSpPr>
        <p:spPr>
          <a:xfrm>
            <a:off x="0" y="6460341"/>
            <a:ext cx="12192000" cy="246221"/>
          </a:xfrm>
          <a:prstGeom prst="rect">
            <a:avLst/>
          </a:prstGeom>
          <a:noFill/>
        </p:spPr>
        <p:txBody>
          <a:bodyPr wrap="square">
            <a:spAutoFit/>
          </a:bodyPr>
          <a:lstStyle/>
          <a:p>
            <a:r>
              <a:rPr lang="en-GB" sz="1000" b="0" i="0" dirty="0">
                <a:solidFill>
                  <a:srgbClr val="222222"/>
                </a:solidFill>
                <a:effectLst/>
                <a:latin typeface="Arial" panose="020B0604020202020204" pitchFamily="34" charset="0"/>
              </a:rPr>
              <a:t>Paleyes, Andrei, et al. "Dataflow graphs as complete causal graphs." </a:t>
            </a:r>
            <a:r>
              <a:rPr lang="en-GB" sz="1000" b="0" i="1" dirty="0">
                <a:solidFill>
                  <a:srgbClr val="222222"/>
                </a:solidFill>
                <a:effectLst/>
                <a:latin typeface="Arial" panose="020B0604020202020204" pitchFamily="34" charset="0"/>
              </a:rPr>
              <a:t>2023 IEEE/ACM 2nd International Conference on AI Engineering–Software Engineering for AI (CAIN)</a:t>
            </a:r>
            <a:r>
              <a:rPr lang="en-GB" sz="1000" b="0" i="0" dirty="0">
                <a:solidFill>
                  <a:srgbClr val="222222"/>
                </a:solidFill>
                <a:effectLst/>
                <a:latin typeface="Arial" panose="020B0604020202020204" pitchFamily="34" charset="0"/>
              </a:rPr>
              <a:t>. IEEE, 2023.</a:t>
            </a:r>
            <a:endParaRPr lang="en-GB" sz="1000" dirty="0"/>
          </a:p>
        </p:txBody>
      </p:sp>
      <p:pic>
        <p:nvPicPr>
          <p:cNvPr id="7" name="Picture 6">
            <a:extLst>
              <a:ext uri="{FF2B5EF4-FFF2-40B4-BE49-F238E27FC236}">
                <a16:creationId xmlns:a16="http://schemas.microsoft.com/office/drawing/2014/main" id="{DF3A49E9-D429-A6B7-6794-DE7B684BE7B3}"/>
              </a:ext>
            </a:extLst>
          </p:cNvPr>
          <p:cNvPicPr>
            <a:picLocks noChangeAspect="1"/>
          </p:cNvPicPr>
          <p:nvPr/>
        </p:nvPicPr>
        <p:blipFill>
          <a:blip r:embed="rId3"/>
          <a:stretch>
            <a:fillRect/>
          </a:stretch>
        </p:blipFill>
        <p:spPr>
          <a:xfrm>
            <a:off x="6009767" y="2053205"/>
            <a:ext cx="6031902" cy="1280168"/>
          </a:xfrm>
          <a:prstGeom prst="rect">
            <a:avLst/>
          </a:prstGeom>
        </p:spPr>
      </p:pic>
      <p:pic>
        <p:nvPicPr>
          <p:cNvPr id="12" name="Picture 11">
            <a:extLst>
              <a:ext uri="{FF2B5EF4-FFF2-40B4-BE49-F238E27FC236}">
                <a16:creationId xmlns:a16="http://schemas.microsoft.com/office/drawing/2014/main" id="{FABC03DF-68C5-E24A-FEB8-D8EBDAA583DB}"/>
              </a:ext>
            </a:extLst>
          </p:cNvPr>
          <p:cNvPicPr>
            <a:picLocks noChangeAspect="1"/>
          </p:cNvPicPr>
          <p:nvPr/>
        </p:nvPicPr>
        <p:blipFill>
          <a:blip r:embed="rId4"/>
          <a:stretch>
            <a:fillRect/>
          </a:stretch>
        </p:blipFill>
        <p:spPr>
          <a:xfrm>
            <a:off x="154958" y="3364322"/>
            <a:ext cx="8523342" cy="2110046"/>
          </a:xfrm>
          <a:prstGeom prst="rect">
            <a:avLst/>
          </a:prstGeom>
        </p:spPr>
      </p:pic>
    </p:spTree>
    <p:extLst>
      <p:ext uri="{BB962C8B-B14F-4D97-AF65-F5344CB8AC3E}">
        <p14:creationId xmlns:p14="http://schemas.microsoft.com/office/powerpoint/2010/main" val="5118660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D4E4C-BB7A-110A-222A-56DA5D69E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3C298-AC15-3405-2861-4B19E34F09B4}"/>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CAE7553D-B67A-29E6-1BC8-563811AE1D26}"/>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and Causality Analysis – Fault </a:t>
            </a:r>
            <a:r>
              <a:rPr lang="en-US" sz="3000" dirty="0" err="1">
                <a:solidFill>
                  <a:srgbClr val="215F9A"/>
                </a:solidFill>
              </a:rPr>
              <a:t>localisation</a:t>
            </a:r>
            <a:endParaRPr lang="en-GB" sz="3000" dirty="0">
              <a:solidFill>
                <a:srgbClr val="215F9A"/>
              </a:solidFill>
            </a:endParaRPr>
          </a:p>
        </p:txBody>
      </p:sp>
      <p:sp>
        <p:nvSpPr>
          <p:cNvPr id="4" name="TextBox 3">
            <a:extLst>
              <a:ext uri="{FF2B5EF4-FFF2-40B4-BE49-F238E27FC236}">
                <a16:creationId xmlns:a16="http://schemas.microsoft.com/office/drawing/2014/main" id="{3EB5ACF2-F578-E5DE-BFBA-1DE7B40DEF25}"/>
              </a:ext>
            </a:extLst>
          </p:cNvPr>
          <p:cNvSpPr txBox="1"/>
          <p:nvPr/>
        </p:nvSpPr>
        <p:spPr>
          <a:xfrm>
            <a:off x="0" y="6460341"/>
            <a:ext cx="12192000" cy="246221"/>
          </a:xfrm>
          <a:prstGeom prst="rect">
            <a:avLst/>
          </a:prstGeom>
          <a:noFill/>
        </p:spPr>
        <p:txBody>
          <a:bodyPr wrap="square">
            <a:spAutoFit/>
          </a:bodyPr>
          <a:lstStyle/>
          <a:p>
            <a:r>
              <a:rPr lang="en-GB" sz="1000" b="0" i="0" dirty="0">
                <a:solidFill>
                  <a:srgbClr val="222222"/>
                </a:solidFill>
                <a:effectLst/>
                <a:latin typeface="Arial" panose="020B0604020202020204" pitchFamily="34" charset="0"/>
              </a:rPr>
              <a:t>Paleyes, Andrei, et al. "Dataflow graphs as complete causal graphs." </a:t>
            </a:r>
            <a:r>
              <a:rPr lang="en-GB" sz="1000" b="0" i="1" dirty="0">
                <a:solidFill>
                  <a:srgbClr val="222222"/>
                </a:solidFill>
                <a:effectLst/>
                <a:latin typeface="Arial" panose="020B0604020202020204" pitchFamily="34" charset="0"/>
              </a:rPr>
              <a:t>2023 IEEE/ACM 2nd International Conference on AI Engineering–Software Engineering for AI (CAIN)</a:t>
            </a:r>
            <a:r>
              <a:rPr lang="en-GB" sz="1000" b="0" i="0" dirty="0">
                <a:solidFill>
                  <a:srgbClr val="222222"/>
                </a:solidFill>
                <a:effectLst/>
                <a:latin typeface="Arial" panose="020B0604020202020204" pitchFamily="34" charset="0"/>
              </a:rPr>
              <a:t>. IEEE, 2023.</a:t>
            </a:r>
            <a:endParaRPr lang="en-GB" sz="1000" dirty="0"/>
          </a:p>
        </p:txBody>
      </p:sp>
      <p:pic>
        <p:nvPicPr>
          <p:cNvPr id="12" name="Picture 11">
            <a:extLst>
              <a:ext uri="{FF2B5EF4-FFF2-40B4-BE49-F238E27FC236}">
                <a16:creationId xmlns:a16="http://schemas.microsoft.com/office/drawing/2014/main" id="{67BF18DC-4BB1-66D5-6835-CC8FE4A883F6}"/>
              </a:ext>
            </a:extLst>
          </p:cNvPr>
          <p:cNvPicPr>
            <a:picLocks noChangeAspect="1"/>
          </p:cNvPicPr>
          <p:nvPr/>
        </p:nvPicPr>
        <p:blipFill>
          <a:blip r:embed="rId3"/>
          <a:stretch>
            <a:fillRect/>
          </a:stretch>
        </p:blipFill>
        <p:spPr>
          <a:xfrm>
            <a:off x="154958" y="3364322"/>
            <a:ext cx="5878873" cy="1455379"/>
          </a:xfrm>
          <a:prstGeom prst="rect">
            <a:avLst/>
          </a:prstGeom>
        </p:spPr>
      </p:pic>
      <p:sp>
        <p:nvSpPr>
          <p:cNvPr id="3" name="Multiplication Sign 2">
            <a:extLst>
              <a:ext uri="{FF2B5EF4-FFF2-40B4-BE49-F238E27FC236}">
                <a16:creationId xmlns:a16="http://schemas.microsoft.com/office/drawing/2014/main" id="{1C94098F-D124-A7F3-783E-608EF33931E2}"/>
              </a:ext>
            </a:extLst>
          </p:cNvPr>
          <p:cNvSpPr/>
          <p:nvPr/>
        </p:nvSpPr>
        <p:spPr>
          <a:xfrm>
            <a:off x="2656461" y="4314351"/>
            <a:ext cx="515297" cy="505350"/>
          </a:xfrm>
          <a:prstGeom prst="mathMultiply">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pic>
        <p:nvPicPr>
          <p:cNvPr id="6" name="Picture 5">
            <a:extLst>
              <a:ext uri="{FF2B5EF4-FFF2-40B4-BE49-F238E27FC236}">
                <a16:creationId xmlns:a16="http://schemas.microsoft.com/office/drawing/2014/main" id="{F60B8004-E1F5-7DE0-E38E-772C19DF19C7}"/>
              </a:ext>
            </a:extLst>
          </p:cNvPr>
          <p:cNvPicPr>
            <a:picLocks noChangeAspect="1"/>
          </p:cNvPicPr>
          <p:nvPr/>
        </p:nvPicPr>
        <p:blipFill>
          <a:blip r:embed="rId4"/>
          <a:stretch>
            <a:fillRect/>
          </a:stretch>
        </p:blipFill>
        <p:spPr>
          <a:xfrm>
            <a:off x="6531020" y="2501336"/>
            <a:ext cx="4978448" cy="3181350"/>
          </a:xfrm>
          <a:prstGeom prst="rect">
            <a:avLst/>
          </a:prstGeom>
        </p:spPr>
      </p:pic>
    </p:spTree>
    <p:extLst>
      <p:ext uri="{BB962C8B-B14F-4D97-AF65-F5344CB8AC3E}">
        <p14:creationId xmlns:p14="http://schemas.microsoft.com/office/powerpoint/2010/main" val="1963656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E699B-0F8D-AF70-79E2-A6752B469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220BD-F02D-3FDB-32BE-C579B01CE7D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Content Placeholder 2">
            <a:extLst>
              <a:ext uri="{FF2B5EF4-FFF2-40B4-BE49-F238E27FC236}">
                <a16:creationId xmlns:a16="http://schemas.microsoft.com/office/drawing/2014/main" id="{3CB4B509-8EA8-2037-0FE7-22C8DC16FEA3}"/>
              </a:ext>
            </a:extLst>
          </p:cNvPr>
          <p:cNvSpPr txBox="1">
            <a:spLocks/>
          </p:cNvSpPr>
          <p:nvPr/>
        </p:nvSpPr>
        <p:spPr bwMode="auto">
          <a:xfrm>
            <a:off x="281225" y="2070384"/>
            <a:ext cx="11072575" cy="4043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215F9A"/>
                </a:solidFill>
              </a:rPr>
              <a:t>DOA and Causality Analysis – Identifying data shifts</a:t>
            </a:r>
            <a:endParaRPr lang="en-GB" sz="3000" dirty="0">
              <a:solidFill>
                <a:srgbClr val="215F9A"/>
              </a:solidFill>
            </a:endParaRPr>
          </a:p>
        </p:txBody>
      </p:sp>
      <p:sp>
        <p:nvSpPr>
          <p:cNvPr id="4" name="TextBox 3">
            <a:extLst>
              <a:ext uri="{FF2B5EF4-FFF2-40B4-BE49-F238E27FC236}">
                <a16:creationId xmlns:a16="http://schemas.microsoft.com/office/drawing/2014/main" id="{A39E0D97-6D00-72C2-4A26-2E207B0E1AA2}"/>
              </a:ext>
            </a:extLst>
          </p:cNvPr>
          <p:cNvSpPr txBox="1"/>
          <p:nvPr/>
        </p:nvSpPr>
        <p:spPr>
          <a:xfrm>
            <a:off x="0" y="6460341"/>
            <a:ext cx="12192000" cy="246221"/>
          </a:xfrm>
          <a:prstGeom prst="rect">
            <a:avLst/>
          </a:prstGeom>
          <a:noFill/>
        </p:spPr>
        <p:txBody>
          <a:bodyPr wrap="square">
            <a:spAutoFit/>
          </a:bodyPr>
          <a:lstStyle/>
          <a:p>
            <a:r>
              <a:rPr lang="en-GB" sz="1000" b="0" i="0" dirty="0">
                <a:solidFill>
                  <a:srgbClr val="222222"/>
                </a:solidFill>
                <a:effectLst/>
                <a:latin typeface="Arial" panose="020B0604020202020204" pitchFamily="34" charset="0"/>
              </a:rPr>
              <a:t>Paleyes, Andrei, et al. "Dataflow graphs as complete causal graphs." </a:t>
            </a:r>
            <a:r>
              <a:rPr lang="en-GB" sz="1000" b="0" i="1" dirty="0">
                <a:solidFill>
                  <a:srgbClr val="222222"/>
                </a:solidFill>
                <a:effectLst/>
                <a:latin typeface="Arial" panose="020B0604020202020204" pitchFamily="34" charset="0"/>
              </a:rPr>
              <a:t>2023 IEEE/ACM 2nd International Conference on AI Engineering–Software Engineering for AI (CAIN)</a:t>
            </a:r>
            <a:r>
              <a:rPr lang="en-GB" sz="1000" b="0" i="0" dirty="0">
                <a:solidFill>
                  <a:srgbClr val="222222"/>
                </a:solidFill>
                <a:effectLst/>
                <a:latin typeface="Arial" panose="020B0604020202020204" pitchFamily="34" charset="0"/>
              </a:rPr>
              <a:t>. IEEE, 2023.</a:t>
            </a:r>
            <a:endParaRPr lang="en-GB" sz="1000" dirty="0"/>
          </a:p>
        </p:txBody>
      </p:sp>
      <p:pic>
        <p:nvPicPr>
          <p:cNvPr id="12" name="Picture 11">
            <a:extLst>
              <a:ext uri="{FF2B5EF4-FFF2-40B4-BE49-F238E27FC236}">
                <a16:creationId xmlns:a16="http://schemas.microsoft.com/office/drawing/2014/main" id="{5DA7CBC8-5737-1516-E874-058A3EBE5DDF}"/>
              </a:ext>
            </a:extLst>
          </p:cNvPr>
          <p:cNvPicPr>
            <a:picLocks noChangeAspect="1"/>
          </p:cNvPicPr>
          <p:nvPr/>
        </p:nvPicPr>
        <p:blipFill>
          <a:blip r:embed="rId3"/>
          <a:stretch>
            <a:fillRect/>
          </a:stretch>
        </p:blipFill>
        <p:spPr>
          <a:xfrm>
            <a:off x="154958" y="3364322"/>
            <a:ext cx="5878873" cy="1455379"/>
          </a:xfrm>
          <a:prstGeom prst="rect">
            <a:avLst/>
          </a:prstGeom>
        </p:spPr>
      </p:pic>
      <p:pic>
        <p:nvPicPr>
          <p:cNvPr id="6" name="Picture 5">
            <a:extLst>
              <a:ext uri="{FF2B5EF4-FFF2-40B4-BE49-F238E27FC236}">
                <a16:creationId xmlns:a16="http://schemas.microsoft.com/office/drawing/2014/main" id="{F6BD694B-1CCE-224E-A460-6B04E651084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91280" y="2501336"/>
            <a:ext cx="4857927" cy="3181350"/>
          </a:xfrm>
          <a:prstGeom prst="rect">
            <a:avLst/>
          </a:prstGeom>
        </p:spPr>
      </p:pic>
      <p:sp>
        <p:nvSpPr>
          <p:cNvPr id="5" name="Arrow: Up 4">
            <a:extLst>
              <a:ext uri="{FF2B5EF4-FFF2-40B4-BE49-F238E27FC236}">
                <a16:creationId xmlns:a16="http://schemas.microsoft.com/office/drawing/2014/main" id="{9A8855B5-341B-0300-5A38-20631FC0C504}"/>
              </a:ext>
            </a:extLst>
          </p:cNvPr>
          <p:cNvSpPr/>
          <p:nvPr/>
        </p:nvSpPr>
        <p:spPr>
          <a:xfrm>
            <a:off x="281224" y="4503157"/>
            <a:ext cx="330059" cy="40415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9EB29231-15EF-6932-E927-0A200E4C2F74}"/>
              </a:ext>
            </a:extLst>
          </p:cNvPr>
          <p:cNvSpPr txBox="1"/>
          <p:nvPr/>
        </p:nvSpPr>
        <p:spPr>
          <a:xfrm>
            <a:off x="41679" y="4956478"/>
            <a:ext cx="1923523" cy="923330"/>
          </a:xfrm>
          <a:prstGeom prst="rect">
            <a:avLst/>
          </a:prstGeom>
          <a:noFill/>
        </p:spPr>
        <p:txBody>
          <a:bodyPr wrap="square">
            <a:spAutoFit/>
          </a:bodyPr>
          <a:lstStyle/>
          <a:p>
            <a:r>
              <a:rPr lang="en-US" sz="1800" dirty="0">
                <a:solidFill>
                  <a:srgbClr val="215F9A"/>
                </a:solidFill>
              </a:rPr>
              <a:t>50% </a:t>
            </a:r>
            <a:r>
              <a:rPr lang="en-US" dirty="0">
                <a:solidFill>
                  <a:srgbClr val="215F9A"/>
                </a:solidFill>
              </a:rPr>
              <a:t>up on the originally claimed amount.</a:t>
            </a:r>
            <a:endParaRPr lang="en-GB" dirty="0"/>
          </a:p>
        </p:txBody>
      </p:sp>
    </p:spTree>
    <p:extLst>
      <p:ext uri="{BB962C8B-B14F-4D97-AF65-F5344CB8AC3E}">
        <p14:creationId xmlns:p14="http://schemas.microsoft.com/office/powerpoint/2010/main" val="2549551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12C7F-D86D-9E28-FC6F-DEAD911E2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9193D-CD15-F2F2-EDB3-E050057D379E}"/>
              </a:ext>
            </a:extLst>
          </p:cNvPr>
          <p:cNvSpPr>
            <a:spLocks noGrp="1"/>
          </p:cNvSpPr>
          <p:nvPr>
            <p:ph type="title"/>
          </p:nvPr>
        </p:nvSpPr>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16" name="Rectangle 15">
            <a:extLst>
              <a:ext uri="{FF2B5EF4-FFF2-40B4-BE49-F238E27FC236}">
                <a16:creationId xmlns:a16="http://schemas.microsoft.com/office/drawing/2014/main" id="{6EED2A55-E9B8-E40F-B7AD-07C02A4743AC}"/>
              </a:ext>
            </a:extLst>
          </p:cNvPr>
          <p:cNvSpPr/>
          <p:nvPr/>
        </p:nvSpPr>
        <p:spPr>
          <a:xfrm>
            <a:off x="5422374" y="22744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17" name="Rectangle 16">
            <a:extLst>
              <a:ext uri="{FF2B5EF4-FFF2-40B4-BE49-F238E27FC236}">
                <a16:creationId xmlns:a16="http://schemas.microsoft.com/office/drawing/2014/main" id="{827496EF-9B68-3DE2-E53E-A8D8D99397F7}"/>
              </a:ext>
            </a:extLst>
          </p:cNvPr>
          <p:cNvSpPr/>
          <p:nvPr/>
        </p:nvSpPr>
        <p:spPr>
          <a:xfrm>
            <a:off x="3383502" y="3309044"/>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18" name="Rectangle 17">
            <a:extLst>
              <a:ext uri="{FF2B5EF4-FFF2-40B4-BE49-F238E27FC236}">
                <a16:creationId xmlns:a16="http://schemas.microsoft.com/office/drawing/2014/main" id="{2FF92254-91B8-C6A5-5CE0-1D3054DE267D}"/>
              </a:ext>
            </a:extLst>
          </p:cNvPr>
          <p:cNvSpPr/>
          <p:nvPr/>
        </p:nvSpPr>
        <p:spPr>
          <a:xfrm>
            <a:off x="7461248" y="3309044"/>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9" name="Connector: Curved 18">
            <a:extLst>
              <a:ext uri="{FF2B5EF4-FFF2-40B4-BE49-F238E27FC236}">
                <a16:creationId xmlns:a16="http://schemas.microsoft.com/office/drawing/2014/main" id="{8468CDC5-C1C8-AD24-40C8-616DDD7A27B4}"/>
              </a:ext>
            </a:extLst>
          </p:cNvPr>
          <p:cNvCxnSpPr>
            <a:stCxn id="17" idx="0"/>
            <a:endCxn id="16" idx="1"/>
          </p:cNvCxnSpPr>
          <p:nvPr/>
        </p:nvCxnSpPr>
        <p:spPr>
          <a:xfrm rot="5400000" flipH="1" flipV="1">
            <a:off x="4382065" y="2268735"/>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C3578C52-8D9D-1D1D-B76D-B20B5A8482C8}"/>
              </a:ext>
            </a:extLst>
          </p:cNvPr>
          <p:cNvCxnSpPr>
            <a:stCxn id="16" idx="3"/>
            <a:endCxn id="18" idx="0"/>
          </p:cNvCxnSpPr>
          <p:nvPr/>
        </p:nvCxnSpPr>
        <p:spPr>
          <a:xfrm>
            <a:off x="6769626" y="2593672"/>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52656AD5-C645-22A8-F67E-98B91681C241}"/>
              </a:ext>
            </a:extLst>
          </p:cNvPr>
          <p:cNvCxnSpPr>
            <a:stCxn id="18" idx="2"/>
            <a:endCxn id="17" idx="2"/>
          </p:cNvCxnSpPr>
          <p:nvPr/>
        </p:nvCxnSpPr>
        <p:spPr>
          <a:xfrm rot="5400000">
            <a:off x="6096001" y="1908628"/>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B47D6B4A-B768-547F-D3F4-9BE243E29B99}"/>
              </a:ext>
            </a:extLst>
          </p:cNvPr>
          <p:cNvSpPr/>
          <p:nvPr/>
        </p:nvSpPr>
        <p:spPr>
          <a:xfrm>
            <a:off x="3239729" y="1920268"/>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303A86C1-D6CE-5CB5-28C5-2BC2CBDBBDBE}"/>
              </a:ext>
            </a:extLst>
          </p:cNvPr>
          <p:cNvSpPr txBox="1"/>
          <p:nvPr/>
        </p:nvSpPr>
        <p:spPr>
          <a:xfrm>
            <a:off x="7563347" y="1916396"/>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spTree>
    <p:extLst>
      <p:ext uri="{BB962C8B-B14F-4D97-AF65-F5344CB8AC3E}">
        <p14:creationId xmlns:p14="http://schemas.microsoft.com/office/powerpoint/2010/main" val="1689676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567-A84A-EA0C-E8C8-4EDD3215C61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8B9D897-0F33-8171-0A99-3161ABC3E84C}"/>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Data-First Principle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17AB97DC-F3B3-12A1-FCD6-F1DA53842449}"/>
              </a:ext>
            </a:extLst>
          </p:cNvPr>
          <p:cNvSpPr/>
          <p:nvPr/>
        </p:nvSpPr>
        <p:spPr>
          <a:xfrm>
            <a:off x="7938237" y="2749324"/>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AFFAC978-48E5-EE25-B843-F452EBC381A4}"/>
              </a:ext>
            </a:extLst>
          </p:cNvPr>
          <p:cNvSpPr/>
          <p:nvPr/>
        </p:nvSpPr>
        <p:spPr>
          <a:xfrm>
            <a:off x="5899365" y="3783925"/>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B06D480E-7BD6-8510-80FE-EFE6FDE6C051}"/>
              </a:ext>
            </a:extLst>
          </p:cNvPr>
          <p:cNvSpPr/>
          <p:nvPr/>
        </p:nvSpPr>
        <p:spPr>
          <a:xfrm>
            <a:off x="9977111" y="3783925"/>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DFD34198-5415-9905-C041-5A87DF3C9366}"/>
              </a:ext>
            </a:extLst>
          </p:cNvPr>
          <p:cNvCxnSpPr>
            <a:stCxn id="24" idx="0"/>
            <a:endCxn id="9" idx="1"/>
          </p:cNvCxnSpPr>
          <p:nvPr/>
        </p:nvCxnSpPr>
        <p:spPr>
          <a:xfrm rot="5400000" flipH="1" flipV="1">
            <a:off x="6897928" y="2743616"/>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99450B4E-A684-DACD-DCB0-8618A99D7FC2}"/>
              </a:ext>
            </a:extLst>
          </p:cNvPr>
          <p:cNvCxnSpPr>
            <a:stCxn id="9" idx="3"/>
            <a:endCxn id="25" idx="0"/>
          </p:cNvCxnSpPr>
          <p:nvPr/>
        </p:nvCxnSpPr>
        <p:spPr>
          <a:xfrm>
            <a:off x="9285489" y="3068553"/>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09E8D884-CE9F-10BD-570E-C753657D7124}"/>
              </a:ext>
            </a:extLst>
          </p:cNvPr>
          <p:cNvCxnSpPr>
            <a:stCxn id="25" idx="2"/>
            <a:endCxn id="24" idx="2"/>
          </p:cNvCxnSpPr>
          <p:nvPr/>
        </p:nvCxnSpPr>
        <p:spPr>
          <a:xfrm rot="5400000">
            <a:off x="8611864" y="2383509"/>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6469C9A2-9960-51B1-D07D-CCE8F0D2E54C}"/>
              </a:ext>
            </a:extLst>
          </p:cNvPr>
          <p:cNvSpPr/>
          <p:nvPr/>
        </p:nvSpPr>
        <p:spPr>
          <a:xfrm>
            <a:off x="5755592" y="2395149"/>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DC4FAA55-875B-76BC-180A-5B01C3131D5D}"/>
              </a:ext>
            </a:extLst>
          </p:cNvPr>
          <p:cNvSpPr txBox="1"/>
          <p:nvPr/>
        </p:nvSpPr>
        <p:spPr>
          <a:xfrm>
            <a:off x="10079210" y="2391277"/>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pic>
        <p:nvPicPr>
          <p:cNvPr id="34" name="Picture 33">
            <a:extLst>
              <a:ext uri="{FF2B5EF4-FFF2-40B4-BE49-F238E27FC236}">
                <a16:creationId xmlns:a16="http://schemas.microsoft.com/office/drawing/2014/main" id="{0EE31E6A-74F0-D9F2-887B-59E557ABBC27}"/>
              </a:ext>
            </a:extLst>
          </p:cNvPr>
          <p:cNvPicPr>
            <a:picLocks noChangeAspect="1"/>
          </p:cNvPicPr>
          <p:nvPr/>
        </p:nvPicPr>
        <p:blipFill>
          <a:blip r:embed="rId3"/>
          <a:srcRect l="33563" t="24593" r="33847" b="24840"/>
          <a:stretch/>
        </p:blipFill>
        <p:spPr>
          <a:xfrm>
            <a:off x="3143943" y="3175191"/>
            <a:ext cx="1614208" cy="1637610"/>
          </a:xfrm>
          <a:prstGeom prst="rect">
            <a:avLst/>
          </a:prstGeom>
        </p:spPr>
      </p:pic>
      <p:cxnSp>
        <p:nvCxnSpPr>
          <p:cNvPr id="36" name="Straight Arrow Connector 35">
            <a:extLst>
              <a:ext uri="{FF2B5EF4-FFF2-40B4-BE49-F238E27FC236}">
                <a16:creationId xmlns:a16="http://schemas.microsoft.com/office/drawing/2014/main" id="{FBDDECD9-1AC1-CB5D-201C-B3BCA5B05B34}"/>
              </a:ext>
            </a:extLst>
          </p:cNvPr>
          <p:cNvCxnSpPr>
            <a:stCxn id="30" idx="1"/>
            <a:endCxn id="34" idx="3"/>
          </p:cNvCxnSpPr>
          <p:nvPr/>
        </p:nvCxnSpPr>
        <p:spPr>
          <a:xfrm flipH="1">
            <a:off x="4758151" y="3993996"/>
            <a:ext cx="99744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8194" name="Picture 2" descr="GOV.UK launches new official crown logo for His Majesty The ...">
            <a:extLst>
              <a:ext uri="{FF2B5EF4-FFF2-40B4-BE49-F238E27FC236}">
                <a16:creationId xmlns:a16="http://schemas.microsoft.com/office/drawing/2014/main" id="{CBE5BFBF-78B6-EF88-4593-B9F3DF3D5E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854" y="4473463"/>
            <a:ext cx="1244562" cy="124456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Logo">
            <a:extLst>
              <a:ext uri="{FF2B5EF4-FFF2-40B4-BE49-F238E27FC236}">
                <a16:creationId xmlns:a16="http://schemas.microsoft.com/office/drawing/2014/main" id="{12D395C0-8371-F2CF-EF77-29C43758A6E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5903" b="4227"/>
          <a:stretch/>
        </p:blipFill>
        <p:spPr bwMode="auto">
          <a:xfrm>
            <a:off x="427768" y="1438390"/>
            <a:ext cx="1718734" cy="2133107"/>
          </a:xfrm>
          <a:prstGeom prst="rect">
            <a:avLst/>
          </a:prstGeom>
          <a:noFill/>
          <a:extLst>
            <a:ext uri="{909E8E84-426E-40DD-AFC4-6F175D3DCCD1}">
              <a14:hiddenFill xmlns:a14="http://schemas.microsoft.com/office/drawing/2010/main">
                <a:solidFill>
                  <a:srgbClr val="FFFFFF"/>
                </a:solidFill>
              </a14:hiddenFill>
            </a:ext>
          </a:extLst>
        </p:spPr>
      </p:pic>
      <p:sp>
        <p:nvSpPr>
          <p:cNvPr id="2" name="Right Brace 1">
            <a:extLst>
              <a:ext uri="{FF2B5EF4-FFF2-40B4-BE49-F238E27FC236}">
                <a16:creationId xmlns:a16="http://schemas.microsoft.com/office/drawing/2014/main" id="{D37CAB9F-5F12-542D-4B57-A297E6B4ABE0}"/>
              </a:ext>
            </a:extLst>
          </p:cNvPr>
          <p:cNvSpPr/>
          <p:nvPr/>
        </p:nvSpPr>
        <p:spPr>
          <a:xfrm>
            <a:off x="2108854" y="1511086"/>
            <a:ext cx="383458" cy="45456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629867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4EAB-8626-1EA2-54C1-1E3EC6AFA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0BFE8-99D2-4EBA-4695-53CD56140653}"/>
              </a:ext>
            </a:extLst>
          </p:cNvPr>
          <p:cNvSpPr>
            <a:spLocks noGrp="1"/>
          </p:cNvSpPr>
          <p:nvPr>
            <p:ph type="title"/>
          </p:nvPr>
        </p:nvSpPr>
        <p:spPr/>
        <p:txBody>
          <a:bodyPr/>
          <a:lstStyle/>
          <a:p>
            <a:r>
              <a:rPr lang="en-US" b="1" dirty="0">
                <a:solidFill>
                  <a:schemeClr val="tx2">
                    <a:lumMod val="75000"/>
                    <a:lumOff val="25000"/>
                  </a:schemeClr>
                </a:solidFill>
              </a:rPr>
              <a:t>Summary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C34435E1-F54E-A1BF-039F-CCF9C86D2800}"/>
              </a:ext>
            </a:extLst>
          </p:cNvPr>
          <p:cNvSpPr>
            <a:spLocks noGrp="1"/>
          </p:cNvSpPr>
          <p:nvPr>
            <p:ph idx="1"/>
          </p:nvPr>
        </p:nvSpPr>
        <p:spPr/>
        <p:txBody>
          <a:bodyPr>
            <a:normAutofit fontScale="85000" lnSpcReduction="10000"/>
          </a:bodyPr>
          <a:lstStyle/>
          <a:p>
            <a:r>
              <a:rPr lang="en-US" dirty="0">
                <a:solidFill>
                  <a:schemeClr val="tx2">
                    <a:lumMod val="75000"/>
                    <a:lumOff val="25000"/>
                  </a:schemeClr>
                </a:solidFill>
              </a:rPr>
              <a:t>Systems design decisions change between systems, but these usually share requirements.</a:t>
            </a:r>
          </a:p>
          <a:p>
            <a:endParaRPr lang="en-US" dirty="0">
              <a:solidFill>
                <a:schemeClr val="tx2">
                  <a:lumMod val="75000"/>
                  <a:lumOff val="25000"/>
                </a:schemeClr>
              </a:solidFill>
            </a:endParaRPr>
          </a:p>
          <a:p>
            <a:r>
              <a:rPr lang="en-US" dirty="0">
                <a:solidFill>
                  <a:schemeClr val="tx2">
                    <a:lumMod val="75000"/>
                    <a:lumOff val="25000"/>
                  </a:schemeClr>
                </a:solidFill>
              </a:rPr>
              <a:t>Similar requirements can be addressed following similar solutions.</a:t>
            </a:r>
          </a:p>
          <a:p>
            <a:endParaRPr lang="en-US" dirty="0">
              <a:solidFill>
                <a:schemeClr val="tx2">
                  <a:lumMod val="75000"/>
                  <a:lumOff val="25000"/>
                </a:schemeClr>
              </a:solidFill>
            </a:endParaRPr>
          </a:p>
          <a:p>
            <a:r>
              <a:rPr lang="en-US" dirty="0">
                <a:solidFill>
                  <a:schemeClr val="tx2">
                    <a:lumMod val="75000"/>
                    <a:lumOff val="25000"/>
                  </a:schemeClr>
                </a:solidFill>
              </a:rPr>
              <a:t>Data-driven systems demand to design systems that </a:t>
            </a:r>
            <a:r>
              <a:rPr lang="en-US" dirty="0" err="1">
                <a:solidFill>
                  <a:schemeClr val="tx2">
                    <a:lumMod val="75000"/>
                    <a:lumOff val="25000"/>
                  </a:schemeClr>
                </a:solidFill>
              </a:rPr>
              <a:t>prioritise</a:t>
            </a:r>
            <a:r>
              <a:rPr lang="en-US" dirty="0">
                <a:solidFill>
                  <a:schemeClr val="tx2">
                    <a:lumMod val="75000"/>
                    <a:lumOff val="25000"/>
                  </a:schemeClr>
                </a:solidFill>
              </a:rPr>
              <a:t> data.</a:t>
            </a:r>
          </a:p>
          <a:p>
            <a:endParaRPr lang="en-US" dirty="0">
              <a:solidFill>
                <a:schemeClr val="tx2">
                  <a:lumMod val="75000"/>
                  <a:lumOff val="25000"/>
                </a:schemeClr>
              </a:solidFill>
            </a:endParaRPr>
          </a:p>
          <a:p>
            <a:r>
              <a:rPr lang="en-US" dirty="0">
                <a:solidFill>
                  <a:schemeClr val="tx2">
                    <a:lumMod val="75000"/>
                    <a:lumOff val="25000"/>
                  </a:schemeClr>
                </a:solidFill>
              </a:rPr>
              <a:t>Data-Oriented Architectures is a useful paradigm to design data-driven systems. </a:t>
            </a:r>
          </a:p>
          <a:p>
            <a:endParaRPr lang="en-US" dirty="0">
              <a:solidFill>
                <a:schemeClr val="tx2">
                  <a:lumMod val="75000"/>
                  <a:lumOff val="25000"/>
                </a:schemeClr>
              </a:solidFill>
            </a:endParaRPr>
          </a:p>
          <a:p>
            <a:r>
              <a:rPr lang="en-US" dirty="0">
                <a:solidFill>
                  <a:schemeClr val="tx2">
                    <a:lumMod val="75000"/>
                    <a:lumOff val="25000"/>
                  </a:schemeClr>
                </a:solidFill>
              </a:rPr>
              <a:t>The Data-First principle is particularly relevant for our data science pipelines.</a:t>
            </a:r>
          </a:p>
        </p:txBody>
      </p:sp>
    </p:spTree>
    <p:extLst>
      <p:ext uri="{BB962C8B-B14F-4D97-AF65-F5344CB8AC3E}">
        <p14:creationId xmlns:p14="http://schemas.microsoft.com/office/powerpoint/2010/main" val="1144102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42A2-76BE-9BB9-2E7A-ECC7A4052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EC160-2EDD-F80B-EBFB-B008307A7997}"/>
              </a:ext>
            </a:extLst>
          </p:cNvPr>
          <p:cNvSpPr>
            <a:spLocks noGrp="1"/>
          </p:cNvSpPr>
          <p:nvPr>
            <p:ph type="ctrTitle"/>
          </p:nvPr>
        </p:nvSpPr>
        <p:spPr/>
        <p:txBody>
          <a:bodyPr/>
          <a:lstStyle/>
          <a:p>
            <a:r>
              <a:rPr lang="en-US" b="1" dirty="0">
                <a:solidFill>
                  <a:schemeClr val="tx2">
                    <a:lumMod val="75000"/>
                    <a:lumOff val="25000"/>
                  </a:schemeClr>
                </a:solidFill>
              </a:rPr>
              <a:t>Many thanks!</a:t>
            </a:r>
            <a:endParaRPr lang="en-GB" b="1" dirty="0">
              <a:solidFill>
                <a:schemeClr val="tx2">
                  <a:lumMod val="75000"/>
                  <a:lumOff val="25000"/>
                </a:schemeClr>
              </a:solidFill>
            </a:endParaRPr>
          </a:p>
        </p:txBody>
      </p:sp>
    </p:spTree>
    <p:extLst>
      <p:ext uri="{BB962C8B-B14F-4D97-AF65-F5344CB8AC3E}">
        <p14:creationId xmlns:p14="http://schemas.microsoft.com/office/powerpoint/2010/main" val="2486570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2879</Words>
  <Application>Microsoft Office PowerPoint</Application>
  <PresentationFormat>Widescreen</PresentationFormat>
  <Paragraphs>485</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Data-Oriented Architectures</vt:lpstr>
      <vt:lpstr>Previously…</vt:lpstr>
      <vt:lpstr>Previously…</vt:lpstr>
      <vt:lpstr>Previously</vt:lpstr>
      <vt:lpstr>Real-world Deployments</vt:lpstr>
      <vt:lpstr>Real-world Deployments</vt:lpstr>
      <vt:lpstr>Systems Design</vt:lpstr>
      <vt:lpstr>Systems Design</vt:lpstr>
      <vt:lpstr>Systems Design</vt:lpstr>
      <vt:lpstr>Systems Design</vt:lpstr>
      <vt:lpstr>Systems Design</vt:lpstr>
      <vt:lpstr>Systems Design</vt:lpstr>
      <vt:lpstr>Systems Design</vt:lpstr>
      <vt:lpstr>AI Systems Design</vt:lpstr>
      <vt:lpstr>AI Systems Design</vt:lpstr>
      <vt:lpstr>AI Systems Design</vt:lpstr>
      <vt:lpstr>AI Systems Design</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Data-Oriented Architectures</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Data-First Principle</vt:lpstr>
      <vt:lpstr>Summary</vt:lpstr>
      <vt:lpstr>Many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Cabrera-Jojoa</dc:creator>
  <cp:lastModifiedBy>Christian Cabrera-Jojoa</cp:lastModifiedBy>
  <cp:revision>22</cp:revision>
  <dcterms:created xsi:type="dcterms:W3CDTF">2024-10-27T14:45:37Z</dcterms:created>
  <dcterms:modified xsi:type="dcterms:W3CDTF">2025-05-28T00:35:56Z</dcterms:modified>
</cp:coreProperties>
</file>